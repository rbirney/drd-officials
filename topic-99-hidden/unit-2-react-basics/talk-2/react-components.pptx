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56" r:id="rId3"/>
    <p:sldId id="288" r:id="rId4"/>
    <p:sldId id="466" r:id="rId5"/>
    <p:sldId id="460" r:id="rId6"/>
    <p:sldId id="464" r:id="rId7"/>
    <p:sldId id="463" r:id="rId8"/>
    <p:sldId id="291" r:id="rId9"/>
    <p:sldId id="292" r:id="rId10"/>
    <p:sldId id="293" r:id="rId11"/>
    <p:sldId id="462" r:id="rId12"/>
    <p:sldId id="305" r:id="rId13"/>
    <p:sldId id="306" r:id="rId14"/>
    <p:sldId id="307" r:id="rId15"/>
    <p:sldId id="308" r:id="rId16"/>
    <p:sldId id="465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996" autoAdjust="0"/>
    <p:restoredTop sz="86248" autoAdjust="0"/>
  </p:normalViewPr>
  <p:slideViewPr>
    <p:cSldViewPr snapToGrid="0">
      <p:cViewPr varScale="1">
        <p:scale>
          <a:sx n="77" d="100"/>
          <a:sy n="77" d="100"/>
        </p:scale>
        <p:origin x="4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CB6324-E355-4FBA-8D04-E83674AD2763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</dgm:pt>
    <dgm:pt modelId="{602C994B-63AB-4236-B159-49D57AA085EA}">
      <dgm:prSet phldrT="[Text]"/>
      <dgm:spPr/>
      <dgm:t>
        <a:bodyPr/>
        <a:lstStyle/>
        <a:p>
          <a:r>
            <a:rPr lang="en-GB" b="1">
              <a:latin typeface="-apple-system"/>
            </a:rPr>
            <a:t>JavaScript functions that…</a:t>
          </a:r>
          <a:endParaRPr lang="en-GB" dirty="0"/>
        </a:p>
      </dgm:t>
    </dgm:pt>
    <dgm:pt modelId="{AEAF432E-96A8-4CEB-8B61-D8DCFA46E0EC}" type="parTrans" cxnId="{14931C4B-BD0B-41DB-9127-D4F78163F77C}">
      <dgm:prSet/>
      <dgm:spPr/>
      <dgm:t>
        <a:bodyPr/>
        <a:lstStyle/>
        <a:p>
          <a:endParaRPr lang="en-GB"/>
        </a:p>
      </dgm:t>
    </dgm:pt>
    <dgm:pt modelId="{EBFD107D-5032-453F-B6AC-202B302A0717}" type="sibTrans" cxnId="{14931C4B-BD0B-41DB-9127-D4F78163F77C}">
      <dgm:prSet/>
      <dgm:spPr/>
      <dgm:t>
        <a:bodyPr/>
        <a:lstStyle/>
        <a:p>
          <a:endParaRPr lang="en-GB"/>
        </a:p>
      </dgm:t>
    </dgm:pt>
    <dgm:pt modelId="{527CA77C-EC24-4877-B82E-694C80B1913C}">
      <dgm:prSet phldrT="[Text]"/>
      <dgm:spPr/>
      <dgm:t>
        <a:bodyPr/>
        <a:lstStyle/>
        <a:p>
          <a:pPr>
            <a:buNone/>
          </a:pPr>
          <a:r>
            <a:rPr lang="en-GB" b="1" dirty="0">
              <a:latin typeface="-apple-system"/>
            </a:rPr>
            <a:t>…return React elements </a:t>
          </a:r>
        </a:p>
        <a:p>
          <a:pPr>
            <a:buNone/>
          </a:pPr>
          <a:r>
            <a:rPr lang="en-GB" b="1" dirty="0">
              <a:latin typeface="-apple-system"/>
            </a:rPr>
            <a:t>(i.e. JSX/HTML)</a:t>
          </a:r>
          <a:endParaRPr lang="en-GB" dirty="0"/>
        </a:p>
      </dgm:t>
    </dgm:pt>
    <dgm:pt modelId="{1D89ACBA-D7B4-4F7A-8F7D-CC5B77BD1791}" type="sibTrans" cxnId="{460BE32A-10C2-43A8-A548-83A0D2FC9F7A}">
      <dgm:prSet/>
      <dgm:spPr/>
      <dgm:t>
        <a:bodyPr/>
        <a:lstStyle/>
        <a:p>
          <a:endParaRPr lang="en-GB"/>
        </a:p>
      </dgm:t>
    </dgm:pt>
    <dgm:pt modelId="{AD379616-C34F-425C-AC4B-C527623B34A7}" type="parTrans" cxnId="{460BE32A-10C2-43A8-A548-83A0D2FC9F7A}">
      <dgm:prSet/>
      <dgm:spPr/>
      <dgm:t>
        <a:bodyPr/>
        <a:lstStyle/>
        <a:p>
          <a:endParaRPr lang="en-GB"/>
        </a:p>
      </dgm:t>
    </dgm:pt>
    <dgm:pt modelId="{B590D65E-813D-49A6-8F1F-BE6CDFD74771}" type="pres">
      <dgm:prSet presAssocID="{32CB6324-E355-4FBA-8D04-E83674AD2763}" presName="Name0" presStyleCnt="0">
        <dgm:presLayoutVars>
          <dgm:dir/>
          <dgm:resizeHandles val="exact"/>
        </dgm:presLayoutVars>
      </dgm:prSet>
      <dgm:spPr/>
    </dgm:pt>
    <dgm:pt modelId="{E519B8B4-B8A2-40C1-A21E-C5E18729C5B7}" type="pres">
      <dgm:prSet presAssocID="{602C994B-63AB-4236-B159-49D57AA085EA}" presName="node" presStyleLbl="node1" presStyleIdx="0" presStyleCnt="2">
        <dgm:presLayoutVars>
          <dgm:bulletEnabled val="1"/>
        </dgm:presLayoutVars>
      </dgm:prSet>
      <dgm:spPr/>
    </dgm:pt>
    <dgm:pt modelId="{A210AED3-86C8-4A5E-895A-6F643FB98B6E}" type="pres">
      <dgm:prSet presAssocID="{EBFD107D-5032-453F-B6AC-202B302A0717}" presName="sibTrans" presStyleLbl="sibTrans2D1" presStyleIdx="0" presStyleCnt="1"/>
      <dgm:spPr/>
    </dgm:pt>
    <dgm:pt modelId="{0EDC604D-8EA9-4DB8-9147-3362D0D6D4B6}" type="pres">
      <dgm:prSet presAssocID="{EBFD107D-5032-453F-B6AC-202B302A0717}" presName="connectorText" presStyleLbl="sibTrans2D1" presStyleIdx="0" presStyleCnt="1"/>
      <dgm:spPr/>
    </dgm:pt>
    <dgm:pt modelId="{DA67B253-4F24-4F4E-A68A-02988FF2302E}" type="pres">
      <dgm:prSet presAssocID="{527CA77C-EC24-4877-B82E-694C80B1913C}" presName="node" presStyleLbl="node1" presStyleIdx="1" presStyleCnt="2">
        <dgm:presLayoutVars>
          <dgm:bulletEnabled val="1"/>
        </dgm:presLayoutVars>
      </dgm:prSet>
      <dgm:spPr/>
    </dgm:pt>
  </dgm:ptLst>
  <dgm:cxnLst>
    <dgm:cxn modelId="{460BE32A-10C2-43A8-A548-83A0D2FC9F7A}" srcId="{32CB6324-E355-4FBA-8D04-E83674AD2763}" destId="{527CA77C-EC24-4877-B82E-694C80B1913C}" srcOrd="1" destOrd="0" parTransId="{AD379616-C34F-425C-AC4B-C527623B34A7}" sibTransId="{1D89ACBA-D7B4-4F7A-8F7D-CC5B77BD1791}"/>
    <dgm:cxn modelId="{14931C4B-BD0B-41DB-9127-D4F78163F77C}" srcId="{32CB6324-E355-4FBA-8D04-E83674AD2763}" destId="{602C994B-63AB-4236-B159-49D57AA085EA}" srcOrd="0" destOrd="0" parTransId="{AEAF432E-96A8-4CEB-8B61-D8DCFA46E0EC}" sibTransId="{EBFD107D-5032-453F-B6AC-202B302A0717}"/>
    <dgm:cxn modelId="{0921674C-C934-4537-B827-B9DED695AEE6}" type="presOf" srcId="{EBFD107D-5032-453F-B6AC-202B302A0717}" destId="{0EDC604D-8EA9-4DB8-9147-3362D0D6D4B6}" srcOrd="1" destOrd="0" presId="urn:microsoft.com/office/officeart/2005/8/layout/process1"/>
    <dgm:cxn modelId="{C5C85F7A-FAC7-4AFB-ADD0-45034AE07ED7}" type="presOf" srcId="{EBFD107D-5032-453F-B6AC-202B302A0717}" destId="{A210AED3-86C8-4A5E-895A-6F643FB98B6E}" srcOrd="0" destOrd="0" presId="urn:microsoft.com/office/officeart/2005/8/layout/process1"/>
    <dgm:cxn modelId="{EC3FE099-1E22-40FB-A05A-3B6E00BBA295}" type="presOf" srcId="{32CB6324-E355-4FBA-8D04-E83674AD2763}" destId="{B590D65E-813D-49A6-8F1F-BE6CDFD74771}" srcOrd="0" destOrd="0" presId="urn:microsoft.com/office/officeart/2005/8/layout/process1"/>
    <dgm:cxn modelId="{84D1D8C5-2B62-40CA-95A1-7D18A720EA31}" type="presOf" srcId="{602C994B-63AB-4236-B159-49D57AA085EA}" destId="{E519B8B4-B8A2-40C1-A21E-C5E18729C5B7}" srcOrd="0" destOrd="0" presId="urn:microsoft.com/office/officeart/2005/8/layout/process1"/>
    <dgm:cxn modelId="{02131CEC-C88A-4C05-91C9-954D7DA914ED}" type="presOf" srcId="{527CA77C-EC24-4877-B82E-694C80B1913C}" destId="{DA67B253-4F24-4F4E-A68A-02988FF2302E}" srcOrd="0" destOrd="0" presId="urn:microsoft.com/office/officeart/2005/8/layout/process1"/>
    <dgm:cxn modelId="{5DB8788D-F5E8-4052-9597-5671AA7193E5}" type="presParOf" srcId="{B590D65E-813D-49A6-8F1F-BE6CDFD74771}" destId="{E519B8B4-B8A2-40C1-A21E-C5E18729C5B7}" srcOrd="0" destOrd="0" presId="urn:microsoft.com/office/officeart/2005/8/layout/process1"/>
    <dgm:cxn modelId="{FF679FFA-FC8A-485B-A74C-2141445DD622}" type="presParOf" srcId="{B590D65E-813D-49A6-8F1F-BE6CDFD74771}" destId="{A210AED3-86C8-4A5E-895A-6F643FB98B6E}" srcOrd="1" destOrd="0" presId="urn:microsoft.com/office/officeart/2005/8/layout/process1"/>
    <dgm:cxn modelId="{40652548-4E97-4885-B665-3DE4C20BFCBE}" type="presParOf" srcId="{A210AED3-86C8-4A5E-895A-6F643FB98B6E}" destId="{0EDC604D-8EA9-4DB8-9147-3362D0D6D4B6}" srcOrd="0" destOrd="0" presId="urn:microsoft.com/office/officeart/2005/8/layout/process1"/>
    <dgm:cxn modelId="{2E024391-CA39-4DCD-8A82-8978FE908A12}" type="presParOf" srcId="{B590D65E-813D-49A6-8F1F-BE6CDFD74771}" destId="{DA67B253-4F24-4F4E-A68A-02988FF2302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9B8B4-B8A2-40C1-A21E-C5E18729C5B7}">
      <dsp:nvSpPr>
        <dsp:cNvPr id="0" name=""/>
        <dsp:cNvSpPr/>
      </dsp:nvSpPr>
      <dsp:spPr>
        <a:xfrm>
          <a:off x="1481" y="0"/>
          <a:ext cx="3158371" cy="1783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>
              <a:latin typeface="-apple-system"/>
            </a:rPr>
            <a:t>JavaScript functions that…</a:t>
          </a:r>
          <a:endParaRPr lang="en-GB" sz="3000" kern="1200" dirty="0"/>
        </a:p>
      </dsp:txBody>
      <dsp:txXfrm>
        <a:off x="53706" y="52225"/>
        <a:ext cx="3053921" cy="1678630"/>
      </dsp:txXfrm>
    </dsp:sp>
    <dsp:sp modelId="{A210AED3-86C8-4A5E-895A-6F643FB98B6E}">
      <dsp:nvSpPr>
        <dsp:cNvPr id="0" name=""/>
        <dsp:cNvSpPr/>
      </dsp:nvSpPr>
      <dsp:spPr>
        <a:xfrm>
          <a:off x="3475689" y="499901"/>
          <a:ext cx="669574" cy="7832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/>
        </a:p>
      </dsp:txBody>
      <dsp:txXfrm>
        <a:off x="3475689" y="656556"/>
        <a:ext cx="468702" cy="469966"/>
      </dsp:txXfrm>
    </dsp:sp>
    <dsp:sp modelId="{DA67B253-4F24-4F4E-A68A-02988FF2302E}">
      <dsp:nvSpPr>
        <dsp:cNvPr id="0" name=""/>
        <dsp:cNvSpPr/>
      </dsp:nvSpPr>
      <dsp:spPr>
        <a:xfrm>
          <a:off x="4423201" y="0"/>
          <a:ext cx="3158371" cy="1783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>
              <a:latin typeface="-apple-system"/>
            </a:rPr>
            <a:t>…return React elements 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 dirty="0">
              <a:latin typeface="-apple-system"/>
            </a:rPr>
            <a:t>(i.e. JSX/HTML)</a:t>
          </a:r>
          <a:endParaRPr lang="en-GB" sz="3000" kern="1200" dirty="0"/>
        </a:p>
      </dsp:txBody>
      <dsp:txXfrm>
        <a:off x="4475426" y="52225"/>
        <a:ext cx="3053921" cy="1678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EAF6F-7847-465E-9253-C8DA99CF4F6F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97E5-F07C-4FEF-B4FA-9AF7757A6E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41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Switch to demo of sample app with Subject component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F97E5-F07C-4FEF-B4FA-9AF7757A6EB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013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Switch to demo of sample app with props inc. children prop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0D061-7862-478C-9EF8-79D87921118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94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1593-E608-4966-A951-F12578C7D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37C66-5F9B-4439-87F3-2EA1ED258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4461E-3ACE-4EA5-8D3B-3ADE5824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81763-7720-471A-AA10-882A1845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4004F-1130-4A5B-915A-2B49548F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12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93CA-F321-431F-84BC-63746D06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9862-5530-47C4-BF15-5468A276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C3A16-6FC7-4BAE-BD0C-6B05E495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60946-D52A-4E16-9351-B0483E17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84661-E949-4445-8835-800498EA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28F9-82F6-4DDE-AD6C-7D663F0F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AE0C6-7763-4553-A934-55627AC4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B10DD-6BB6-4F41-8677-8A673D5C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34DAA-1ABD-4372-90D1-EB1ADA79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B2D1A-E9DA-4A9C-886A-16112500D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8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8028-ECEA-4250-91EF-D4F73D14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CB27-7AF8-42FE-8FB4-4CD3F5E0D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6AEC2-3CC9-4E41-BF6A-03682882D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5A3B5-969F-4DB2-B5FA-870668A3B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E944E-95C4-4997-BBC9-3AB3E7F5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02F96-740F-42F3-B849-B47B97A7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61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27BA-80C8-4659-964F-438CB8BB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27756-44E6-4F57-B341-9C3BEA00D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AB82A-2D56-48A8-911A-7B4105A0C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1F178-FE97-45D3-A5E5-3E44880B9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3D615-9D77-42DC-BD90-B0DF6238A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EF370-CCD2-4385-B1C0-88482607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065DE-4D5A-4B4B-955C-F4C454932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E932A-F0CF-4868-9523-27EF7768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005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BF430-5BE5-4E35-9767-51D99B76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817A0-0208-4E95-8F4B-B280B309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7B5458-15B2-4B82-9E0A-07A258BB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32C234-985C-43AE-AFF9-21379F94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19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F8B03-9718-4F9C-A8A4-9444A14EE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DE019-A21C-4AC7-B35B-8B4FD0D7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E4252-F1A1-4BEB-A8CD-823184A4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60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8779-1C0B-4236-9E8F-64E5F70B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F495-F19D-437B-9B7B-D41946022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46872-2B4F-4B40-AC9C-0D9AAC969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7D201-29A8-4649-B1E2-693E6294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29E13-244F-4A36-9073-9B794D8F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6CD73-1ED8-4534-9C1F-771EC9AB6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46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0ECE-7080-47B3-B8CC-17409B14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D5CD3-7219-4C2A-9C0C-3FA0A3194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7B8FC-A987-4C5C-97DC-BF49BB1FB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B6DA9-082E-4D21-B6E9-A1ED4FC6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4BFB5-FCC0-4C13-B605-44FA7019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1C9B9-2674-4025-BDB1-44E4AEE7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01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BBB6-D351-4469-A0C2-B6B3CC49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15163-2DBA-4263-B10D-235C649A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7C317-CCBF-46A1-83D2-BC5D7A719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D5F9-B76F-4A2F-BFF2-3C8C5CC1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E4BB7-7E2B-4250-8800-BD283F8D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212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45C504-7E8F-4A2E-96D8-DBF9D85DB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1C2D1C-1D74-4820-ACD5-F97E29ABF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B4C28-38BB-46EE-A478-446496F43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C48D-1A8A-430E-92BC-2C9CA113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B45CE-CA39-4D65-8243-2FE253B5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6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8B04A-EF1C-4A3A-AAC4-634F04964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A2BF5-3C2B-4761-A351-9B6628584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D7DB9-B862-488D-87AA-FE6658828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CAE17-F246-4271-B89E-A3E31D05B468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6F085-4852-41C1-BC71-8F0626A9B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4914C-5722-4055-A2BF-3E346E258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238F3-FA38-4956-9334-B41FCF4A2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30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72FC-17DB-41ED-A4CD-B022D7862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Components and Props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93DD1-E362-4496-B508-05A1673C87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459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85AE-8BC5-454E-35D4-B5E5AADC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34AA-85E6-5360-DDA0-B47F17CD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React components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Functional components</a:t>
            </a:r>
          </a:p>
          <a:p>
            <a:endParaRPr lang="en-GB" dirty="0"/>
          </a:p>
          <a:p>
            <a:r>
              <a:rPr lang="en-GB" dirty="0"/>
              <a:t>Props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823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962A-F4A2-4D3D-A18E-552BA304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F8EE1-0BEC-B300-BBC0-45125376A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67808" cy="4351338"/>
          </a:xfrm>
        </p:spPr>
        <p:txBody>
          <a:bodyPr/>
          <a:lstStyle/>
          <a:p>
            <a:r>
              <a:rPr lang="en-GB" dirty="0"/>
              <a:t>Using React, we aim to split the user interface into reusable </a:t>
            </a:r>
            <a:r>
              <a:rPr lang="en-GB" b="1" dirty="0"/>
              <a:t>components</a:t>
            </a:r>
          </a:p>
          <a:p>
            <a:endParaRPr lang="en-GB" b="1" dirty="0"/>
          </a:p>
          <a:p>
            <a:r>
              <a:rPr lang="en-GB" dirty="0"/>
              <a:t>DRY principle (Don’t Repeat Yourself)</a:t>
            </a:r>
          </a:p>
        </p:txBody>
      </p:sp>
      <p:pic>
        <p:nvPicPr>
          <p:cNvPr id="1028" name="Picture 4" descr="React Components || Beginner's guide | by Akshat Sharma | Medium">
            <a:extLst>
              <a:ext uri="{FF2B5EF4-FFF2-40B4-BE49-F238E27FC236}">
                <a16:creationId xmlns:a16="http://schemas.microsoft.com/office/drawing/2014/main" id="{E33B42A5-99AD-C0B2-D286-B330D724E60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428" y="1825505"/>
            <a:ext cx="5584372" cy="435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86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7451-6C9A-FB22-1643-1CABD05A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F408-4F25-6C7B-22DC-BD6E1CCF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18554-4EFA-D529-4CDB-544D55305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-apple-system"/>
              </a:rPr>
              <a:t>“</a:t>
            </a:r>
            <a:r>
              <a:rPr lang="en-GB" b="0" i="0" dirty="0">
                <a:solidFill>
                  <a:srgbClr val="000000"/>
                </a:solidFill>
                <a:effectLst/>
                <a:latin typeface="-apple-system"/>
              </a:rPr>
              <a:t>Conceptually, components are like </a:t>
            </a:r>
            <a:r>
              <a:rPr lang="en-GB" b="1" i="0" dirty="0">
                <a:solidFill>
                  <a:srgbClr val="000000"/>
                </a:solidFill>
                <a:effectLst/>
                <a:latin typeface="-apple-system"/>
              </a:rPr>
              <a:t>JavaScript functions</a:t>
            </a:r>
            <a:r>
              <a:rPr lang="en-GB" b="0" i="0" dirty="0">
                <a:solidFill>
                  <a:srgbClr val="000000"/>
                </a:solidFill>
                <a:effectLst/>
                <a:latin typeface="-apple-system"/>
              </a:rPr>
              <a:t>. They accept arbitrary inputs (called </a:t>
            </a:r>
            <a:r>
              <a:rPr lang="en-GB" dirty="0">
                <a:solidFill>
                  <a:srgbClr val="000000"/>
                </a:solidFill>
                <a:latin typeface="-apple-system"/>
              </a:rPr>
              <a:t>‘</a:t>
            </a:r>
            <a:r>
              <a:rPr lang="en-GB" b="0" i="0" dirty="0">
                <a:solidFill>
                  <a:srgbClr val="000000"/>
                </a:solidFill>
                <a:effectLst/>
                <a:latin typeface="-apple-system"/>
              </a:rPr>
              <a:t>props’) and </a:t>
            </a:r>
            <a:r>
              <a:rPr lang="en-GB" b="1" i="0" dirty="0">
                <a:solidFill>
                  <a:srgbClr val="000000"/>
                </a:solidFill>
                <a:effectLst/>
                <a:latin typeface="-apple-system"/>
              </a:rPr>
              <a:t>return React elements </a:t>
            </a:r>
            <a:r>
              <a:rPr lang="en-GB" b="0" i="0" dirty="0">
                <a:solidFill>
                  <a:srgbClr val="000000"/>
                </a:solidFill>
                <a:effectLst/>
                <a:latin typeface="-apple-system"/>
              </a:rPr>
              <a:t>describing what should appear on the screen.” (reactjs.org)</a:t>
            </a: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  <a:latin typeface="-apple-system"/>
              </a:rPr>
              <a:t>“Components are </a:t>
            </a:r>
            <a:r>
              <a:rPr lang="en-GB" b="1" dirty="0">
                <a:solidFill>
                  <a:srgbClr val="000000"/>
                </a:solidFill>
                <a:latin typeface="-apple-system"/>
              </a:rPr>
              <a:t>independent</a:t>
            </a:r>
            <a:r>
              <a:rPr lang="en-GB" dirty="0">
                <a:solidFill>
                  <a:srgbClr val="000000"/>
                </a:solidFill>
                <a:latin typeface="-apple-system"/>
              </a:rPr>
              <a:t> and </a:t>
            </a:r>
            <a:r>
              <a:rPr lang="en-GB" b="1" dirty="0">
                <a:solidFill>
                  <a:srgbClr val="000000"/>
                </a:solidFill>
                <a:latin typeface="-apple-system"/>
              </a:rPr>
              <a:t>reusable</a:t>
            </a:r>
            <a:r>
              <a:rPr lang="en-GB" dirty="0">
                <a:solidFill>
                  <a:srgbClr val="000000"/>
                </a:solidFill>
                <a:latin typeface="-apple-system"/>
              </a:rPr>
              <a:t> bits of code. They serve the same purpose as </a:t>
            </a:r>
            <a:r>
              <a:rPr lang="en-GB" b="1" dirty="0">
                <a:solidFill>
                  <a:srgbClr val="000000"/>
                </a:solidFill>
                <a:latin typeface="-apple-system"/>
              </a:rPr>
              <a:t>JavaScript functions</a:t>
            </a:r>
            <a:r>
              <a:rPr lang="en-GB" dirty="0">
                <a:solidFill>
                  <a:srgbClr val="000000"/>
                </a:solidFill>
                <a:latin typeface="-apple-system"/>
              </a:rPr>
              <a:t>, but work in isolation and </a:t>
            </a:r>
            <a:r>
              <a:rPr lang="en-GB" b="1" dirty="0">
                <a:solidFill>
                  <a:srgbClr val="000000"/>
                </a:solidFill>
                <a:latin typeface="-apple-system"/>
              </a:rPr>
              <a:t>return HTML.</a:t>
            </a:r>
            <a:r>
              <a:rPr lang="en-GB" dirty="0">
                <a:solidFill>
                  <a:srgbClr val="000000"/>
                </a:solidFill>
                <a:latin typeface="-apple-system"/>
              </a:rPr>
              <a:t>”</a:t>
            </a:r>
            <a:r>
              <a:rPr lang="en-GB" b="1" dirty="0">
                <a:solidFill>
                  <a:srgbClr val="000000"/>
                </a:solidFill>
                <a:latin typeface="-apple-system"/>
              </a:rPr>
              <a:t> </a:t>
            </a:r>
            <a:r>
              <a:rPr lang="en-GB" dirty="0">
                <a:solidFill>
                  <a:srgbClr val="000000"/>
                </a:solidFill>
                <a:latin typeface="-apple-system"/>
              </a:rPr>
              <a:t>(W3Schools.com) </a:t>
            </a:r>
            <a:endParaRPr lang="en-GB" b="1" dirty="0">
              <a:solidFill>
                <a:srgbClr val="000000"/>
              </a:solidFill>
              <a:latin typeface="-apple-system"/>
            </a:endParaRP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9058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962A-F4A2-4D3D-A18E-552BA304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603A-8C37-4EE3-9142-8A99ED592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0000"/>
                </a:solidFill>
                <a:latin typeface="-apple-system"/>
              </a:rPr>
              <a:t>So React components are:</a:t>
            </a: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  <a:p>
            <a:endParaRPr lang="en-GB" dirty="0">
              <a:solidFill>
                <a:srgbClr val="000000"/>
              </a:solidFill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  <a:latin typeface="-apple-system"/>
              </a:rPr>
              <a:t>A simple component will look just like a JavaScript function with some HTML inside </a:t>
            </a:r>
          </a:p>
          <a:p>
            <a:pPr marL="0" indent="0">
              <a:buNone/>
            </a:pPr>
            <a:endParaRPr lang="en-GB" b="1" dirty="0">
              <a:solidFill>
                <a:srgbClr val="000000"/>
              </a:solidFill>
              <a:latin typeface="-apple-system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1C509C5-161A-7DA8-620A-9762D72D3D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073658"/>
              </p:ext>
            </p:extLst>
          </p:nvPr>
        </p:nvGraphicFramePr>
        <p:xfrm>
          <a:off x="1993208" y="2722418"/>
          <a:ext cx="7583054" cy="1783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31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8B4C-0C48-4745-A9DF-58EA866E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4803-C558-401D-8E87-504FB391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Note the line </a:t>
            </a:r>
            <a:r>
              <a:rPr lang="en-GB" sz="24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import React from “react”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– this is necessary in order to use JSX within the component</a:t>
            </a:r>
          </a:p>
          <a:p>
            <a:endParaRPr lang="en-GB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E1585FF-7A0D-40A9-8F53-9EA83D351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53" y="1825625"/>
            <a:ext cx="6397564" cy="255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85AE-8BC5-454E-35D4-B5E5AADC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34AA-85E6-5360-DDA0-B47F17CD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 components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solidFill>
                  <a:srgbClr val="00B050"/>
                </a:solidFill>
              </a:rPr>
              <a:t>Functional components</a:t>
            </a:r>
          </a:p>
          <a:p>
            <a:endParaRPr lang="en-GB" dirty="0"/>
          </a:p>
          <a:p>
            <a:r>
              <a:rPr lang="en-GB" dirty="0"/>
              <a:t>Props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7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38B4C-0C48-4745-A9DF-58EA866E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Functional 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4803-C558-401D-8E87-504FB391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functional component looks just like a JavaScript function</a:t>
            </a:r>
          </a:p>
          <a:p>
            <a:endParaRPr lang="en-GB" dirty="0"/>
          </a:p>
          <a:p>
            <a:r>
              <a:rPr lang="en-GB" dirty="0"/>
              <a:t>Note the line </a:t>
            </a:r>
            <a:r>
              <a:rPr lang="en-GB" sz="24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import React from “react”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– this is necessary in order to use JSX within the component</a:t>
            </a:r>
          </a:p>
          <a:p>
            <a:endParaRPr lang="en-GB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E1585FF-7A0D-40A9-8F53-9EA83D351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073" y="4241501"/>
            <a:ext cx="5183188" cy="207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48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5DD1-7D7C-4F37-8905-70488608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functional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6F2D-D710-4A25-9211-8D51B1645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0" dirty="0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6089B4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9AA83A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 err="1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CE6700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67686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() </a:t>
            </a:r>
            <a:r>
              <a:rPr lang="en-GB" b="0" dirty="0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b="0" dirty="0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(</a:t>
            </a:r>
          </a:p>
          <a:p>
            <a:pPr marL="0" indent="0">
              <a:buNone/>
            </a:pPr>
            <a:r>
              <a:rPr lang="en-GB" b="0" dirty="0">
                <a:solidFill>
                  <a:srgbClr val="D0B34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GB" b="0" dirty="0">
                <a:solidFill>
                  <a:srgbClr val="6089B4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en-GB" b="0" dirty="0">
              <a:solidFill>
                <a:srgbClr val="C5C8C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D0B344"/>
                </a:solidFill>
                <a:effectLst/>
                <a:latin typeface="Consolas" panose="020B0609020204030204" pitchFamily="49" charset="0"/>
              </a:rPr>
              <a:t>          This is a subject! </a:t>
            </a:r>
            <a:endParaRPr lang="en-GB" b="0" dirty="0">
              <a:solidFill>
                <a:srgbClr val="C5C8C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D0B344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GB" b="0" dirty="0">
                <a:solidFill>
                  <a:srgbClr val="6089B4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GB" b="0" dirty="0">
              <a:solidFill>
                <a:srgbClr val="C5C8C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   )</a:t>
            </a:r>
          </a:p>
          <a:p>
            <a:pPr marL="0" indent="0">
              <a:buNone/>
            </a:pP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0" dirty="0">
                <a:solidFill>
                  <a:srgbClr val="9872A2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CE6700"/>
                </a:solidFill>
                <a:latin typeface="Consolas" panose="020B0609020204030204" pitchFamily="49" charset="0"/>
              </a:rPr>
              <a:t>S</a:t>
            </a:r>
            <a:r>
              <a:rPr lang="en-GB" b="0" dirty="0">
                <a:solidFill>
                  <a:srgbClr val="CE6700"/>
                </a:solidFill>
                <a:effectLst/>
                <a:latin typeface="Consolas" panose="020B0609020204030204" pitchFamily="49" charset="0"/>
              </a:rPr>
              <a:t>ubject</a:t>
            </a:r>
            <a:r>
              <a:rPr lang="en-GB" b="0" dirty="0">
                <a:solidFill>
                  <a:srgbClr val="C5C8C6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C4201-1B33-4ADD-AB58-949215633945}"/>
              </a:ext>
            </a:extLst>
          </p:cNvPr>
          <p:cNvSpPr txBox="1"/>
          <p:nvPr/>
        </p:nvSpPr>
        <p:spPr>
          <a:xfrm>
            <a:off x="7176654" y="1825625"/>
            <a:ext cx="417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Import React library from React package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D47F6-A2C8-4307-87F7-7A3327C05C23}"/>
              </a:ext>
            </a:extLst>
          </p:cNvPr>
          <p:cNvSpPr txBox="1"/>
          <p:nvPr/>
        </p:nvSpPr>
        <p:spPr>
          <a:xfrm>
            <a:off x="7176653" y="2371494"/>
            <a:ext cx="4177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subject component (using arrow function syntax)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853EC7-7A14-465D-89F1-D443E94BE989}"/>
              </a:ext>
            </a:extLst>
          </p:cNvPr>
          <p:cNvSpPr txBox="1"/>
          <p:nvPr/>
        </p:nvSpPr>
        <p:spPr>
          <a:xfrm>
            <a:off x="7176653" y="3627897"/>
            <a:ext cx="417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Return a paragraph (using JSX)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D02C7-3D67-4FA3-822B-D83381B9F9B8}"/>
              </a:ext>
            </a:extLst>
          </p:cNvPr>
          <p:cNvSpPr txBox="1"/>
          <p:nvPr/>
        </p:nvSpPr>
        <p:spPr>
          <a:xfrm>
            <a:off x="7176652" y="5755570"/>
            <a:ext cx="417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Export the subject component</a:t>
            </a:r>
          </a:p>
        </p:txBody>
      </p:sp>
    </p:spTree>
    <p:extLst>
      <p:ext uri="{BB962C8B-B14F-4D97-AF65-F5344CB8AC3E}">
        <p14:creationId xmlns:p14="http://schemas.microsoft.com/office/powerpoint/2010/main" val="263399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25DD1-7D7C-4F37-8905-70488608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component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A3E31-368E-4A17-A18F-7E93983DD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4480"/>
            <a:ext cx="6031137" cy="50485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C0E95-1B94-429C-9ABF-F892AEAC065A}"/>
              </a:ext>
            </a:extLst>
          </p:cNvPr>
          <p:cNvSpPr txBox="1"/>
          <p:nvPr/>
        </p:nvSpPr>
        <p:spPr>
          <a:xfrm>
            <a:off x="7176655" y="2275791"/>
            <a:ext cx="4177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Import Subject component from its file</a:t>
            </a:r>
          </a:p>
          <a:p>
            <a:r>
              <a:rPr lang="en-GB" i="1" dirty="0"/>
              <a:t>Note the component name: always use an uppercase first letter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6F13F-F79F-4031-8EDB-A36F9C6B7614}"/>
              </a:ext>
            </a:extLst>
          </p:cNvPr>
          <p:cNvSpPr txBox="1"/>
          <p:nvPr/>
        </p:nvSpPr>
        <p:spPr>
          <a:xfrm>
            <a:off x="7086302" y="4540689"/>
            <a:ext cx="4330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subject component (with no contents): </a:t>
            </a:r>
            <a:r>
              <a:rPr lang="en-GB" b="1" dirty="0"/>
              <a:t>&lt;Subject /&gt;</a:t>
            </a:r>
          </a:p>
        </p:txBody>
      </p:sp>
    </p:spTree>
    <p:extLst>
      <p:ext uri="{BB962C8B-B14F-4D97-AF65-F5344CB8AC3E}">
        <p14:creationId xmlns:p14="http://schemas.microsoft.com/office/powerpoint/2010/main" val="138895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F85AE-8BC5-454E-35D4-B5E5AADC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834AA-85E6-5360-DDA0-B47F17CD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React components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Functional components</a:t>
            </a:r>
          </a:p>
          <a:p>
            <a:endParaRPr lang="en-GB" dirty="0"/>
          </a:p>
          <a:p>
            <a:r>
              <a:rPr lang="en-GB" dirty="0">
                <a:solidFill>
                  <a:srgbClr val="00B050"/>
                </a:solidFill>
              </a:rPr>
              <a:t>Props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588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35D0-8BD8-4758-96D6-5E9FE3D4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6528-26C7-4146-99D5-A735D53B3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Props </a:t>
            </a:r>
            <a:r>
              <a:rPr lang="en-GB" dirty="0"/>
              <a:t>are properties that we can pass into our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F2964-FED9-40FD-98AC-07F73F43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51760"/>
            <a:ext cx="10666734" cy="326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38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F7CA-323C-4751-83E4-E2AE490C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EC7A-BB8C-47B6-AA89-5AFF3BF98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our component takes in a props parameter, we can use the properties with the syntax </a:t>
            </a:r>
            <a:r>
              <a:rPr lang="en-GB" b="1" dirty="0"/>
              <a:t>{</a:t>
            </a:r>
            <a:r>
              <a:rPr lang="en-GB" b="1" dirty="0" err="1"/>
              <a:t>props.propertyname</a:t>
            </a:r>
            <a:r>
              <a:rPr lang="en-GB" b="1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29326-F689-4274-952F-D77BE116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12" y="2912436"/>
            <a:ext cx="10395776" cy="326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8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3E8D-5C2D-4AA4-9D2A-4AF19964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children prop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D729-3C31-4F25-AC6C-FF8FD722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children prop is a special property that holds the contents of any of our component elements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39DE5-FD83-4ADF-9D13-495A1B58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129" y="2826756"/>
            <a:ext cx="7056475" cy="26394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390A8E-59C2-4B4E-9FC8-9BEF287AF571}"/>
              </a:ext>
            </a:extLst>
          </p:cNvPr>
          <p:cNvSpPr/>
          <p:nvPr/>
        </p:nvSpPr>
        <p:spPr>
          <a:xfrm>
            <a:off x="2940148" y="3822923"/>
            <a:ext cx="3974123" cy="323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68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3E8D-5C2D-4AA4-9D2A-4AF19964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children prop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D729-3C31-4F25-AC6C-FF8FD722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our component, we can access the children prop using the syntax </a:t>
            </a:r>
            <a:r>
              <a:rPr lang="en-GB" b="1" dirty="0"/>
              <a:t>{</a:t>
            </a:r>
            <a:r>
              <a:rPr lang="en-GB" b="1" dirty="0" err="1"/>
              <a:t>props.children</a:t>
            </a:r>
            <a:r>
              <a:rPr lang="en-GB" b="1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BE2B3-A104-4903-A89E-D37E3F80B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711" y="3170356"/>
            <a:ext cx="8152578" cy="275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3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ED02-098C-26BC-15B5-1E51128E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Quiz!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062CE-188F-06EC-4E75-7DABCFE18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645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02300a0-eb1f-4b12-a2db-d78395ae9ba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406</Words>
  <Application>Microsoft Office PowerPoint</Application>
  <PresentationFormat>Widescreen</PresentationFormat>
  <Paragraphs>86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Consolas</vt:lpstr>
      <vt:lpstr>Courier New</vt:lpstr>
      <vt:lpstr>Office Theme</vt:lpstr>
      <vt:lpstr>Components and Props</vt:lpstr>
      <vt:lpstr>Overview</vt:lpstr>
      <vt:lpstr>React Components</vt:lpstr>
      <vt:lpstr>React Components</vt:lpstr>
      <vt:lpstr>React Components</vt:lpstr>
      <vt:lpstr>React component</vt:lpstr>
      <vt:lpstr>Overview</vt:lpstr>
      <vt:lpstr>Functional components</vt:lpstr>
      <vt:lpstr>Creating a functional component</vt:lpstr>
      <vt:lpstr>Using the component</vt:lpstr>
      <vt:lpstr>Overview</vt:lpstr>
      <vt:lpstr>Props</vt:lpstr>
      <vt:lpstr>Using props</vt:lpstr>
      <vt:lpstr>The children prop</vt:lpstr>
      <vt:lpstr>Using the children prop</vt:lpstr>
      <vt:lpstr>Quiz!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components</dc:title>
  <dc:creator>Rosanne Birney</dc:creator>
  <cp:lastModifiedBy>Rosanne Birney</cp:lastModifiedBy>
  <cp:revision>39</cp:revision>
  <dcterms:created xsi:type="dcterms:W3CDTF">2021-02-09T04:31:55Z</dcterms:created>
  <dcterms:modified xsi:type="dcterms:W3CDTF">2026-01-21T07:19:34Z</dcterms:modified>
</cp:coreProperties>
</file>