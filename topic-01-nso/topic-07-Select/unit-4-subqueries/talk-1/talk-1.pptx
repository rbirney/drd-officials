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notesMasterIdLst>
    <p:notesMasterId r:id="rId12"/>
  </p:notesMasterIdLst>
  <p:sldIdLst>
    <p:sldId id="256" r:id="rId2"/>
    <p:sldId id="279" r:id="rId3"/>
    <p:sldId id="337" r:id="rId4"/>
    <p:sldId id="353" r:id="rId5"/>
    <p:sldId id="339" r:id="rId6"/>
    <p:sldId id="340" r:id="rId7"/>
    <p:sldId id="354" r:id="rId8"/>
    <p:sldId id="355" r:id="rId9"/>
    <p:sldId id="356" r:id="rId10"/>
    <p:sldId id="357" r:id="rId11"/>
  </p:sldIdLst>
  <p:sldSz cx="17340263" cy="9753600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B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C4C6C6"/>
              </a:solidFill>
              <a:prstDash val="solid"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9E8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satOff val="12166"/>
              <a:lumOff val="-13042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8FA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4F728F"/>
              </a:solidFill>
              <a:prstDash val="solid"/>
              <a:miter lim="400000"/>
            </a:ln>
          </a:top>
          <a:bottom>
            <a:ln w="12700" cap="flat">
              <a:solidFill>
                <a:srgbClr val="4F728F"/>
              </a:solidFill>
              <a:prstDash val="solid"/>
              <a:miter lim="400000"/>
            </a:ln>
          </a:bottom>
          <a:insideH>
            <a:ln w="12700" cap="flat">
              <a:solidFill>
                <a:srgbClr val="4F728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4DAD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38EB0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173D59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3C3C1D"/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CFCDBB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C6C6C6"/>
              </a:solidFill>
              <a:prstDash val="solid"/>
              <a:miter lim="400000"/>
            </a:ln>
          </a:left>
          <a:right>
            <a:ln w="12700" cap="flat">
              <a:solidFill>
                <a:srgbClr val="C6C6C6"/>
              </a:solidFill>
              <a:prstDash val="solid"/>
              <a:miter lim="400000"/>
            </a:ln>
          </a:right>
          <a:top>
            <a:ln w="12700" cap="flat">
              <a:solidFill>
                <a:srgbClr val="656839"/>
              </a:solidFill>
              <a:prstDash val="solid"/>
              <a:miter lim="400000"/>
            </a:ln>
          </a:top>
          <a:bottom>
            <a:ln w="12700" cap="flat">
              <a:solidFill>
                <a:srgbClr val="3C3C1D"/>
              </a:solidFill>
              <a:prstDash val="solid"/>
              <a:miter lim="400000"/>
            </a:ln>
          </a:bottom>
          <a:insideH>
            <a:ln w="12700" cap="flat">
              <a:solidFill>
                <a:srgbClr val="C6C6C6"/>
              </a:solidFill>
              <a:prstDash val="solid"/>
              <a:miter lim="400000"/>
            </a:ln>
          </a:insideH>
          <a:insideV>
            <a:ln w="12700" cap="flat">
              <a:solidFill>
                <a:srgbClr val="C6C6C6"/>
              </a:solidFill>
              <a:prstDash val="solid"/>
              <a:miter lim="400000"/>
            </a:ln>
          </a:insideV>
        </a:tcBdr>
        <a:fill>
          <a:solidFill>
            <a:srgbClr val="E8E9E8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left>
          <a:right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right>
          <a:top>
            <a:ln w="12700" cap="flat">
              <a:solidFill>
                <a:srgbClr val="3C3C1D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AAA485"/>
              </a:solidFill>
              <a:prstDash val="solid"/>
              <a:miter lim="400000"/>
            </a:ln>
          </a:insideH>
          <a:insideV>
            <a:ln w="127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insideV>
        </a:tcBdr>
        <a:fill>
          <a:solidFill>
            <a:srgbClr val="656839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C4C6C6"/>
              </a:solidFill>
              <a:prstDash val="solid"/>
              <a:miter lim="400000"/>
            </a:ln>
          </a:top>
          <a:bottom>
            <a:ln w="25400" cap="flat">
              <a:solidFill>
                <a:srgbClr val="C4C6C6"/>
              </a:solidFill>
              <a:prstDash val="solid"/>
              <a:miter lim="400000"/>
            </a:ln>
          </a:bottom>
          <a:insideH>
            <a:ln w="25400" cap="flat">
              <a:solidFill>
                <a:srgbClr val="C4C6C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wholeTbl>
    <a:band2H>
      <a:tcTxStyle/>
      <a:tcStyle>
        <a:tcBdr/>
        <a:fill>
          <a:solidFill>
            <a:srgbClr val="E4E4E0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15151"/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solidFill>
                <a:srgbClr val="7D7766"/>
              </a:solidFill>
              <a:prstDash val="solid"/>
              <a:miter lim="400000"/>
            </a:ln>
          </a:top>
          <a:bottom>
            <a:ln w="12700" cap="flat">
              <a:solidFill>
                <a:srgbClr val="7D7766"/>
              </a:solidFill>
              <a:prstDash val="solid"/>
              <a:miter lim="400000"/>
            </a:ln>
          </a:bottom>
          <a:insideH>
            <a:ln w="12700" cap="flat">
              <a:solidFill>
                <a:srgbClr val="7D77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F8B7E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515151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1F1F1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515151"/>
              </a:solidFill>
              <a:prstDash val="solid"/>
              <a:miter lim="400000"/>
            </a:ln>
          </a:top>
          <a:bottom>
            <a:ln w="25400" cap="flat">
              <a:solidFill>
                <a:schemeClr val="accent2">
                  <a:hueOff val="-487087"/>
                  <a:satOff val="-2686"/>
                  <a:lumOff val="14808"/>
                </a:schemeClr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E5A4C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solidFill>
                <a:srgbClr val="747474"/>
              </a:solidFill>
              <a:prstDash val="solid"/>
              <a:miter lim="400000"/>
            </a:ln>
          </a:insideH>
          <a:insideV>
            <a:ln w="12700" cap="flat">
              <a:solidFill>
                <a:srgbClr val="74747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2F2F2"/>
          </a:solidFill>
        </a:fill>
      </a:tcStyle>
    </a:band2H>
    <a:firstCol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solidFill>
                <a:srgbClr val="747474"/>
              </a:solidFill>
              <a:prstDash val="solid"/>
              <a:miter lim="400000"/>
            </a:ln>
          </a:left>
          <a:right>
            <a:ln w="12700" cap="flat">
              <a:solidFill>
                <a:srgbClr val="74747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>
          <a:latin typeface="Helvetica Neue"/>
          <a:ea typeface="Helvetica Neue"/>
          <a:cs typeface="Helvetica Neue"/>
        </a:font>
        <a:srgbClr val="44444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747474"/>
              </a:solidFill>
              <a:prstDash val="solid"/>
              <a:miter lim="400000"/>
            </a:ln>
          </a:top>
          <a:bottom>
            <a:ln w="12700" cap="flat">
              <a:solidFill>
                <a:srgbClr val="74747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777777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2525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2D2D2">
              <a:alpha val="3000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C9C9C9"/>
              </a:solidFill>
              <a:prstDash val="solid"/>
              <a:miter lim="400000"/>
            </a:ln>
          </a:top>
          <a:bottom>
            <a:ln w="12700" cap="flat">
              <a:solidFill>
                <a:srgbClr val="C9C9C9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555555"/>
      </a:tcTxStyle>
      <a:tcStyle>
        <a:tcBdr>
          <a:left>
            <a:ln w="12700" cap="flat">
              <a:solidFill>
                <a:srgbClr val="C9C9C9"/>
              </a:solidFill>
              <a:prstDash val="solid"/>
              <a:miter lim="400000"/>
            </a:ln>
          </a:left>
          <a:right>
            <a:ln w="12700" cap="flat">
              <a:solidFill>
                <a:srgbClr val="C9C9C9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C9C9C9"/>
              </a:solidFill>
              <a:prstDash val="solid"/>
              <a:miter lim="400000"/>
            </a:ln>
          </a:insideH>
          <a:insideV>
            <a:ln w="12700" cap="flat">
              <a:solidFill>
                <a:srgbClr val="C9C9C9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35" y="36"/>
      </p:cViewPr>
      <p:guideLst>
        <p:guide orient="horz" pos="3072"/>
        <p:guide pos="54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17800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35373-072C-47BD-A2E2-A0875359F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533" y="1596249"/>
            <a:ext cx="13005197" cy="3395698"/>
          </a:xfrm>
        </p:spPr>
        <p:txBody>
          <a:bodyPr anchor="b"/>
          <a:lstStyle>
            <a:lvl1pPr algn="ctr">
              <a:defRPr sz="8533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625439-A54E-480D-A9D9-9CEE242F6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533" y="5122898"/>
            <a:ext cx="13005197" cy="2354862"/>
          </a:xfrm>
        </p:spPr>
        <p:txBody>
          <a:bodyPr/>
          <a:lstStyle>
            <a:lvl1pPr marL="0" indent="0" algn="ctr">
              <a:buNone/>
              <a:defRPr sz="3413"/>
            </a:lvl1pPr>
            <a:lvl2pPr marL="650230" indent="0" algn="ctr">
              <a:buNone/>
              <a:defRPr sz="2844"/>
            </a:lvl2pPr>
            <a:lvl3pPr marL="1300460" indent="0" algn="ctr">
              <a:buNone/>
              <a:defRPr sz="2560"/>
            </a:lvl3pPr>
            <a:lvl4pPr marL="1950690" indent="0" algn="ctr">
              <a:buNone/>
              <a:defRPr sz="2276"/>
            </a:lvl4pPr>
            <a:lvl5pPr marL="2600919" indent="0" algn="ctr">
              <a:buNone/>
              <a:defRPr sz="2276"/>
            </a:lvl5pPr>
            <a:lvl6pPr marL="3251149" indent="0" algn="ctr">
              <a:buNone/>
              <a:defRPr sz="2276"/>
            </a:lvl6pPr>
            <a:lvl7pPr marL="3901379" indent="0" algn="ctr">
              <a:buNone/>
              <a:defRPr sz="2276"/>
            </a:lvl7pPr>
            <a:lvl8pPr marL="4551609" indent="0" algn="ctr">
              <a:buNone/>
              <a:defRPr sz="2276"/>
            </a:lvl8pPr>
            <a:lvl9pPr marL="5201839" indent="0" algn="ctr">
              <a:buNone/>
              <a:defRPr sz="2276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F2A4A-DD0D-48E2-B6F7-089F1BDA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68C7-5063-4755-B1DB-50D2626C58C0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8686B-AB63-4669-BB93-5010FD776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2F62A-4B66-4217-BA33-D695FC1C8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661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BB289-9ABA-4CFC-BC6A-0CC60F073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0865D-D27E-4BBD-A84E-006513585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C496D-001C-428E-ABC9-88416D75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68C7-5063-4755-B1DB-50D2626C58C0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5CC1A-29AE-4809-8F3C-BF9A8C638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15475-B2EA-4DB2-8F71-3F0AA8C1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537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AFA4C-4866-4731-B0EB-AEF307C40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112" y="2431628"/>
            <a:ext cx="14955977" cy="4057226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8C461-C975-4C93-8EA5-B4784B002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3112" y="6527237"/>
            <a:ext cx="14955977" cy="2133599"/>
          </a:xfrm>
        </p:spPr>
        <p:txBody>
          <a:bodyPr/>
          <a:lstStyle>
            <a:lvl1pPr marL="0" indent="0">
              <a:buNone/>
              <a:defRPr sz="3413">
                <a:solidFill>
                  <a:schemeClr val="tx1">
                    <a:tint val="75000"/>
                  </a:schemeClr>
                </a:solidFill>
              </a:defRPr>
            </a:lvl1pPr>
            <a:lvl2pPr marL="6502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E3323-E8F4-4195-81ED-411C88ADE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68C7-5063-4755-B1DB-50D2626C58C0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6D00F-5C44-45FD-84B7-E221048BB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FD322-6999-4BEA-A7D5-C70D9974F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8621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0959D-2530-4339-97BA-C1057A1CA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9126C-314A-44A3-89B6-4CD4606F3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2143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F828F-B0B0-4354-9781-02FD35B43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8508" y="2596444"/>
            <a:ext cx="7369612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1DAD3-39AA-424B-9137-CED337FB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68C7-5063-4755-B1DB-50D2626C58C0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6B319-F4CE-49BD-87FE-6148713ED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661B5-CA3A-49EC-8D98-843AA813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98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D8995-75C6-4FF3-B0B9-66925A633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519290"/>
            <a:ext cx="14955977" cy="18852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EDC04-D304-4AAE-AD10-917697254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4403" y="2390987"/>
            <a:ext cx="7335743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B9549-7F55-4AC7-AEF5-E91BC2922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4403" y="3562773"/>
            <a:ext cx="7335743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03494-58C2-41F0-AAA3-09F128667C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78508" y="2390987"/>
            <a:ext cx="7371870" cy="1171786"/>
          </a:xfrm>
        </p:spPr>
        <p:txBody>
          <a:bodyPr anchor="b"/>
          <a:lstStyle>
            <a:lvl1pPr marL="0" indent="0">
              <a:buNone/>
              <a:defRPr sz="3413" b="1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A5BE7-59BA-4760-BE1B-F244BE2983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78508" y="3562773"/>
            <a:ext cx="7371870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6BEC8B-885F-4911-B06E-E0D6ED672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68C7-5063-4755-B1DB-50D2626C58C0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B5B078-C4A8-4507-A81A-67E697E2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DC931C-BFAF-41B1-AD96-621C7D60D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882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44A3-24D1-46D9-B2CC-1A92C6AD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2F0DE4-5BF6-41F4-AC25-87691B52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68C7-5063-4755-B1DB-50D2626C58C0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796EB-F10D-4735-8706-E7EE8137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7AFA15-581F-4EA7-B34C-00B1C13A6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30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8293FD-B2C5-4D7A-8540-E284B0F20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68C7-5063-4755-B1DB-50D2626C58C0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8D2FAE-BA73-484E-B68A-B6F0B8744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E8349-0DA1-4510-B1E9-B9CD2B3C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824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983C-FF95-423C-9927-5AE29CEA0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1FC3A-5E49-4390-B815-A38B2E912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3"/>
            </a:lvl3pPr>
            <a:lvl4pPr>
              <a:defRPr sz="2844"/>
            </a:lvl4pPr>
            <a:lvl5pPr>
              <a:defRPr sz="2844"/>
            </a:lvl5pPr>
            <a:lvl6pPr>
              <a:defRPr sz="2844"/>
            </a:lvl6pPr>
            <a:lvl7pPr>
              <a:defRPr sz="2844"/>
            </a:lvl7pPr>
            <a:lvl8pPr>
              <a:defRPr sz="2844"/>
            </a:lvl8pPr>
            <a:lvl9pPr>
              <a:defRPr sz="284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7A93B-BFCA-4E58-A371-E1D3F527F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4BF787-889D-4B9B-A3AF-50F835898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68C7-5063-4755-B1DB-50D2626C58C0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E4016-DF45-4E2F-98D4-7903A195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F7C32-64B7-4523-B6CD-B589CE9EF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48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5C115-9020-4F30-BC62-C092D2403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402" y="650240"/>
            <a:ext cx="5592686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E7B864-3D0D-4FB0-B4B6-E1DEB6E8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71870" y="1404338"/>
            <a:ext cx="8778508" cy="6931378"/>
          </a:xfrm>
        </p:spPr>
        <p:txBody>
          <a:bodyPr/>
          <a:lstStyle>
            <a:lvl1pPr marL="0" indent="0">
              <a:buNone/>
              <a:defRPr sz="4551"/>
            </a:lvl1pPr>
            <a:lvl2pPr marL="650230" indent="0">
              <a:buNone/>
              <a:defRPr sz="3982"/>
            </a:lvl2pPr>
            <a:lvl3pPr marL="1300460" indent="0">
              <a:buNone/>
              <a:defRPr sz="3413"/>
            </a:lvl3pPr>
            <a:lvl4pPr marL="1950690" indent="0">
              <a:buNone/>
              <a:defRPr sz="2844"/>
            </a:lvl4pPr>
            <a:lvl5pPr marL="2600919" indent="0">
              <a:buNone/>
              <a:defRPr sz="2844"/>
            </a:lvl5pPr>
            <a:lvl6pPr marL="3251149" indent="0">
              <a:buNone/>
              <a:defRPr sz="2844"/>
            </a:lvl6pPr>
            <a:lvl7pPr marL="3901379" indent="0">
              <a:buNone/>
              <a:defRPr sz="2844"/>
            </a:lvl7pPr>
            <a:lvl8pPr marL="4551609" indent="0">
              <a:buNone/>
              <a:defRPr sz="2844"/>
            </a:lvl8pPr>
            <a:lvl9pPr marL="5201839" indent="0">
              <a:buNone/>
              <a:defRPr sz="2844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C0B49-55AA-4F54-82B2-3F173ACE5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4402" y="2926080"/>
            <a:ext cx="5592686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30" indent="0">
              <a:buNone/>
              <a:defRPr sz="1991"/>
            </a:lvl2pPr>
            <a:lvl3pPr marL="1300460" indent="0">
              <a:buNone/>
              <a:defRPr sz="1707"/>
            </a:lvl3pPr>
            <a:lvl4pPr marL="1950690" indent="0">
              <a:buNone/>
              <a:defRPr sz="1422"/>
            </a:lvl4pPr>
            <a:lvl5pPr marL="2600919" indent="0">
              <a:buNone/>
              <a:defRPr sz="1422"/>
            </a:lvl5pPr>
            <a:lvl6pPr marL="3251149" indent="0">
              <a:buNone/>
              <a:defRPr sz="1422"/>
            </a:lvl6pPr>
            <a:lvl7pPr marL="3901379" indent="0">
              <a:buNone/>
              <a:defRPr sz="1422"/>
            </a:lvl7pPr>
            <a:lvl8pPr marL="4551609" indent="0">
              <a:buNone/>
              <a:defRPr sz="1422"/>
            </a:lvl8pPr>
            <a:lvl9pPr marL="5201839" indent="0">
              <a:buNone/>
              <a:defRPr sz="142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CFEFD-E3E5-4019-B1AD-E1CF3606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68C7-5063-4755-B1DB-50D2626C58C0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D2910-5211-4C9A-9641-8476A3036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D6B52-6B34-4CC4-BBDE-BC6D8A8CD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3616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5990-12E5-4627-8886-982AD7837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DE642-EABA-457D-9F63-CEDCFBB0C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311BA-DD30-4BE3-A5FF-7FDE8539E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68C7-5063-4755-B1DB-50D2626C58C0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D4AE1-3856-4D25-AF39-5FE7E862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8744E-4513-4E4A-8D96-24351B355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7808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0912E4-1A2E-44DC-A754-754AE1717D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409126" y="519289"/>
            <a:ext cx="3738994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0D22D-EDAA-425A-B252-C17FA0A6E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92143" y="519289"/>
            <a:ext cx="11000229" cy="82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39138-6CC3-4213-B1FD-7607FF1C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68C7-5063-4755-B1DB-50D2626C58C0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77EC9-04FE-4062-8CCE-F39EA2944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E8E86-0E9E-4303-83F9-7F7214FA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2304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hape 6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04945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7D408-90B9-4CE8-84C3-56A2DBB61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616D0-20B0-4A54-A981-950C7C8D0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AD1B-7190-49FE-9813-685E22DEB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92143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F68C7-5063-4755-B1DB-50D2626C58C0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F2941-B481-4ABD-A524-B4AE5DD07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43962" y="9040143"/>
            <a:ext cx="585233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4B7CC-DBF5-472D-9F64-10E0FEB97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246561" y="9040143"/>
            <a:ext cx="390155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17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1300460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15" indent="-325115" algn="l" defTabSz="1300460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4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3" kern="1200">
          <a:solidFill>
            <a:schemeClr val="tx1"/>
          </a:solidFill>
          <a:latin typeface="+mn-lt"/>
          <a:ea typeface="+mn-ea"/>
          <a:cs typeface="+mn-cs"/>
        </a:defRPr>
      </a:lvl2pPr>
      <a:lvl3pPr marL="1625575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4" kern="1200">
          <a:solidFill>
            <a:schemeClr val="tx1"/>
          </a:solidFill>
          <a:latin typeface="+mn-lt"/>
          <a:ea typeface="+mn-ea"/>
          <a:cs typeface="+mn-cs"/>
        </a:defRPr>
      </a:lvl3pPr>
      <a:lvl4pPr marL="227580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3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26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49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72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954" indent="-325115" algn="l" defTabSz="1300460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130046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/>
          </p:cNvSpPr>
          <p:nvPr>
            <p:ph type="ctrTitle"/>
          </p:nvPr>
        </p:nvSpPr>
        <p:spPr>
          <a:xfrm>
            <a:off x="2167533" y="1596249"/>
            <a:ext cx="13005197" cy="3395698"/>
          </a:xfrm>
        </p:spPr>
        <p:txBody>
          <a:bodyPr>
            <a:normAutofit/>
          </a:bodyPr>
          <a:lstStyle/>
          <a:p>
            <a:r>
              <a:rPr lang="en-US"/>
              <a:t>Subqueries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D5EEEEA-677F-EA77-84B2-B9E2914B5C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Lightning Bolt 2" descr="-">
            <a:extLst>
              <a:ext uri="{FF2B5EF4-FFF2-40B4-BE49-F238E27FC236}">
                <a16:creationId xmlns:a16="http://schemas.microsoft.com/office/drawing/2014/main" id="{EF1A84B4-DE1A-22C7-6434-152209A1D4C8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Lightning Bolt 3" descr="-">
            <a:extLst>
              <a:ext uri="{FF2B5EF4-FFF2-40B4-BE49-F238E27FC236}">
                <a16:creationId xmlns:a16="http://schemas.microsoft.com/office/drawing/2014/main" id="{D85BE4E1-DD72-F5E3-7B0F-DB6305F8B3D7}"/>
              </a:ext>
            </a:extLst>
          </p:cNvPr>
          <p:cNvSpPr/>
          <p:nvPr/>
        </p:nvSpPr>
        <p:spPr>
          <a:xfrm>
            <a:off x="0" y="0"/>
            <a:ext cx="0" cy="0"/>
          </a:xfrm>
          <a:prstGeom prst="lightningBol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subquery?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 subquery is where we have a complete SELECT statement embedded within another SELECT statement. </a:t>
            </a:r>
          </a:p>
          <a:p>
            <a:endParaRPr lang="en-US" dirty="0"/>
          </a:p>
          <a:p>
            <a:r>
              <a:rPr lang="en-US" dirty="0"/>
              <a:t>The results of this inner SELECT statement (or </a:t>
            </a:r>
            <a:r>
              <a:rPr lang="en-US" dirty="0" err="1"/>
              <a:t>subselect</a:t>
            </a:r>
            <a:r>
              <a:rPr lang="en-US" dirty="0"/>
              <a:t>) are used in the outer statement to help determine the contents of the final result.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6BED4C7-0E6C-587B-888A-F76C1E79CA6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1131" y="2623275"/>
            <a:ext cx="7276190" cy="4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168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r>
              <a:rPr lang="en-US" dirty="0"/>
              <a:t>Get the list of members signed up for the class “Evening Yoga”</a:t>
            </a:r>
          </a:p>
          <a:p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8E54BA6-DFA6-7A21-B6FA-32989A080C45}"/>
              </a:ext>
            </a:extLst>
          </p:cNvPr>
          <p:cNvSpPr txBox="1">
            <a:spLocks/>
          </p:cNvSpPr>
          <p:nvPr/>
        </p:nvSpPr>
        <p:spPr>
          <a:xfrm>
            <a:off x="1192143" y="3962400"/>
            <a:ext cx="14955977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25115" indent="-325115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Font typeface="Arial" panose="020B0604020202020204" pitchFamily="34" charset="0"/>
              <a:buChar char="•"/>
              <a:defRPr sz="3982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75345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625575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227580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92603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357626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49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72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95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memberId</a:t>
            </a: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memberclass</a:t>
            </a: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classId</a:t>
            </a: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pPr marL="0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(SELECT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classId</a:t>
            </a: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FROM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fitnessclass</a:t>
            </a: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  WHERE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classDescription</a:t>
            </a: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='Evening Yoga');</a:t>
            </a:r>
            <a:endParaRPr lang="en-US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3D90B8-F008-3FBF-7C1E-4F7AEEAE84CB}"/>
              </a:ext>
            </a:extLst>
          </p:cNvPr>
          <p:cNvSpPr/>
          <p:nvPr/>
        </p:nvSpPr>
        <p:spPr>
          <a:xfrm>
            <a:off x="1202531" y="5943600"/>
            <a:ext cx="12801600" cy="2209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513AB0-DDD4-D4DA-4D69-C7EEE7728E7B}"/>
              </a:ext>
            </a:extLst>
          </p:cNvPr>
          <p:cNvSpPr/>
          <p:nvPr/>
        </p:nvSpPr>
        <p:spPr>
          <a:xfrm>
            <a:off x="669131" y="3690068"/>
            <a:ext cx="12649200" cy="22098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381A9D-FAF9-F309-63A2-470963BD0A7C}"/>
              </a:ext>
            </a:extLst>
          </p:cNvPr>
          <p:cNvSpPr txBox="1"/>
          <p:nvPr/>
        </p:nvSpPr>
        <p:spPr>
          <a:xfrm>
            <a:off x="11570926" y="6172200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Inner SELECT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84CA5E-E9FA-47A6-0706-92CE01724B6E}"/>
              </a:ext>
            </a:extLst>
          </p:cNvPr>
          <p:cNvSpPr txBox="1"/>
          <p:nvPr/>
        </p:nvSpPr>
        <p:spPr>
          <a:xfrm>
            <a:off x="10422731" y="4860466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B050"/>
                </a:solidFill>
              </a:rPr>
              <a:t>Outer SELECT</a:t>
            </a:r>
          </a:p>
        </p:txBody>
      </p:sp>
    </p:spTree>
    <p:extLst>
      <p:ext uri="{BB962C8B-B14F-4D97-AF65-F5344CB8AC3E}">
        <p14:creationId xmlns:p14="http://schemas.microsoft.com/office/powerpoint/2010/main" val="30283487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1E8DF-4418-F0AD-CDDD-DB55E2CA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5DF5D-319C-7D5D-4B90-A46FE8DA0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143" y="519290"/>
            <a:ext cx="14955977" cy="1885245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7529A-3DF4-4579-2379-95C6FAF60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143" y="2596444"/>
            <a:ext cx="14955977" cy="6188570"/>
          </a:xfrm>
        </p:spPr>
        <p:txBody>
          <a:bodyPr>
            <a:normAutofit/>
          </a:bodyPr>
          <a:lstStyle/>
          <a:p>
            <a:r>
              <a:rPr lang="en-US" dirty="0"/>
              <a:t>The inner select statement returns one value for the </a:t>
            </a:r>
            <a:r>
              <a:rPr lang="en-US" dirty="0" err="1"/>
              <a:t>classId</a:t>
            </a:r>
            <a:r>
              <a:rPr lang="en-US" dirty="0"/>
              <a:t> (1001). </a:t>
            </a:r>
          </a:p>
          <a:p>
            <a:r>
              <a:rPr lang="en-US" dirty="0"/>
              <a:t>The condition in the outer select is now WHERE </a:t>
            </a:r>
            <a:r>
              <a:rPr lang="en-US" dirty="0" err="1"/>
              <a:t>classId</a:t>
            </a:r>
            <a:r>
              <a:rPr lang="en-US" dirty="0"/>
              <a:t> = 1001.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ECDE62F-65C6-ABFE-39B5-D4C3ADF29300}"/>
              </a:ext>
            </a:extLst>
          </p:cNvPr>
          <p:cNvSpPr txBox="1">
            <a:spLocks/>
          </p:cNvSpPr>
          <p:nvPr/>
        </p:nvSpPr>
        <p:spPr>
          <a:xfrm>
            <a:off x="1715154" y="4648200"/>
            <a:ext cx="14955977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25115" indent="-325115" algn="l" defTabSz="1300460" rtl="0" eaLnBrk="1" latinLnBrk="0" hangingPunct="1">
              <a:lnSpc>
                <a:spcPct val="90000"/>
              </a:lnSpc>
              <a:spcBef>
                <a:spcPts val="1422"/>
              </a:spcBef>
              <a:buFont typeface="Arial" panose="020B0604020202020204" pitchFamily="34" charset="0"/>
              <a:buChar char="•"/>
              <a:defRPr sz="3982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75345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625575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227580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92603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357626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49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72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954" indent="-325115" algn="l" defTabSz="1300460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memberId</a:t>
            </a: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memberclass</a:t>
            </a: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classId</a:t>
            </a: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</a:p>
          <a:p>
            <a:pPr marL="0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			  1001</a:t>
            </a:r>
            <a:endParaRPr lang="en-US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FCEECE-EC38-9F0D-2726-4C7F0A4425E6}"/>
              </a:ext>
            </a:extLst>
          </p:cNvPr>
          <p:cNvSpPr/>
          <p:nvPr/>
        </p:nvSpPr>
        <p:spPr>
          <a:xfrm>
            <a:off x="1725542" y="6629400"/>
            <a:ext cx="12801600" cy="2209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B2ED55-A170-BB3F-B62B-CA45F140F192}"/>
              </a:ext>
            </a:extLst>
          </p:cNvPr>
          <p:cNvSpPr/>
          <p:nvPr/>
        </p:nvSpPr>
        <p:spPr>
          <a:xfrm>
            <a:off x="1192142" y="4375868"/>
            <a:ext cx="12649200" cy="22098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7ADF2A-938F-C6AF-2631-94E6F53F1DBE}"/>
              </a:ext>
            </a:extLst>
          </p:cNvPr>
          <p:cNvSpPr txBox="1"/>
          <p:nvPr/>
        </p:nvSpPr>
        <p:spPr>
          <a:xfrm>
            <a:off x="12093937" y="6858000"/>
            <a:ext cx="3352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Inner SELECT</a:t>
            </a:r>
          </a:p>
          <a:p>
            <a:r>
              <a:rPr lang="en-GB" sz="3200" dirty="0">
                <a:solidFill>
                  <a:srgbClr val="FF0000"/>
                </a:solidFill>
              </a:rPr>
              <a:t>(result)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200CCD-B0C9-D513-D84E-BD4C2F00B9F6}"/>
              </a:ext>
            </a:extLst>
          </p:cNvPr>
          <p:cNvSpPr txBox="1"/>
          <p:nvPr/>
        </p:nvSpPr>
        <p:spPr>
          <a:xfrm>
            <a:off x="10945742" y="5546266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00B050"/>
                </a:solidFill>
              </a:rPr>
              <a:t>Outer SELECT</a:t>
            </a:r>
          </a:p>
        </p:txBody>
      </p:sp>
    </p:spTree>
    <p:extLst>
      <p:ext uri="{BB962C8B-B14F-4D97-AF65-F5344CB8AC3E}">
        <p14:creationId xmlns:p14="http://schemas.microsoft.com/office/powerpoint/2010/main" val="212785499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Subqueries with multiple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143" y="2209800"/>
            <a:ext cx="14955977" cy="657521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 the inner select returns more than one value, then we use IN with our WHERE clause.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650230" lvl="1" indent="0">
              <a:buNone/>
            </a:pPr>
            <a:r>
              <a:rPr lang="en-GB" sz="3900" dirty="0">
                <a:latin typeface="Courier New" panose="02070309020205020404" pitchFamily="49" charset="0"/>
                <a:cs typeface="Courier New" panose="02070309020205020404" pitchFamily="49" charset="0"/>
              </a:rPr>
              <a:t>SELECT CONCAT(</a:t>
            </a:r>
            <a:r>
              <a:rPr lang="en-GB" sz="3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GB" sz="3900" dirty="0">
                <a:latin typeface="Courier New" panose="02070309020205020404" pitchFamily="49" charset="0"/>
                <a:cs typeface="Courier New" panose="02070309020205020404" pitchFamily="49" charset="0"/>
              </a:rPr>
              <a:t>, " ", </a:t>
            </a:r>
            <a:r>
              <a:rPr lang="en-GB" sz="3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GB" sz="3900" dirty="0">
                <a:latin typeface="Courier New" panose="02070309020205020404" pitchFamily="49" charset="0"/>
                <a:cs typeface="Courier New" panose="02070309020205020404" pitchFamily="49" charset="0"/>
              </a:rPr>
              <a:t>) AS Name </a:t>
            </a:r>
          </a:p>
          <a:p>
            <a:pPr marL="650230" lvl="1" indent="0">
              <a:buNone/>
            </a:pPr>
            <a:r>
              <a:rPr lang="en-GB" sz="3900" dirty="0">
                <a:latin typeface="Courier New" panose="02070309020205020404" pitchFamily="49" charset="0"/>
                <a:cs typeface="Courier New" panose="02070309020205020404" pitchFamily="49" charset="0"/>
              </a:rPr>
              <a:t>FROM trainer </a:t>
            </a:r>
          </a:p>
          <a:p>
            <a:pPr marL="650230" lvl="1" indent="0">
              <a:buNone/>
            </a:pPr>
            <a:r>
              <a:rPr lang="en-GB" sz="3900" dirty="0">
                <a:latin typeface="Courier New" panose="02070309020205020404" pitchFamily="49" charset="0"/>
                <a:cs typeface="Courier New" panose="02070309020205020404" pitchFamily="49" charset="0"/>
              </a:rPr>
              <a:t>WHERE PPS IN (</a:t>
            </a:r>
          </a:p>
          <a:p>
            <a:pPr marL="650230" lvl="1" indent="0">
              <a:buNone/>
            </a:pPr>
            <a:r>
              <a:rPr lang="en-GB" sz="3900" dirty="0">
                <a:latin typeface="Courier New" panose="02070309020205020404" pitchFamily="49" charset="0"/>
                <a:cs typeface="Courier New" panose="02070309020205020404" pitchFamily="49" charset="0"/>
              </a:rPr>
              <a:t>	SELECT PPS    </a:t>
            </a:r>
          </a:p>
          <a:p>
            <a:pPr marL="650230" lvl="1" indent="0">
              <a:buNone/>
            </a:pPr>
            <a:r>
              <a:rPr lang="en-GB" sz="3900" dirty="0">
                <a:latin typeface="Courier New" panose="02070309020205020404" pitchFamily="49" charset="0"/>
                <a:cs typeface="Courier New" panose="02070309020205020404" pitchFamily="49" charset="0"/>
              </a:rPr>
              <a:t>	FROM </a:t>
            </a:r>
            <a:r>
              <a:rPr lang="en-GB" sz="3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fitnessclass</a:t>
            </a:r>
            <a:r>
              <a:rPr lang="en-GB" sz="3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650230" lvl="1" indent="0">
              <a:buNone/>
            </a:pPr>
            <a:r>
              <a:rPr lang="en-GB" sz="3900" dirty="0">
                <a:latin typeface="Courier New" panose="02070309020205020404" pitchFamily="49" charset="0"/>
                <a:cs typeface="Courier New" panose="02070309020205020404" pitchFamily="49" charset="0"/>
              </a:rPr>
              <a:t>	WHERE duration &gt;= 60</a:t>
            </a:r>
          </a:p>
          <a:p>
            <a:pPr marL="650230" lvl="1" indent="0">
              <a:buNone/>
            </a:pPr>
            <a:r>
              <a:rPr lang="en-GB" sz="39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ACAF4E-6FBC-145B-21D4-2437DB558248}"/>
              </a:ext>
            </a:extLst>
          </p:cNvPr>
          <p:cNvSpPr/>
          <p:nvPr/>
        </p:nvSpPr>
        <p:spPr>
          <a:xfrm>
            <a:off x="1812131" y="6292132"/>
            <a:ext cx="15087600" cy="23184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FECE21-6B08-FB3E-6ECE-9B2865E064AC}"/>
              </a:ext>
            </a:extLst>
          </p:cNvPr>
          <p:cNvSpPr/>
          <p:nvPr/>
        </p:nvSpPr>
        <p:spPr>
          <a:xfrm>
            <a:off x="1278731" y="4543506"/>
            <a:ext cx="15087600" cy="170489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3618DE-5E63-643E-84AE-1785EC2AA0F7}"/>
              </a:ext>
            </a:extLst>
          </p:cNvPr>
          <p:cNvSpPr txBox="1"/>
          <p:nvPr/>
        </p:nvSpPr>
        <p:spPr>
          <a:xfrm>
            <a:off x="12348508" y="6583740"/>
            <a:ext cx="441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3200" dirty="0">
                <a:solidFill>
                  <a:srgbClr val="FF0000"/>
                </a:solidFill>
              </a:rPr>
              <a:t>Inner SELECT</a:t>
            </a:r>
          </a:p>
          <a:p>
            <a:pPr algn="r"/>
            <a:r>
              <a:rPr lang="en-GB" sz="3200" dirty="0">
                <a:solidFill>
                  <a:srgbClr val="FF0000"/>
                </a:solidFill>
              </a:rPr>
              <a:t>(find list of trainers who teach longer classes)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75D9F-9A50-F9A5-FB01-4596D439F048}"/>
              </a:ext>
            </a:extLst>
          </p:cNvPr>
          <p:cNvSpPr txBox="1"/>
          <p:nvPr/>
        </p:nvSpPr>
        <p:spPr>
          <a:xfrm>
            <a:off x="11489530" y="2930649"/>
            <a:ext cx="48768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3200" dirty="0">
                <a:solidFill>
                  <a:srgbClr val="00B050"/>
                </a:solidFill>
              </a:rPr>
              <a:t>Outer SELECT</a:t>
            </a:r>
          </a:p>
          <a:p>
            <a:pPr algn="r"/>
            <a:r>
              <a:rPr lang="en-GB" sz="3200" dirty="0">
                <a:solidFill>
                  <a:srgbClr val="00B050"/>
                </a:solidFill>
              </a:rPr>
              <a:t>(find names of trainers with PPS numbers in this list)</a:t>
            </a:r>
          </a:p>
        </p:txBody>
      </p:sp>
    </p:spTree>
    <p:extLst>
      <p:ext uri="{BB962C8B-B14F-4D97-AF65-F5344CB8AC3E}">
        <p14:creationId xmlns:p14="http://schemas.microsoft.com/office/powerpoint/2010/main" val="186941001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and ALL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keywords ANY and ALL may be used with subqueries that produce a single column of numbers.</a:t>
            </a:r>
          </a:p>
          <a:p>
            <a:pPr marL="650230" lvl="1" indent="0">
              <a:buNone/>
            </a:pPr>
            <a:endParaRPr lang="en-US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50230" lvl="1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classId</a:t>
            </a: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classDescription</a:t>
            </a: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classDay</a:t>
            </a: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classTime</a:t>
            </a: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, duration </a:t>
            </a:r>
          </a:p>
          <a:p>
            <a:pPr marL="650230" lvl="1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fitnessclass</a:t>
            </a: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650230" lvl="1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WHERE duration &gt;= ALL(</a:t>
            </a:r>
          </a:p>
          <a:p>
            <a:pPr marL="650230" lvl="1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	SELECT duration </a:t>
            </a:r>
          </a:p>
          <a:p>
            <a:pPr marL="650230" lvl="1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	FROM </a:t>
            </a:r>
            <a:r>
              <a:rPr lang="en-GB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fitnessclass</a:t>
            </a:r>
            <a:endParaRPr lang="en-GB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50230" lvl="1" indent="0">
              <a:buNone/>
            </a:pPr>
            <a:r>
              <a:rPr lang="en-GB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30918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DB420-5F1E-DBF7-A460-6B9526025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Subqueries vs.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CF72D-1DBF-C9C6-CF2A-8AEC700E0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many situations, the same result can be achieved by using either a JOIN or a subquery</a:t>
            </a:r>
          </a:p>
          <a:p>
            <a:endParaRPr lang="en-GB" dirty="0"/>
          </a:p>
          <a:p>
            <a:r>
              <a:rPr lang="en-GB" dirty="0"/>
              <a:t>So when should you use one over the other?</a:t>
            </a:r>
          </a:p>
        </p:txBody>
      </p:sp>
    </p:spTree>
    <p:extLst>
      <p:ext uri="{BB962C8B-B14F-4D97-AF65-F5344CB8AC3E}">
        <p14:creationId xmlns:p14="http://schemas.microsoft.com/office/powerpoint/2010/main" val="2524426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6546A-7C5B-DBAE-4F52-F6DB8B0EE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E3E0-FC26-1C15-3037-1238BA12A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Subqueries vs.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AB446-BE58-A763-73D0-E211B090D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Subqueries are useful when:</a:t>
            </a:r>
          </a:p>
          <a:p>
            <a:pPr lvl="1"/>
            <a:r>
              <a:rPr lang="en-GB" dirty="0"/>
              <a:t>You need an intermediate result that is only used once</a:t>
            </a:r>
          </a:p>
          <a:p>
            <a:pPr lvl="1"/>
            <a:r>
              <a:rPr lang="en-GB" dirty="0"/>
              <a:t>For example, filtering based on an aggregate result</a:t>
            </a:r>
          </a:p>
          <a:p>
            <a:endParaRPr lang="en-GB" dirty="0"/>
          </a:p>
          <a:p>
            <a:pPr marL="650230" lvl="1" indent="0">
              <a:lnSpc>
                <a:spcPct val="100000"/>
              </a:lnSpc>
              <a:buNone/>
            </a:pPr>
            <a:r>
              <a:rPr lang="en-GB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name</a:t>
            </a:r>
          </a:p>
          <a:p>
            <a:pPr marL="650230" lvl="1" indent="0">
              <a:lnSpc>
                <a:spcPct val="100000"/>
              </a:lnSpc>
              <a:buNone/>
            </a:pPr>
            <a:r>
              <a:rPr lang="en-GB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employees</a:t>
            </a:r>
          </a:p>
          <a:p>
            <a:pPr marL="650230" lvl="1" indent="0">
              <a:lnSpc>
                <a:spcPct val="100000"/>
              </a:lnSpc>
              <a:buNone/>
            </a:pPr>
            <a:r>
              <a:rPr lang="en-GB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salary &gt; (</a:t>
            </a:r>
          </a:p>
          <a:p>
            <a:pPr marL="650230" lvl="1" indent="0">
              <a:lnSpc>
                <a:spcPct val="100000"/>
              </a:lnSpc>
              <a:buNone/>
            </a:pPr>
            <a:r>
              <a:rPr lang="en-GB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SELECT AVG(salary)</a:t>
            </a:r>
          </a:p>
          <a:p>
            <a:pPr marL="650230" lvl="1" indent="0">
              <a:lnSpc>
                <a:spcPct val="100000"/>
              </a:lnSpc>
              <a:buNone/>
            </a:pPr>
            <a:r>
              <a:rPr lang="en-GB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FROM employees</a:t>
            </a:r>
          </a:p>
          <a:p>
            <a:pPr marL="650230" lvl="1" indent="0">
              <a:lnSpc>
                <a:spcPct val="100000"/>
              </a:lnSpc>
              <a:buNone/>
            </a:pPr>
            <a:r>
              <a:rPr lang="en-GB" sz="3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0369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DFDE-5F84-DB45-A21B-FB4F5F84E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E5349-0580-DD71-FD5B-19C095B46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Subqueries vs.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B4CAE-F546-A93F-4F34-D6FC1C7C9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Subqueries are also useful for filtering with IN, as in our previous example</a:t>
            </a:r>
          </a:p>
          <a:p>
            <a:endParaRPr lang="en-GB" dirty="0"/>
          </a:p>
          <a:p>
            <a:pPr marL="650230" lvl="1" indent="0">
              <a:buNone/>
            </a:pP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SELECT CONCAT(</a:t>
            </a:r>
            <a:r>
              <a:rPr lang="en-GB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, " ", </a:t>
            </a:r>
            <a:r>
              <a:rPr lang="en-GB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 AS Name </a:t>
            </a:r>
          </a:p>
          <a:p>
            <a:pPr marL="650230" lvl="1" indent="0">
              <a:buNone/>
            </a:pP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FROM trainer </a:t>
            </a:r>
          </a:p>
          <a:p>
            <a:pPr marL="650230" lvl="1" indent="0">
              <a:buNone/>
            </a:pP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WHERE PPS IN (</a:t>
            </a:r>
          </a:p>
          <a:p>
            <a:pPr marL="650230" lvl="1" indent="0">
              <a:buNone/>
            </a:pP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SELECT PPS    </a:t>
            </a:r>
          </a:p>
          <a:p>
            <a:pPr marL="650230" lvl="1" indent="0">
              <a:buNone/>
            </a:pP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FROM </a:t>
            </a:r>
            <a:r>
              <a:rPr lang="en-GB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fitnessclass</a:t>
            </a: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650230" lvl="1" indent="0">
              <a:buNone/>
            </a:pP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	WHERE duration &gt;= 60</a:t>
            </a:r>
          </a:p>
          <a:p>
            <a:pPr marL="650230" lvl="1" indent="0">
              <a:buNone/>
            </a:pPr>
            <a:r>
              <a:rPr lang="en-GB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3200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2861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714EF-D879-6B41-014C-C05246DD1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3D819-5D6F-7CEB-465F-1F2DD7123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Subqueries vs.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959E4-040B-7DF6-A8D6-403B295A9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JOIN queries have better performance when combining related rows and getting columns from multiple tables</a:t>
            </a:r>
          </a:p>
          <a:p>
            <a:endParaRPr lang="en-GB" dirty="0"/>
          </a:p>
          <a:p>
            <a:r>
              <a:rPr lang="en-GB" dirty="0"/>
              <a:t>If you need to get data from multiple tables, a JOIN may be a better choice</a:t>
            </a:r>
          </a:p>
          <a:p>
            <a:endParaRPr lang="en-GB" dirty="0"/>
          </a:p>
          <a:p>
            <a:r>
              <a:rPr lang="en-GB" dirty="0"/>
              <a:t>If you only need the result from the second table as a filter for the outer query, a subquery might be the right choice</a:t>
            </a:r>
          </a:p>
        </p:txBody>
      </p:sp>
    </p:spTree>
    <p:extLst>
      <p:ext uri="{BB962C8B-B14F-4D97-AF65-F5344CB8AC3E}">
        <p14:creationId xmlns:p14="http://schemas.microsoft.com/office/powerpoint/2010/main" val="11600650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f628bd03-8e43-4d05-9e8f-946a525ad4e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dernPortfolio">
  <a:themeElements>
    <a:clrScheme name="ModernPortfolio">
      <a:dk1>
        <a:srgbClr val="000000"/>
      </a:dk1>
      <a:lt1>
        <a:srgbClr val="FFFFFF"/>
      </a:lt1>
      <a:dk2>
        <a:srgbClr val="5C5C5C"/>
      </a:dk2>
      <a:lt2>
        <a:srgbClr val="CBCBCB"/>
      </a:lt2>
      <a:accent1>
        <a:srgbClr val="557E8A"/>
      </a:accent1>
      <a:accent2>
        <a:srgbClr val="88885A"/>
      </a:accent2>
      <a:accent3>
        <a:srgbClr val="B29E85"/>
      </a:accent3>
      <a:accent4>
        <a:srgbClr val="BB7B52"/>
      </a:accent4>
      <a:accent5>
        <a:srgbClr val="CF7F66"/>
      </a:accent5>
      <a:accent6>
        <a:srgbClr val="62647B"/>
      </a:accent6>
      <a:hlink>
        <a:srgbClr val="0000FF"/>
      </a:hlink>
      <a:folHlink>
        <a:srgbClr val="FF00FF"/>
      </a:folHlink>
    </a:clrScheme>
    <a:fontScheme name="ModernPortfolio">
      <a:majorFont>
        <a:latin typeface="Helvetica Neue Light"/>
        <a:ea typeface="Helvetica Neue Light"/>
        <a:cs typeface="Helvetica Neue Light"/>
      </a:majorFont>
      <a:minorFont>
        <a:latin typeface="Helvetica Neue Light"/>
        <a:ea typeface="Helvetica Neue Light"/>
        <a:cs typeface="Helvetica Neue Light"/>
      </a:minorFont>
    </a:fontScheme>
    <a:fmtScheme name="ModernPortfol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12166"/>
            <a:lumOff val="-13042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ABABAB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445</Words>
  <Application>Microsoft Office PowerPoint</Application>
  <PresentationFormat>Custom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Helvetica Neue</vt:lpstr>
      <vt:lpstr>Office Theme</vt:lpstr>
      <vt:lpstr>Subqueries</vt:lpstr>
      <vt:lpstr>What is a subquery?</vt:lpstr>
      <vt:lpstr>Example</vt:lpstr>
      <vt:lpstr>Example</vt:lpstr>
      <vt:lpstr>Subqueries with multiple results</vt:lpstr>
      <vt:lpstr>ANY and ALL</vt:lpstr>
      <vt:lpstr>Subqueries vs. Joins</vt:lpstr>
      <vt:lpstr>Subqueries vs. Joins</vt:lpstr>
      <vt:lpstr>Subqueries vs. Joins</vt:lpstr>
      <vt:lpstr>Subqueries vs. Joins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Subqueries</dc:title>
  <dc:creator>Rosanne Birney</dc:creator>
  <cp:lastModifiedBy>Rosanne Birney</cp:lastModifiedBy>
  <cp:revision>12</cp:revision>
  <dcterms:created xsi:type="dcterms:W3CDTF">2020-10-21T22:41:55Z</dcterms:created>
  <dcterms:modified xsi:type="dcterms:W3CDTF">2025-10-30T11:16:31Z</dcterms:modified>
</cp:coreProperties>
</file>