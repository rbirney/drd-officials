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29"/>
  </p:notesMasterIdLst>
  <p:sldIdLst>
    <p:sldId id="256" r:id="rId2"/>
    <p:sldId id="278" r:id="rId3"/>
    <p:sldId id="279" r:id="rId4"/>
    <p:sldId id="280" r:id="rId5"/>
    <p:sldId id="323" r:id="rId6"/>
    <p:sldId id="324" r:id="rId7"/>
    <p:sldId id="309" r:id="rId8"/>
    <p:sldId id="258" r:id="rId9"/>
    <p:sldId id="307" r:id="rId10"/>
    <p:sldId id="327" r:id="rId11"/>
    <p:sldId id="328" r:id="rId12"/>
    <p:sldId id="329" r:id="rId13"/>
    <p:sldId id="330" r:id="rId14"/>
    <p:sldId id="310" r:id="rId15"/>
    <p:sldId id="332" r:id="rId16"/>
    <p:sldId id="333" r:id="rId17"/>
    <p:sldId id="311" r:id="rId18"/>
    <p:sldId id="313" r:id="rId19"/>
    <p:sldId id="331" r:id="rId20"/>
    <p:sldId id="315" r:id="rId21"/>
    <p:sldId id="316" r:id="rId22"/>
    <p:sldId id="317" r:id="rId23"/>
    <p:sldId id="326" r:id="rId24"/>
    <p:sldId id="318" r:id="rId25"/>
    <p:sldId id="325" r:id="rId26"/>
    <p:sldId id="319" r:id="rId27"/>
    <p:sldId id="320" r:id="rId28"/>
  </p:sldIdLst>
  <p:sldSz cx="17340263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5" y="36"/>
      </p:cViewPr>
      <p:guideLst>
        <p:guide orient="horz" pos="3072"/>
        <p:guide pos="54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17800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03BC-2392-6ACF-00BC-903C9A66A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16F64-7DA0-66A6-9BDD-5AAD5E758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98"/>
            <a:ext cx="13005197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2221A-0960-0373-225F-388C1F95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3852-EB80-4BDF-A36B-A82D29BC0FE4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5D1B2-80FD-98FC-F875-89093918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EB8F8-77C6-28DA-0950-D213CB42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21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C233-FA44-0C36-6A1B-ACBE13EF1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EC26A-DC3D-A1C6-A3B4-8F05E2C99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7C584-599F-A211-68DD-1EE22FA6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3852-EB80-4BDF-A36B-A82D29BC0FE4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12CA6-4714-B69B-4A10-FFAB79718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F76CF-B3F5-DD0A-075D-E560C604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94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056F-AE58-7DDE-2403-547BE784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112" y="2431628"/>
            <a:ext cx="14955977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40882-E489-D93A-E9C1-630FDA84C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112" y="6527237"/>
            <a:ext cx="14955977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0F478-5427-39D2-02C1-4F1459EFF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3852-EB80-4BDF-A36B-A82D29BC0FE4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C5A74-537A-DA8B-E661-B6116357B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23E04-18BC-9672-57C5-59843FAD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334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D6AF-43CE-2D0C-AF7D-822801430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60FFB-B69E-3F1C-E1FA-92F331EF6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2143" y="2596444"/>
            <a:ext cx="7369612" cy="61885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120B6-BFC6-587C-B3B7-48AD3A0C6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8508" y="2596444"/>
            <a:ext cx="7369612" cy="618857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DAC21-D534-08A0-A5F6-AE17C33F3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3852-EB80-4BDF-A36B-A82D29BC0FE4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7B0AE-3776-8FC6-EE23-51735D87B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0FB5E-B87C-1627-0715-E86753E6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83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05CC9-D4F3-D97F-263F-99CBE44FE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519290"/>
            <a:ext cx="14955977" cy="188524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FB63F-46B6-F4E6-C368-A1CFCAFAE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4403" y="2390987"/>
            <a:ext cx="733574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461F6-4AD2-B0C7-93B5-31DE46A67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4403" y="3562773"/>
            <a:ext cx="7335743" cy="5240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5E8700-916C-4A6E-5F7C-50D696A08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508" y="2390987"/>
            <a:ext cx="737187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A9C60F-1492-D789-2AE6-3689A4BC5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508" y="3562773"/>
            <a:ext cx="7371870" cy="5240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D76FCE-0BEF-D794-32A7-ABDD4A62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3852-EB80-4BDF-A36B-A82D29BC0FE4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8FDD9-4FC5-3EB3-34ED-40732AA6D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825036-1978-3E6A-4DD1-245889BC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155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E8068-7F7B-6E4D-118B-BCCD6BEE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89D9D-9250-ABCE-B585-2479D1528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3852-EB80-4BDF-A36B-A82D29BC0FE4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CD22C4-2DAC-4C32-C1D1-39F856B53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3C01D2-EB78-23C2-446E-074B338E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84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17C665-EDBF-8CE4-3763-DE803039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3852-EB80-4BDF-A36B-A82D29BC0FE4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7AD4-458E-4488-3FDD-888C3E34F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7C2F-4024-1EA2-7C24-E776B438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72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22DC7-8DA4-5ABD-E702-4479C7A67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05079-2089-67C2-B2EE-2C7E48650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3DEA4-BFDB-814D-5EE1-1398E4200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81F75-2407-71D0-4F5D-72222761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3852-EB80-4BDF-A36B-A82D29BC0FE4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B3D26-5420-2458-005D-EB1D59480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84836-A89F-F49D-98B6-F0F68BA44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9687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D26A-B881-9112-51D5-899EE7D80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7C1B0-1592-8216-23A5-898DEEFFD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89821-CB1E-4520-8B9F-8C26FBDB0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33053-5375-0326-94CE-E89264BB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3852-EB80-4BDF-A36B-A82D29BC0FE4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628F-78F7-9184-A9D0-5D69DC53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1CA0E-E007-7DA6-2DB0-03981745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445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40903-FADB-DF11-3D06-296C6061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6D6BC-0030-F29B-CF97-B1DF00D7D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D1A1D-771C-8533-93A2-334B792F5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3852-EB80-4BDF-A36B-A82D29BC0FE4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EDF7D-4B02-DBD9-B413-EC14EB8BF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06367-6AA6-4372-0468-220BBD2F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38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D445A-3423-271C-46A2-22DA37E5C5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09126" y="519289"/>
            <a:ext cx="3738994" cy="82657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80037-0356-D1C7-D980-96BE68028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2143" y="519289"/>
            <a:ext cx="11000229" cy="82657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6E8DE-7D97-A824-7B6A-41A52FE8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F3852-EB80-4BDF-A36B-A82D29BC0FE4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736F6-AE8D-0AE3-7F85-44DAECCBE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269A2-D804-9DE6-109E-684F02357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128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01133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5C8B4-C1B5-981B-BCF7-A37BD2382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1E95C-3DE5-08BC-456F-EAA72D84D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EF04-2D1D-0C2E-59EF-53446E0B3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2143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F3852-EB80-4BDF-A36B-A82D29BC0FE4}" type="datetimeFigureOut">
              <a:rPr lang="en-IE" smtClean="0"/>
              <a:t>19/03/2026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CE6F3-3D63-A555-4D81-5A0EBD508C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3962" y="9040143"/>
            <a:ext cx="585233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DA8E5-9E6F-16DE-9CEC-E33199FDD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246561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18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tmp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/>
              <a:t>Join clause</a:t>
            </a:r>
            <a:endParaRPr dirty="0"/>
          </a:p>
        </p:txBody>
      </p:sp>
      <p:sp>
        <p:nvSpPr>
          <p:cNvPr id="138" name="Shape 138"/>
          <p:cNvSpPr>
            <a:spLocks noGrp="1"/>
          </p:cNvSpPr>
          <p:nvPr>
            <p:ph type="subTitle" idx="1"/>
          </p:nvPr>
        </p:nvSpPr>
        <p:spPr>
          <a:xfrm>
            <a:off x="3196431" y="7200900"/>
            <a:ext cx="11861800" cy="10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JOIN</a:t>
            </a:r>
          </a:p>
          <a:p>
            <a:endParaRPr lang="en-US" dirty="0"/>
          </a:p>
          <a:p>
            <a:r>
              <a:rPr lang="en-US" dirty="0"/>
              <a:t>Multi-table JOIN</a:t>
            </a:r>
          </a:p>
          <a:p>
            <a:endParaRPr lang="en-US" dirty="0"/>
          </a:p>
          <a:p>
            <a:r>
              <a:rPr lang="en-US" dirty="0"/>
              <a:t>OUTER JOIN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3885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213" y="2597150"/>
            <a:ext cx="9840699" cy="6188075"/>
          </a:xfrm>
        </p:spPr>
        <p:txBody>
          <a:bodyPr/>
          <a:lstStyle/>
          <a:p>
            <a:r>
              <a:rPr lang="en-US" dirty="0"/>
              <a:t>A SQL join is an instruction to combine data from two (or more) sets of data (i.e. two tables) </a:t>
            </a:r>
            <a:r>
              <a:rPr lang="en-GB" dirty="0"/>
              <a:t>based on a related column between them</a:t>
            </a:r>
            <a:r>
              <a:rPr lang="en-US" dirty="0"/>
              <a:t>.</a:t>
            </a:r>
          </a:p>
          <a:p>
            <a:r>
              <a:rPr lang="en-US" dirty="0"/>
              <a:t>This Join  is known as an equijoin or an inner join.</a:t>
            </a:r>
          </a:p>
        </p:txBody>
      </p:sp>
      <p:pic>
        <p:nvPicPr>
          <p:cNvPr id="1026" name="Picture 2" descr="Image result for sql jo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9531" y="2438400"/>
            <a:ext cx="4445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755F87-6168-7CA7-119C-9A4719AC5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833" y="6146432"/>
            <a:ext cx="9840698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88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r>
              <a:rPr lang="en-US" dirty="0"/>
              <a:t>The JOIN keyword selects all rows from both tables if there is a match between the join columns in both tables (i.e. Primary Key - Foreign Key link).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311" y="4572000"/>
            <a:ext cx="6749639" cy="189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684645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E881646F-E0A5-438E-9A32-7914A79AE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531" y="3147804"/>
            <a:ext cx="10515600" cy="1747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52F3E1-7878-41E0-B4B7-F31D27F872AC}"/>
              </a:ext>
            </a:extLst>
          </p:cNvPr>
          <p:cNvSpPr txBox="1"/>
          <p:nvPr/>
        </p:nvSpPr>
        <p:spPr>
          <a:xfrm>
            <a:off x="3107531" y="2538335"/>
            <a:ext cx="320040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GB" dirty="0"/>
              <a:t>customers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4F2B6-6ED7-4783-B689-AEED8B5C6418}"/>
              </a:ext>
            </a:extLst>
          </p:cNvPr>
          <p:cNvSpPr txBox="1"/>
          <p:nvPr/>
        </p:nvSpPr>
        <p:spPr>
          <a:xfrm>
            <a:off x="3107531" y="6232650"/>
            <a:ext cx="281940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GB" dirty="0"/>
              <a:t>orders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BC5265-8802-4F8A-8BE3-6AA2B84B270D}"/>
              </a:ext>
            </a:extLst>
          </p:cNvPr>
          <p:cNvCxnSpPr>
            <a:cxnSpLocks/>
          </p:cNvCxnSpPr>
          <p:nvPr/>
        </p:nvCxnSpPr>
        <p:spPr>
          <a:xfrm>
            <a:off x="3733733" y="4791658"/>
            <a:ext cx="6384198" cy="197095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49EBEEC-D157-4510-BC6D-40F612A025C8}"/>
              </a:ext>
            </a:extLst>
          </p:cNvPr>
          <p:cNvSpPr txBox="1"/>
          <p:nvPr/>
        </p:nvSpPr>
        <p:spPr>
          <a:xfrm>
            <a:off x="9051131" y="5540676"/>
            <a:ext cx="632460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US" sz="2800" dirty="0"/>
              <a:t>Primary Key - Foreign Key link</a:t>
            </a:r>
            <a:endParaRPr lang="en-GB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B44F14-9DFA-4231-8C7A-F64FD19BC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531" y="6762615"/>
            <a:ext cx="95631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5993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11E584E8-CE94-4B46-9167-436DD59D1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731" y="5556250"/>
            <a:ext cx="10515600" cy="1589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DF2325-74AF-C2F8-47AF-1245D1A79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731" y="2903182"/>
            <a:ext cx="10961387" cy="197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42035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The following example selects each member name from the </a:t>
            </a:r>
            <a:r>
              <a:rPr lang="en-US" dirty="0" err="1"/>
              <a:t>Gymmember</a:t>
            </a:r>
            <a:r>
              <a:rPr lang="en-US" dirty="0"/>
              <a:t> table and corresponding (matching) membership from the </a:t>
            </a:r>
            <a:r>
              <a:rPr lang="en-US" dirty="0" err="1"/>
              <a:t>Membershiptype</a:t>
            </a:r>
            <a:r>
              <a:rPr lang="en-US" dirty="0"/>
              <a:t> table: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BED2D1-DC36-09B4-E2C1-6FEB01547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131" y="4876800"/>
            <a:ext cx="10328994" cy="170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26714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Join</a:t>
            </a:r>
          </a:p>
        </p:txBody>
      </p:sp>
      <p:sp>
        <p:nvSpPr>
          <p:cNvPr id="146" name="Shape 146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r>
              <a:rPr lang="en-US" dirty="0"/>
              <a:t>There are 2 variations on the Join statement. Both require that the columns being joined have the same name: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USING clause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NATURAL JOIN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F1F78-A0AF-35F6-7AE9-097ED22FA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039" y="4953000"/>
            <a:ext cx="10106662" cy="1209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A8CBEF-04E3-6045-9FD7-7A4906342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0666" y="7315199"/>
            <a:ext cx="9677408" cy="1209677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r>
              <a:rPr lang="en-US" dirty="0"/>
              <a:t>In each SELECT statement that requires a JOIN, there are four things to do:</a:t>
            </a:r>
          </a:p>
          <a:p>
            <a:pPr lvl="1"/>
            <a:endParaRPr lang="en-US" dirty="0"/>
          </a:p>
          <a:p>
            <a:pPr marL="1164580" lvl="1" indent="-514350">
              <a:buFont typeface="+mj-lt"/>
              <a:buAutoNum type="arabicPeriod"/>
            </a:pPr>
            <a:r>
              <a:rPr lang="en-US" dirty="0"/>
              <a:t>Identify which tables have the data you are looking for. These table names are used in the JOIN clause.</a:t>
            </a:r>
          </a:p>
          <a:p>
            <a:pPr marL="1164580" lvl="1" indent="-514350">
              <a:buFont typeface="+mj-lt"/>
              <a:buAutoNum type="arabicPeriod"/>
            </a:pPr>
            <a:r>
              <a:rPr lang="en-US" dirty="0"/>
              <a:t>Identify which columns are the primary and foreign keys in these tables. We use these in the ON clause.</a:t>
            </a:r>
          </a:p>
          <a:p>
            <a:pPr marL="1164580" lvl="1" indent="-514350">
              <a:buFont typeface="+mj-lt"/>
              <a:buAutoNum type="arabicPeriod"/>
            </a:pPr>
            <a:r>
              <a:rPr lang="en-US" dirty="0"/>
              <a:t>Identify which columns we want the query to output. We put these in the SELECT clause of the statement.</a:t>
            </a:r>
          </a:p>
          <a:p>
            <a:pPr marL="1164580" lvl="1" indent="-514350">
              <a:buFont typeface="+mj-lt"/>
              <a:buAutoNum type="arabicPeriod"/>
            </a:pPr>
            <a:r>
              <a:rPr lang="en-US" dirty="0"/>
              <a:t>Add any conditions necessary (if there are any).</a:t>
            </a:r>
          </a:p>
        </p:txBody>
      </p:sp>
    </p:spTree>
    <p:extLst>
      <p:ext uri="{BB962C8B-B14F-4D97-AF65-F5344CB8AC3E}">
        <p14:creationId xmlns:p14="http://schemas.microsoft.com/office/powerpoint/2010/main" val="18910124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214" y="2597150"/>
            <a:ext cx="10221118" cy="6188075"/>
          </a:xfrm>
        </p:spPr>
        <p:txBody>
          <a:bodyPr>
            <a:normAutofit/>
          </a:bodyPr>
          <a:lstStyle/>
          <a:p>
            <a:r>
              <a:rPr lang="en-US" dirty="0"/>
              <a:t>When we join 2 tables one record is returned per match, so for example if we join the </a:t>
            </a:r>
            <a:r>
              <a:rPr lang="en-US" dirty="0" err="1"/>
              <a:t>Gymmember</a:t>
            </a:r>
            <a:r>
              <a:rPr lang="en-US" dirty="0"/>
              <a:t> and </a:t>
            </a:r>
            <a:r>
              <a:rPr lang="en-US" dirty="0" err="1"/>
              <a:t>Membershiptype</a:t>
            </a:r>
            <a:r>
              <a:rPr lang="en-US" dirty="0"/>
              <a:t> tables the result can be seen in the output.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3A46B9-53D9-9D74-E7DD-857945C02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20" y="5410200"/>
            <a:ext cx="9913905" cy="16335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B55944-013D-86E4-6778-A68CAB257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731" y="2597150"/>
            <a:ext cx="4554511" cy="40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3778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r>
              <a:rPr lang="en-US" dirty="0"/>
              <a:t>To just return one record per title, we can use GROUP_CONCAT().</a:t>
            </a:r>
          </a:p>
          <a:p>
            <a:r>
              <a:rPr lang="en-GB" dirty="0"/>
              <a:t>The GROUP_CONCAT() function is used to concatenate data from multiple rows into one field. This is an aggregate (GROUP BY) function that returns a string value if the group contains at least one non-NULL value. Otherwise, it returns NULL.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D35BD9-ECB0-983D-F502-0531ACE6D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037" y="5943600"/>
            <a:ext cx="12364187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2381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398C-1F32-6A27-72EC-D70080210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44CA-0806-75A7-4337-4AB1416DC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1DA30-E7DD-A6CA-DAEB-B62BF8FF1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3E8C7-A8DB-6EF3-B0E1-D6506840A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261" y="3657600"/>
            <a:ext cx="1244774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4296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64599-344D-2CC7-F44B-74EB1C2D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F51BB-8F18-D7E4-CABD-AF30B5056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84050-8745-13D7-A62E-505A7FCF0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JOIN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Multi-table JOIN</a:t>
            </a:r>
          </a:p>
          <a:p>
            <a:endParaRPr lang="en-US" dirty="0"/>
          </a:p>
          <a:p>
            <a:r>
              <a:rPr lang="en-US" dirty="0"/>
              <a:t>OUTER JOIN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12823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Multi-table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214" y="2597150"/>
            <a:ext cx="9763918" cy="6188075"/>
          </a:xfrm>
        </p:spPr>
        <p:txBody>
          <a:bodyPr/>
          <a:lstStyle/>
          <a:p>
            <a:r>
              <a:rPr lang="en-US" dirty="0"/>
              <a:t>A Multi-table SQL join is an instruction to combine data from three or more sets of data (i.e. three or more tables).</a:t>
            </a:r>
          </a:p>
          <a:p>
            <a:endParaRPr lang="en-US" dirty="0"/>
          </a:p>
          <a:p>
            <a:r>
              <a:rPr lang="en-US" dirty="0"/>
              <a:t>Just add another (1 or more) JOIN clause(s) after the first JOIN clause.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6731" y="2563880"/>
            <a:ext cx="379708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314072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469A-6612-304D-0C1A-8014CB6FF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131" y="519290"/>
            <a:ext cx="14955977" cy="1885245"/>
          </a:xfrm>
        </p:spPr>
        <p:txBody>
          <a:bodyPr/>
          <a:lstStyle/>
          <a:p>
            <a:r>
              <a:rPr lang="en-IE" dirty="0"/>
              <a:t>Gym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BA0E4-A47D-41A0-C550-E1554B36F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131" y="2596444"/>
            <a:ext cx="5725388" cy="6188570"/>
          </a:xfrm>
        </p:spPr>
        <p:txBody>
          <a:bodyPr/>
          <a:lstStyle/>
          <a:p>
            <a:r>
              <a:rPr lang="en-IE" dirty="0"/>
              <a:t>Member – </a:t>
            </a:r>
            <a:r>
              <a:rPr lang="en-IE" dirty="0" err="1"/>
              <a:t>FitnessClass</a:t>
            </a:r>
            <a:endParaRPr lang="en-IE" dirty="0"/>
          </a:p>
          <a:p>
            <a:endParaRPr lang="en-IE" dirty="0"/>
          </a:p>
          <a:p>
            <a:r>
              <a:rPr lang="en-IE" dirty="0"/>
              <a:t>M:N relationship</a:t>
            </a:r>
          </a:p>
          <a:p>
            <a:endParaRPr lang="en-IE" dirty="0"/>
          </a:p>
          <a:p>
            <a:r>
              <a:rPr lang="en-IE" dirty="0"/>
              <a:t>Created </a:t>
            </a:r>
            <a:r>
              <a:rPr lang="en-IE" dirty="0" err="1"/>
              <a:t>memberclass</a:t>
            </a:r>
            <a:r>
              <a:rPr lang="en-IE" dirty="0"/>
              <a:t> relation at logical mapping stage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EEB47-23B5-BD12-D026-76C9A7A0D0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2" r="11434"/>
          <a:stretch>
            <a:fillRect/>
          </a:stretch>
        </p:blipFill>
        <p:spPr>
          <a:xfrm>
            <a:off x="6765131" y="914400"/>
            <a:ext cx="10363201" cy="7924800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3954700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50623-08ED-9BB5-2C36-1CFAFA0BE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795D-B7C3-9E7E-E683-C22E4938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Gym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E5618-5083-5848-4191-2064849C4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5640" y="2389959"/>
            <a:ext cx="4199129" cy="1171786"/>
          </a:xfrm>
        </p:spPr>
        <p:txBody>
          <a:bodyPr/>
          <a:lstStyle/>
          <a:p>
            <a:pPr algn="ctr"/>
            <a:r>
              <a:rPr lang="en-IE" dirty="0" err="1"/>
              <a:t>GymMember</a:t>
            </a:r>
            <a:endParaRPr lang="en-IE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091BC812-3A64-B0DA-2D2F-AFB47CF805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01" y="3708336"/>
            <a:ext cx="3901609" cy="3911664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6BE1906-C45E-895D-3427-2840BB60D16F}"/>
              </a:ext>
            </a:extLst>
          </p:cNvPr>
          <p:cNvSpPr txBox="1">
            <a:spLocks/>
          </p:cNvSpPr>
          <p:nvPr/>
        </p:nvSpPr>
        <p:spPr>
          <a:xfrm>
            <a:off x="5968064" y="2387356"/>
            <a:ext cx="4199129" cy="11717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Font typeface="Arial" panose="020B0604020202020204" pitchFamily="34" charset="0"/>
              <a:buNone/>
              <a:defRPr sz="341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0230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844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460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56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690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27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919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27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1149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27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379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27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609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27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839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27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dirty="0" err="1"/>
              <a:t>MemberClass</a:t>
            </a:r>
            <a:endParaRPr lang="en-IE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424A388F-19BA-42ED-50C9-3B9719C3F2BA}"/>
              </a:ext>
            </a:extLst>
          </p:cNvPr>
          <p:cNvSpPr txBox="1">
            <a:spLocks/>
          </p:cNvSpPr>
          <p:nvPr/>
        </p:nvSpPr>
        <p:spPr>
          <a:xfrm>
            <a:off x="6299803" y="3559142"/>
            <a:ext cx="4199128" cy="5240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5115" indent="-32511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Font typeface="Arial" panose="020B0604020202020204" pitchFamily="34" charset="0"/>
              <a:buChar char="•"/>
              <a:defRPr sz="39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5345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75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80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03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26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49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1BEC086-06BF-1BFF-D45D-F41B45743F4F}"/>
              </a:ext>
            </a:extLst>
          </p:cNvPr>
          <p:cNvSpPr txBox="1">
            <a:spLocks/>
          </p:cNvSpPr>
          <p:nvPr/>
        </p:nvSpPr>
        <p:spPr>
          <a:xfrm>
            <a:off x="11786202" y="2390666"/>
            <a:ext cx="4199129" cy="11717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Font typeface="Arial" panose="020B0604020202020204" pitchFamily="34" charset="0"/>
              <a:buNone/>
              <a:defRPr sz="341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0230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844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460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56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690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27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919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27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1149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27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379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27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609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27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839" indent="0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None/>
              <a:defRPr sz="2276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E" dirty="0" err="1"/>
              <a:t>FitnessClass</a:t>
            </a:r>
            <a:endParaRPr lang="en-IE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04DEE15-BB7E-FA1B-95D1-EBEECD84572D}"/>
              </a:ext>
            </a:extLst>
          </p:cNvPr>
          <p:cNvSpPr txBox="1">
            <a:spLocks/>
          </p:cNvSpPr>
          <p:nvPr/>
        </p:nvSpPr>
        <p:spPr>
          <a:xfrm>
            <a:off x="11786203" y="3562452"/>
            <a:ext cx="4199128" cy="5240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5115" indent="-32511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Font typeface="Arial" panose="020B0604020202020204" pitchFamily="34" charset="0"/>
              <a:buChar char="•"/>
              <a:defRPr sz="39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5345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75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80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03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26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49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F11C9B-0779-17C7-71E8-C313A4462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531" y="3708336"/>
            <a:ext cx="3824196" cy="52863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84EA15-5824-7155-93D9-F6351D8C5F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323" y="3682975"/>
            <a:ext cx="5470847" cy="256542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E8AFEDD-F1A9-9F76-86A1-2393C947D4E6}"/>
              </a:ext>
            </a:extLst>
          </p:cNvPr>
          <p:cNvSpPr/>
          <p:nvPr/>
        </p:nvSpPr>
        <p:spPr>
          <a:xfrm>
            <a:off x="1194401" y="4114800"/>
            <a:ext cx="3901609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D60C10-EE5F-FA95-9FDF-71315F267FE4}"/>
              </a:ext>
            </a:extLst>
          </p:cNvPr>
          <p:cNvSpPr/>
          <p:nvPr/>
        </p:nvSpPr>
        <p:spPr>
          <a:xfrm>
            <a:off x="6140122" y="4114800"/>
            <a:ext cx="3901609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3C801D-A885-01AA-0163-DC86AAD6D76D}"/>
              </a:ext>
            </a:extLst>
          </p:cNvPr>
          <p:cNvSpPr/>
          <p:nvPr/>
        </p:nvSpPr>
        <p:spPr>
          <a:xfrm>
            <a:off x="6140122" y="4495800"/>
            <a:ext cx="3901609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0D2AE1-7202-9DD1-DE83-7F529A045689}"/>
              </a:ext>
            </a:extLst>
          </p:cNvPr>
          <p:cNvSpPr/>
          <p:nvPr/>
        </p:nvSpPr>
        <p:spPr>
          <a:xfrm>
            <a:off x="11093122" y="4114800"/>
            <a:ext cx="5382048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2CF2D2-E115-08FA-CCD2-B8471AEE117F}"/>
              </a:ext>
            </a:extLst>
          </p:cNvPr>
          <p:cNvSpPr/>
          <p:nvPr/>
        </p:nvSpPr>
        <p:spPr>
          <a:xfrm>
            <a:off x="11060483" y="5181600"/>
            <a:ext cx="5382048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7362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Multi-table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example, for each member we want to return the member's name and the description of each fitness class they are taking.</a:t>
            </a:r>
          </a:p>
          <a:p>
            <a:pPr marL="1164580" lvl="1" indent="-514350">
              <a:buFont typeface="+mj-lt"/>
              <a:buAutoNum type="arabicPeriod"/>
            </a:pPr>
            <a:r>
              <a:rPr lang="en-US" dirty="0"/>
              <a:t>Identify which tables have the data you are looking for. These table names are used in the JOIN clause. </a:t>
            </a:r>
            <a:r>
              <a:rPr lang="en-US" b="1" dirty="0"/>
              <a:t>These are </a:t>
            </a:r>
            <a:r>
              <a:rPr lang="en-US" b="1" dirty="0" err="1"/>
              <a:t>gymmember</a:t>
            </a:r>
            <a:r>
              <a:rPr lang="en-US" b="1" dirty="0"/>
              <a:t>, </a:t>
            </a:r>
            <a:r>
              <a:rPr lang="en-US" b="1" dirty="0" err="1"/>
              <a:t>fitnessClass</a:t>
            </a:r>
            <a:r>
              <a:rPr lang="en-US" b="1" dirty="0"/>
              <a:t>, and </a:t>
            </a:r>
            <a:r>
              <a:rPr lang="en-US" b="1" dirty="0" err="1"/>
              <a:t>memberClass</a:t>
            </a:r>
            <a:r>
              <a:rPr lang="en-US" b="1" dirty="0"/>
              <a:t>.</a:t>
            </a:r>
          </a:p>
          <a:p>
            <a:pPr marL="1164580" lvl="1" indent="-514350">
              <a:buFont typeface="+mj-lt"/>
              <a:buAutoNum type="arabicPeriod"/>
            </a:pPr>
            <a:r>
              <a:rPr lang="en-US" dirty="0"/>
              <a:t>Identify which columns are the primary and foreign keys in these tables. We use these in the ON clause. </a:t>
            </a:r>
            <a:r>
              <a:rPr lang="en-US" b="1" dirty="0" err="1"/>
              <a:t>gymmember</a:t>
            </a:r>
            <a:r>
              <a:rPr lang="en-US" b="1" dirty="0"/>
              <a:t> – </a:t>
            </a:r>
            <a:r>
              <a:rPr lang="en-US" b="1" dirty="0" err="1"/>
              <a:t>memberClass</a:t>
            </a:r>
            <a:r>
              <a:rPr lang="en-US" b="1" dirty="0"/>
              <a:t> (</a:t>
            </a:r>
            <a:r>
              <a:rPr lang="en-US" b="1" dirty="0" err="1"/>
              <a:t>memberId</a:t>
            </a:r>
            <a:r>
              <a:rPr lang="en-US" b="1" dirty="0"/>
              <a:t>); </a:t>
            </a:r>
            <a:r>
              <a:rPr lang="en-US" b="1" dirty="0" err="1"/>
              <a:t>fitnessClass</a:t>
            </a:r>
            <a:r>
              <a:rPr lang="en-US" b="1" dirty="0"/>
              <a:t> – </a:t>
            </a:r>
            <a:r>
              <a:rPr lang="en-US" b="1" dirty="0" err="1"/>
              <a:t>memberClass</a:t>
            </a:r>
            <a:r>
              <a:rPr lang="en-US" b="1" dirty="0"/>
              <a:t> (</a:t>
            </a:r>
            <a:r>
              <a:rPr lang="en-US" b="1" dirty="0" err="1"/>
              <a:t>classId</a:t>
            </a:r>
            <a:r>
              <a:rPr lang="en-US" b="1" dirty="0"/>
              <a:t>).</a:t>
            </a:r>
          </a:p>
          <a:p>
            <a:pPr marL="1164580" lvl="1" indent="-514350">
              <a:buFont typeface="+mj-lt"/>
              <a:buAutoNum type="arabicPeriod"/>
            </a:pPr>
            <a:r>
              <a:rPr lang="en-US" dirty="0"/>
              <a:t>Identify which columns we want the query to output. We put these in the SELECT clause of the statement. </a:t>
            </a:r>
            <a:r>
              <a:rPr lang="en-US" b="1" dirty="0" err="1"/>
              <a:t>firstname</a:t>
            </a:r>
            <a:r>
              <a:rPr lang="en-US" b="1" dirty="0"/>
              <a:t>, </a:t>
            </a:r>
            <a:r>
              <a:rPr lang="en-US" b="1" dirty="0" err="1"/>
              <a:t>lastname</a:t>
            </a:r>
            <a:r>
              <a:rPr lang="en-US" b="1" dirty="0"/>
              <a:t>, </a:t>
            </a:r>
            <a:r>
              <a:rPr lang="en-US" b="1" dirty="0" err="1"/>
              <a:t>classDescription</a:t>
            </a:r>
            <a:endParaRPr lang="en-US" b="1" dirty="0"/>
          </a:p>
          <a:p>
            <a:pPr marL="1164580" lvl="1" indent="-514350">
              <a:buFont typeface="+mj-lt"/>
              <a:buAutoNum type="arabicPeriod"/>
            </a:pPr>
            <a:r>
              <a:rPr lang="en-US" dirty="0"/>
              <a:t>Add any conditions necessary (if there are any).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91159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Multi-table Join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AE93D2-AA85-CFA4-6150-A6F5F0FDD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9AC2FE-97DA-F95A-0F4A-E0F7F82DA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931" y="3657600"/>
            <a:ext cx="12855700" cy="291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9271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8420C-9B1B-44E1-D9E8-9DC0F6C8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07D1-CAE3-E5A4-C330-12BF9136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2B853-C8AE-2914-57EE-8DFBDDF4B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JOIN</a:t>
            </a:r>
          </a:p>
          <a:p>
            <a:endParaRPr lang="en-US" dirty="0"/>
          </a:p>
          <a:p>
            <a:r>
              <a:rPr lang="en-US" dirty="0"/>
              <a:t>Multi-table JOIN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OUTER JOIN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2210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Outer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Outer joins. When performing an inner join, rows/records from either table that are unmatched in the other table are not returned. </a:t>
            </a:r>
          </a:p>
          <a:p>
            <a:endParaRPr lang="en-US" dirty="0"/>
          </a:p>
          <a:p>
            <a:r>
              <a:rPr lang="en-US" dirty="0"/>
              <a:t>In an outer join, unmatched rows in one or both tables can be returned.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68734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Outer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/>
          <a:lstStyle/>
          <a:p>
            <a:r>
              <a:rPr lang="en-US" dirty="0"/>
              <a:t>To perform an outer join in MySQL, we use either the LEFT JOIN or the RIGHT JOIN.</a:t>
            </a:r>
          </a:p>
          <a:p>
            <a:endParaRPr lang="en-US" dirty="0"/>
          </a:p>
          <a:p>
            <a:r>
              <a:rPr lang="en-US" dirty="0"/>
              <a:t>LEFT JOIN returns only unmatched rows from the left table.</a:t>
            </a:r>
          </a:p>
          <a:p>
            <a:endParaRPr lang="en-US" dirty="0"/>
          </a:p>
          <a:p>
            <a:r>
              <a:rPr lang="en-US" dirty="0"/>
              <a:t>RIGHT JOIN returns only unmatched rows from the right table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2304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Left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214" y="2597150"/>
            <a:ext cx="9611517" cy="6188075"/>
          </a:xfrm>
        </p:spPr>
        <p:txBody>
          <a:bodyPr/>
          <a:lstStyle/>
          <a:p>
            <a:r>
              <a:rPr lang="en-US" dirty="0"/>
              <a:t>The LEFT JOIN keyword returns all rows from the left (first) table (table1), with the matching rows in the right table (table2). </a:t>
            </a:r>
          </a:p>
          <a:p>
            <a:r>
              <a:rPr lang="en-US" dirty="0"/>
              <a:t>The result is NULL in the right side when there is no match.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9308" y="2597150"/>
            <a:ext cx="3988741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03899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/>
              <a:t>Left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E881646F-E0A5-438E-9A32-7914A79AE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531" y="3066260"/>
            <a:ext cx="10515600" cy="1747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52F3E1-7878-41E0-B4B7-F31D27F872AC}"/>
              </a:ext>
            </a:extLst>
          </p:cNvPr>
          <p:cNvSpPr txBox="1"/>
          <p:nvPr/>
        </p:nvSpPr>
        <p:spPr>
          <a:xfrm>
            <a:off x="3107531" y="2538335"/>
            <a:ext cx="320040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GB" dirty="0"/>
              <a:t>customers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4F2B6-6ED7-4783-B689-AEED8B5C6418}"/>
              </a:ext>
            </a:extLst>
          </p:cNvPr>
          <p:cNvSpPr txBox="1"/>
          <p:nvPr/>
        </p:nvSpPr>
        <p:spPr>
          <a:xfrm>
            <a:off x="3107531" y="5958205"/>
            <a:ext cx="281940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lang="en-GB" dirty="0"/>
              <a:t>orders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B44F14-9DFA-4231-8C7A-F64FD19BC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731" y="6477000"/>
            <a:ext cx="95631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7345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Left Join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A34530-19F9-8317-AD03-9DCF1E662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BE9298-35AB-46CF-9E1C-192E02EFF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258" y="5413697"/>
            <a:ext cx="12810068" cy="2590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8F992-CC6E-4828-B871-621FE05EA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729" y="2626495"/>
            <a:ext cx="11734804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72408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Left Join</a:t>
            </a:r>
          </a:p>
        </p:txBody>
      </p:sp>
      <p:sp>
        <p:nvSpPr>
          <p:cNvPr id="146" name="Shape 146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r>
              <a:rPr lang="en-US" dirty="0"/>
              <a:t>In the following example, we select the member's name and the </a:t>
            </a:r>
            <a:r>
              <a:rPr lang="en-US" dirty="0" err="1"/>
              <a:t>classDescription</a:t>
            </a:r>
            <a:r>
              <a:rPr lang="en-US" dirty="0"/>
              <a:t> of the fitness classes they are taking. If the member is taking no classes, their name is returned and the </a:t>
            </a:r>
            <a:r>
              <a:rPr lang="en-US" dirty="0" err="1"/>
              <a:t>classDescription</a:t>
            </a:r>
            <a:r>
              <a:rPr lang="en-US" dirty="0"/>
              <a:t> value will be NULL.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8DD0C4-72D6-CD1D-3237-30A3088A3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582" y="5410200"/>
            <a:ext cx="9465098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9417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Right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214" y="2597150"/>
            <a:ext cx="9916318" cy="6188075"/>
          </a:xfrm>
        </p:spPr>
        <p:txBody>
          <a:bodyPr>
            <a:normAutofit/>
          </a:bodyPr>
          <a:lstStyle/>
          <a:p>
            <a:r>
              <a:rPr lang="en-US" dirty="0"/>
              <a:t>The RIGHT JOIN keyword returns all rows from the right (second) table (table2), with the matching rows in the left table (table1). </a:t>
            </a:r>
          </a:p>
          <a:p>
            <a:r>
              <a:rPr lang="en-US" dirty="0"/>
              <a:t>The result is NULL in the left side when there is no match.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8131" y="2362200"/>
            <a:ext cx="3505200" cy="2616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286598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Right Join</a:t>
            </a:r>
          </a:p>
        </p:txBody>
      </p:sp>
      <p:sp>
        <p:nvSpPr>
          <p:cNvPr id="146" name="Shape 146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r>
              <a:rPr lang="en-US" dirty="0"/>
              <a:t>Here is the previous example written with the RIGHT OUTER JOIN syntax. This time all the records from the second (right) table are returned.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35A56-9585-409F-537C-443955015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31" y="4660103"/>
            <a:ext cx="9439863" cy="206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77872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821</Words>
  <Application>Microsoft Office PowerPoint</Application>
  <PresentationFormat>Custom</PresentationFormat>
  <Paragraphs>107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Helvetica Neue</vt:lpstr>
      <vt:lpstr>Office Theme</vt:lpstr>
      <vt:lpstr>Join clause</vt:lpstr>
      <vt:lpstr>Topics List</vt:lpstr>
      <vt:lpstr> Join</vt:lpstr>
      <vt:lpstr> Join</vt:lpstr>
      <vt:lpstr> Join</vt:lpstr>
      <vt:lpstr> Join</vt:lpstr>
      <vt:lpstr> Join</vt:lpstr>
      <vt:lpstr> Join</vt:lpstr>
      <vt:lpstr> Join</vt:lpstr>
      <vt:lpstr> Join</vt:lpstr>
      <vt:lpstr> Join</vt:lpstr>
      <vt:lpstr> Join</vt:lpstr>
      <vt:lpstr>Topics List</vt:lpstr>
      <vt:lpstr> Multi-table Join</vt:lpstr>
      <vt:lpstr>Gym example</vt:lpstr>
      <vt:lpstr>Gym example</vt:lpstr>
      <vt:lpstr> Multi-table Join</vt:lpstr>
      <vt:lpstr> Multi-table Join</vt:lpstr>
      <vt:lpstr>Topics List</vt:lpstr>
      <vt:lpstr> Outer Join</vt:lpstr>
      <vt:lpstr> Outer Join</vt:lpstr>
      <vt:lpstr> Left Join</vt:lpstr>
      <vt:lpstr> Left Join</vt:lpstr>
      <vt:lpstr> Left Join</vt:lpstr>
      <vt:lpstr> Left Join</vt:lpstr>
      <vt:lpstr> Right Join</vt:lpstr>
      <vt:lpstr> Right Join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Join clause</dc:title>
  <dc:creator>mary</dc:creator>
  <cp:lastModifiedBy>Rosanne Birney</cp:lastModifiedBy>
  <cp:revision>169</cp:revision>
  <dcterms:modified xsi:type="dcterms:W3CDTF">2026-03-19T06:14:16Z</dcterms:modified>
</cp:coreProperties>
</file>