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5"/>
  </p:notesMasterIdLst>
  <p:sldIdLst>
    <p:sldId id="312" r:id="rId2"/>
    <p:sldId id="337" r:id="rId3"/>
    <p:sldId id="279" r:id="rId4"/>
    <p:sldId id="280" r:id="rId5"/>
    <p:sldId id="316" r:id="rId6"/>
    <p:sldId id="338" r:id="rId7"/>
    <p:sldId id="306" r:id="rId8"/>
    <p:sldId id="336" r:id="rId9"/>
    <p:sldId id="339" r:id="rId10"/>
    <p:sldId id="258" r:id="rId11"/>
    <p:sldId id="317" r:id="rId12"/>
    <p:sldId id="340" r:id="rId13"/>
    <p:sldId id="307" r:id="rId14"/>
  </p:sldIdLst>
  <p:sldSz cx="17340263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5" y="36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8" d="100"/>
        <a:sy n="5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7737-E75B-9330-4AB4-D08EF84C4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E29AA-40C2-6393-A273-08C487CE4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68CFE-DE73-7803-C787-A82E4408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595A1-A6D7-0FF1-EC43-222E31FD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2CDA8-6637-3360-7E44-FA0DE158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5B78-9840-8E9F-B80D-F7350A1E7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AEEDE-97B3-9A63-D0FA-F55C6DB74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A09E2-6FB6-7D7D-0186-9C33B1597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E7C3-38A0-6145-FA01-3FE8EE75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FED19-EF6D-CBE7-1486-EDEF43FD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75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C9B4-4BF5-61FB-F758-E724E7687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AA3B2-FEA8-A171-2E8D-0625B36AA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6BFA6-DC9C-E674-FA2C-30C90702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D5F01-F447-DE9E-FB26-2195F478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DFEA9-5D42-F485-8878-DFC4BDCA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55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D4B1-5204-85F4-C3AE-9D20F40D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E80E-E279-6647-AF58-E9EB99749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53BC8-C9EC-937C-1BD8-3CEB4C287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656F5-6DB7-7E59-1237-79B00CD30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B00CB-4755-BC15-EB64-C1BC89B3A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01AF8-14C0-718C-3C73-AE350CAB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3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F6E5-245A-6498-79B5-23A3DDED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138A6-DBA2-7FA0-7309-A338B7DFF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6FC1-0ADE-23F8-1F21-98AB7D1F9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F2F323-DEDA-2784-C5AE-625E22B6C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6742F-0B93-DAFC-593A-7B7D3D3D8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206FC-F032-7836-1595-D0BA80E4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BEE1E-0D59-F896-E3CB-D467E5D0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0BDC0-9488-EFD7-4DE2-67848F0D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23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6370-F296-D52F-C5DB-E26F2F44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8B257-3BE4-980D-B14F-64AF6FCA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A16A8-C5FD-4B2B-0658-B3485A75B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7AAF4-E84C-5D9D-C6A7-6D0C9363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3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0E9010-017C-A3E6-02CA-18F230A1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47034-37CA-EB76-A6AD-6C44EEF47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D55C1-6105-D973-5771-4AE47866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42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8DB6-67E2-D853-661F-674A3EA4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AF03-4970-9699-4638-EB2EDBC9B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04A2D-AE8E-DF24-6D29-87A4316E6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E4A54-2895-37FE-876C-E3430702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EDAAF-0435-4CAF-900A-54DF9586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BB006-535F-5EFB-F69D-4BE1FB28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45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464-901F-E632-662E-97D73997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10B5A1-9DE6-8C70-DC11-00E053674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73D95-4B7E-452E-8FE7-8A8D374FC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2A6E6-B565-6991-EAA6-BF0138EB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398F8-8B35-7217-0D1B-701D034C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9BB0D-04D8-80C4-F17A-B4727AAB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43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19B4D-B7ED-C4C6-1B11-DAA98724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E4A1C-4FEB-9E18-0240-CB5CE0F43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893C3-0E0E-7699-D31E-E91A7E74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8668B-F407-7C97-7A40-A8464EE5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9651E-64C2-5256-DABF-571B2B4C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13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88B3E-87DF-023C-729B-0E001FB81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C1DAA-A468-AA03-AA1E-4AB2AD1D1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28472-D3B0-77B7-5D68-6C0FDFF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BD295-5893-30B5-E685-2C5E20DC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DFC41-DB2F-A599-575C-8585BEB3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177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3335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48BA76-DC22-B5C4-3998-BD9EEA20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5A7D1-4AC1-6FFF-4E01-46DFE74D1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51FA0-CFEC-E0E6-80DD-E21C13DF9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0B317-E848-4B33-93FA-A1CF0F37B37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312C6-4C59-50CA-A8AD-A13F934BB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ACB67-1479-0248-28A8-2EFABB5B2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49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Aggregate Functions</a:t>
            </a:r>
            <a:endParaRPr dirty="0"/>
          </a:p>
        </p:txBody>
      </p:sp>
      <p:sp>
        <p:nvSpPr>
          <p:cNvPr id="138" name="Shape 138"/>
          <p:cNvSpPr>
            <a:spLocks noGrp="1"/>
          </p:cNvSpPr>
          <p:nvPr>
            <p:ph type="subTitle" idx="1"/>
          </p:nvPr>
        </p:nvSpPr>
        <p:spPr>
          <a:xfrm>
            <a:off x="3196431" y="7200900"/>
            <a:ext cx="11861800" cy="1016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Aggregate  Functions</a:t>
            </a:r>
          </a:p>
          <a:p>
            <a:endParaRPr lang="en-IE" dirty="0"/>
          </a:p>
          <a:p>
            <a:r>
              <a:rPr lang="en-IE" dirty="0"/>
              <a:t>Rounding and Formatting</a:t>
            </a:r>
          </a:p>
          <a:p>
            <a:endParaRPr lang="en-IE" dirty="0"/>
          </a:p>
          <a:p>
            <a:r>
              <a:rPr lang="en-IE" dirty="0"/>
              <a:t>Group By clause</a:t>
            </a:r>
          </a:p>
          <a:p>
            <a:endParaRPr lang="en-IE" dirty="0"/>
          </a:p>
          <a:p>
            <a:r>
              <a:rPr lang="en-IE" dirty="0"/>
              <a:t>Having clause</a:t>
            </a:r>
          </a:p>
        </p:txBody>
      </p:sp>
    </p:spTree>
    <p:extLst>
      <p:ext uri="{BB962C8B-B14F-4D97-AF65-F5344CB8AC3E}">
        <p14:creationId xmlns:p14="http://schemas.microsoft.com/office/powerpoint/2010/main" val="233987151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Aggregate Functions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214" y="2597150"/>
            <a:ext cx="8925718" cy="6188075"/>
          </a:xfrm>
        </p:spPr>
        <p:txBody>
          <a:bodyPr/>
          <a:lstStyle/>
          <a:p>
            <a:r>
              <a:rPr lang="en-US" dirty="0"/>
              <a:t>An aggregate function allows you to perform a calculation on a set of values to return a single scalar value. 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131" y="2743200"/>
            <a:ext cx="3995925" cy="36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688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Aggregate Functions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528" y="2819400"/>
            <a:ext cx="941735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464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Aggregate Functions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E68AB-8DB6-AFF5-9DDF-197D263C2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531" y="2895600"/>
            <a:ext cx="5319118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720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A6C3A-E58B-EACC-73A9-65305E51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352E-9827-CFE4-6A33-1BE4A07C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48BDC-969A-EA26-C04C-3EB62996D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Aggregate  Functions</a:t>
            </a:r>
          </a:p>
          <a:p>
            <a:endParaRPr lang="en-IE" dirty="0"/>
          </a:p>
          <a:p>
            <a:r>
              <a:rPr lang="en-IE" dirty="0">
                <a:solidFill>
                  <a:srgbClr val="00B050"/>
                </a:solidFill>
              </a:rPr>
              <a:t>Rounding and Formatting</a:t>
            </a:r>
          </a:p>
          <a:p>
            <a:endParaRPr lang="en-IE" dirty="0"/>
          </a:p>
          <a:p>
            <a:r>
              <a:rPr lang="en-IE" dirty="0"/>
              <a:t>Group By clause</a:t>
            </a:r>
          </a:p>
          <a:p>
            <a:endParaRPr lang="en-IE" dirty="0"/>
          </a:p>
          <a:p>
            <a:r>
              <a:rPr lang="en-IE" dirty="0"/>
              <a:t>Having clause</a:t>
            </a:r>
          </a:p>
        </p:txBody>
      </p:sp>
    </p:spTree>
    <p:extLst>
      <p:ext uri="{BB962C8B-B14F-4D97-AF65-F5344CB8AC3E}">
        <p14:creationId xmlns:p14="http://schemas.microsoft.com/office/powerpoint/2010/main" val="136458701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IE" dirty="0"/>
              <a:t>Rounding and Formatting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To round a numeric value to a whole number (or to 2 decimal places for example), use  ROUND()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ROUND(12.75) returns 13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ROUND(12.751, 2) returns 12.75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ROUND(12.755, 2) returns 12.76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816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6743-41EA-1D51-3E95-79A7A8CFC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0024-436D-C7B3-D529-960205CEB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IE" dirty="0"/>
              <a:t>Rounding and Formatting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3502C-BB1B-856F-FF8B-F67FFF463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GB" dirty="0"/>
              <a:t>FORMAT() will format numbers to a specified number of decimal places, adding commas as thousands separators.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FORMAT(8550.579, 2) returns 8,550.58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22144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6EE8E-D956-0C15-D9E0-CDF6A9B9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7BAB-3333-9FF0-9B05-09F83845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63E8D-9362-BF32-C0CF-2D02CB735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Aggregate  Functions</a:t>
            </a:r>
          </a:p>
          <a:p>
            <a:endParaRPr lang="en-IE" dirty="0"/>
          </a:p>
          <a:p>
            <a:r>
              <a:rPr lang="en-IE" dirty="0"/>
              <a:t>Rounding and Formatting</a:t>
            </a:r>
          </a:p>
          <a:p>
            <a:endParaRPr lang="en-IE" dirty="0"/>
          </a:p>
          <a:p>
            <a:r>
              <a:rPr lang="en-IE" dirty="0">
                <a:solidFill>
                  <a:srgbClr val="00B050"/>
                </a:solidFill>
              </a:rPr>
              <a:t>Group By clause</a:t>
            </a:r>
          </a:p>
          <a:p>
            <a:endParaRPr lang="en-IE" dirty="0"/>
          </a:p>
          <a:p>
            <a:r>
              <a:rPr lang="en-IE" dirty="0"/>
              <a:t>Having clause</a:t>
            </a:r>
          </a:p>
        </p:txBody>
      </p:sp>
    </p:spTree>
    <p:extLst>
      <p:ext uri="{BB962C8B-B14F-4D97-AF65-F5344CB8AC3E}">
        <p14:creationId xmlns:p14="http://schemas.microsoft.com/office/powerpoint/2010/main" val="259094244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Group By clause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GROUP BY statement is often used with aggregate functions (COUNT, MAX, MIN, SUM, AVG) to group the result-set by one or more columns.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A20ACE-511F-9900-0FA0-D83B8D10B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601" y="5527849"/>
            <a:ext cx="8118484" cy="1210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60EFE4-E7C3-008D-241C-1BB21155A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131" y="5553607"/>
            <a:ext cx="4151873" cy="106680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Group By clause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If want to count the number of students per County, we add county as an output AND use the clause GROUP BY with county.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F6B1D-E0EB-E028-1B52-38F85D516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130" y="4152896"/>
            <a:ext cx="7895323" cy="1538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9500A4-36DE-08D4-829F-EDD355D68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882" y="6172200"/>
            <a:ext cx="4189820" cy="153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67123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AE25-68FB-223D-A68D-F7AA2B12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7CBA0-E5CB-5CD7-4FAC-F2B8D296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8E026-94F5-906F-645E-D5A7CDFD3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Aggregate  Functions</a:t>
            </a:r>
          </a:p>
          <a:p>
            <a:endParaRPr lang="en-IE" dirty="0"/>
          </a:p>
          <a:p>
            <a:r>
              <a:rPr lang="en-IE" dirty="0"/>
              <a:t>Rounding and Formatting</a:t>
            </a:r>
          </a:p>
          <a:p>
            <a:endParaRPr lang="en-IE" dirty="0"/>
          </a:p>
          <a:p>
            <a:r>
              <a:rPr lang="en-IE" dirty="0"/>
              <a:t>Group By clause</a:t>
            </a:r>
          </a:p>
          <a:p>
            <a:endParaRPr lang="en-IE" dirty="0"/>
          </a:p>
          <a:p>
            <a:r>
              <a:rPr lang="en-IE" dirty="0">
                <a:solidFill>
                  <a:srgbClr val="00B050"/>
                </a:solidFill>
              </a:rPr>
              <a:t>Having clause</a:t>
            </a:r>
          </a:p>
        </p:txBody>
      </p:sp>
    </p:spTree>
    <p:extLst>
      <p:ext uri="{BB962C8B-B14F-4D97-AF65-F5344CB8AC3E}">
        <p14:creationId xmlns:p14="http://schemas.microsoft.com/office/powerpoint/2010/main" val="244874941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Having clause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To restrict rows returned with aggregate functions</a:t>
            </a:r>
            <a:r>
              <a:rPr lang="en-US"/>
              <a:t>, use </a:t>
            </a:r>
            <a:r>
              <a:rPr lang="en-US" dirty="0"/>
              <a:t>a HAVING clause.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90865E-54CF-83B9-7A03-0FCC6549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920" y="3962400"/>
            <a:ext cx="9004422" cy="2209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7391AB-BD46-AB9E-254F-F5C258DE5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619" y="6737350"/>
            <a:ext cx="5915023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0124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235</Words>
  <Application>Microsoft Office PowerPoint</Application>
  <PresentationFormat>Custom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Helvetica Neue</vt:lpstr>
      <vt:lpstr>Office Theme</vt:lpstr>
      <vt:lpstr>Aggregate Functions</vt:lpstr>
      <vt:lpstr>Topics List</vt:lpstr>
      <vt:lpstr>Aggregate Functions</vt:lpstr>
      <vt:lpstr> Aggregate Functions</vt:lpstr>
      <vt:lpstr> Aggregate Functions</vt:lpstr>
      <vt:lpstr>Topics List</vt:lpstr>
      <vt:lpstr>Rounding and Formatting</vt:lpstr>
      <vt:lpstr>Rounding and Formatting</vt:lpstr>
      <vt:lpstr>Topics List</vt:lpstr>
      <vt:lpstr> Group By clause</vt:lpstr>
      <vt:lpstr>Group By clause</vt:lpstr>
      <vt:lpstr>Topics List</vt:lpstr>
      <vt:lpstr> Having clause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Aggregate Functions</dc:title>
  <dc:creator>mary</dc:creator>
  <cp:lastModifiedBy>Rosanne Birney</cp:lastModifiedBy>
  <cp:revision>159</cp:revision>
  <dcterms:modified xsi:type="dcterms:W3CDTF">2026-03-19T14:09:30Z</dcterms:modified>
</cp:coreProperties>
</file>