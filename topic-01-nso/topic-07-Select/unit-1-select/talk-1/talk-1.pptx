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61" r:id="rId1"/>
  </p:sldMasterIdLst>
  <p:notesMasterIdLst>
    <p:notesMasterId r:id="rId26"/>
  </p:notesMasterIdLst>
  <p:sldIdLst>
    <p:sldId id="256" r:id="rId2"/>
    <p:sldId id="328" r:id="rId3"/>
    <p:sldId id="306" r:id="rId4"/>
    <p:sldId id="330" r:id="rId5"/>
    <p:sldId id="316" r:id="rId6"/>
    <p:sldId id="332" r:id="rId7"/>
    <p:sldId id="318" r:id="rId8"/>
    <p:sldId id="333" r:id="rId9"/>
    <p:sldId id="320" r:id="rId10"/>
    <p:sldId id="339" r:id="rId11"/>
    <p:sldId id="340" r:id="rId12"/>
    <p:sldId id="338" r:id="rId13"/>
    <p:sldId id="344" r:id="rId14"/>
    <p:sldId id="279" r:id="rId15"/>
    <p:sldId id="323" r:id="rId16"/>
    <p:sldId id="324" r:id="rId17"/>
    <p:sldId id="313" r:id="rId18"/>
    <p:sldId id="325" r:id="rId19"/>
    <p:sldId id="345" r:id="rId20"/>
    <p:sldId id="314" r:id="rId21"/>
    <p:sldId id="326" r:id="rId22"/>
    <p:sldId id="327" r:id="rId23"/>
    <p:sldId id="343" r:id="rId24"/>
    <p:sldId id="315" r:id="rId25"/>
  </p:sldIdLst>
  <p:sldSz cx="17340263" cy="97536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072" userDrawn="1">
          <p15:clr>
            <a:srgbClr val="A4A3A4"/>
          </p15:clr>
        </p15:guide>
        <p15:guide id="2" pos="546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EFBE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>
          <a:latin typeface="Helvetica Neue"/>
          <a:ea typeface="Helvetica Neue"/>
          <a:cs typeface="Helvetica Neue"/>
        </a:font>
        <a:srgbClr val="444444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C4C6C6"/>
              </a:solidFill>
              <a:prstDash val="solid"/>
              <a:miter lim="400000"/>
            </a:ln>
          </a:top>
          <a:bottom>
            <a:ln w="25400" cap="flat">
              <a:solidFill>
                <a:srgbClr val="C4C6C6"/>
              </a:solidFill>
              <a:prstDash val="solid"/>
              <a:miter lim="400000"/>
            </a:ln>
          </a:bottom>
          <a:insideH>
            <a:ln w="25400" cap="flat">
              <a:solidFill>
                <a:srgbClr val="C4C6C6"/>
              </a:solidFill>
              <a:prstDash val="solid"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F2F2F2"/>
          </a:solidFill>
        </a:fill>
      </a:tcStyle>
    </a:band2H>
    <a:firstCol>
      <a:tcTxStyle b="off" i="off">
        <a:font>
          <a:latin typeface="Helvetica Neue"/>
          <a:ea typeface="Helvetica Neue"/>
          <a:cs typeface="Helvetica Neue"/>
        </a:font>
        <a:srgbClr val="444444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C4C6C6"/>
              </a:solidFill>
              <a:prstDash val="solid"/>
              <a:miter lim="400000"/>
            </a:ln>
          </a:right>
          <a:top>
            <a:ln w="25400" cap="flat">
              <a:solidFill>
                <a:srgbClr val="C4C6C6"/>
              </a:solidFill>
              <a:prstDash val="solid"/>
              <a:miter lim="400000"/>
            </a:ln>
          </a:top>
          <a:bottom>
            <a:ln w="25400" cap="flat">
              <a:solidFill>
                <a:srgbClr val="C4C6C6"/>
              </a:solidFill>
              <a:prstDash val="solid"/>
              <a:miter lim="400000"/>
            </a:ln>
          </a:bottom>
          <a:insideH>
            <a:ln w="25400" cap="flat">
              <a:solidFill>
                <a:srgbClr val="C4C6C6"/>
              </a:solidFill>
              <a:prstDash val="solid"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8E9E8"/>
          </a:solidFill>
        </a:fill>
      </a:tcStyle>
    </a:firstCol>
    <a:lastRow>
      <a:tcTxStyle b="off" i="off">
        <a:font>
          <a:latin typeface="Helvetica Neue"/>
          <a:ea typeface="Helvetica Neue"/>
          <a:cs typeface="Helvetica Neue"/>
        </a:font>
        <a:srgbClr val="444444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noFill/>
        </a:fill>
      </a:tcStyle>
    </a:lastRow>
    <a:firstRow>
      <a:tcTxStyle b="off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>
              <a:satOff val="12166"/>
              <a:lumOff val="-13042"/>
            </a:schemeClr>
          </a:solidFill>
        </a:fill>
      </a:tcStyle>
    </a:firstRow>
  </a:tblStyle>
  <a:tblStyle styleId="{C7B018BB-80A7-4F77-B60F-C8B233D01FF8}" styleName="">
    <a:tblBg/>
    <a:wholeTbl>
      <a:tcTxStyle b="off" i="off">
        <a:font>
          <a:latin typeface="Helvetica Neue"/>
          <a:ea typeface="Helvetica Neue"/>
          <a:cs typeface="Helvetica Neue"/>
        </a:font>
        <a:srgbClr val="444444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solidFill>
                <a:srgbClr val="CBCBCB"/>
              </a:solidFill>
              <a:prstDash val="solid"/>
              <a:miter lim="400000"/>
            </a:ln>
          </a:top>
          <a:bottom>
            <a:ln w="12700" cap="flat">
              <a:solidFill>
                <a:srgbClr val="CBCBCB"/>
              </a:solidFill>
              <a:prstDash val="solid"/>
              <a:miter lim="400000"/>
            </a:ln>
          </a:bottom>
          <a:insideH>
            <a:ln w="12700" cap="flat">
              <a:solidFill>
                <a:srgbClr val="CBCBCB"/>
              </a:solidFill>
              <a:prstDash val="solid"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FF8FA"/>
          </a:solidFill>
        </a:fill>
      </a:tcStyle>
    </a:band2H>
    <a:firstCol>
      <a:tcTxStyle b="off" i="off">
        <a:font>
          <a:latin typeface="Helvetica Neue"/>
          <a:ea typeface="Helvetica Neue"/>
          <a:cs typeface="Helvetica Neue"/>
        </a:font>
        <a:srgbClr val="444444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solidFill>
                <a:srgbClr val="4F728F"/>
              </a:solidFill>
              <a:prstDash val="solid"/>
              <a:miter lim="400000"/>
            </a:ln>
          </a:top>
          <a:bottom>
            <a:ln w="12700" cap="flat">
              <a:solidFill>
                <a:srgbClr val="4F728F"/>
              </a:solidFill>
              <a:prstDash val="solid"/>
              <a:miter lim="400000"/>
            </a:ln>
          </a:bottom>
          <a:insideH>
            <a:ln w="12700" cap="flat">
              <a:solidFill>
                <a:srgbClr val="4F728F"/>
              </a:solidFill>
              <a:prstDash val="solid"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D4DADF"/>
          </a:solidFill>
        </a:fill>
      </a:tcStyle>
    </a:firstCol>
    <a:lastRow>
      <a:tcTxStyle b="off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solidFill>
                <a:srgbClr val="747474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638EB0"/>
          </a:solidFill>
        </a:fill>
      </a:tcStyle>
    </a:lastRow>
    <a:firstRow>
      <a:tcTxStyle b="off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solidFill>
                <a:srgbClr val="747474"/>
              </a:solidFill>
              <a:prstDash val="solid"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173D59"/>
          </a:solidFill>
        </a:fill>
      </a:tcStyle>
    </a:firstRow>
  </a:tblStyle>
  <a:tblStyle styleId="{EEE7283C-3CF3-47DC-8721-378D4A62B228}" styleName="">
    <a:tblBg/>
    <a:wholeTbl>
      <a:tcTxStyle b="off" i="off">
        <a:font>
          <a:latin typeface="Helvetica Neue"/>
          <a:ea typeface="Helvetica Neue"/>
          <a:cs typeface="Helvetica Neue"/>
        </a:font>
        <a:srgbClr val="444444"/>
      </a:tcTxStyle>
      <a:tcStyle>
        <a:tcBdr>
          <a:left>
            <a:ln w="12700" cap="flat">
              <a:solidFill>
                <a:srgbClr val="CBCBCB"/>
              </a:solidFill>
              <a:prstDash val="solid"/>
              <a:miter lim="400000"/>
            </a:ln>
          </a:left>
          <a:right>
            <a:ln w="12700" cap="flat">
              <a:solidFill>
                <a:srgbClr val="CBCBCB"/>
              </a:solidFill>
              <a:prstDash val="solid"/>
              <a:miter lim="400000"/>
            </a:ln>
          </a:right>
          <a:top>
            <a:ln w="12700" cap="flat">
              <a:solidFill>
                <a:srgbClr val="CBCBCB"/>
              </a:solidFill>
              <a:prstDash val="solid"/>
              <a:miter lim="400000"/>
            </a:ln>
          </a:top>
          <a:bottom>
            <a:ln w="12700" cap="flat">
              <a:solidFill>
                <a:srgbClr val="CBCBCB"/>
              </a:solidFill>
              <a:prstDash val="solid"/>
              <a:miter lim="400000"/>
            </a:ln>
          </a:bottom>
          <a:insideH>
            <a:ln w="12700" cap="flat">
              <a:solidFill>
                <a:srgbClr val="CBCBCB"/>
              </a:solidFill>
              <a:prstDash val="solid"/>
              <a:miter lim="400000"/>
            </a:ln>
          </a:insideH>
          <a:insideV>
            <a:ln w="12700" cap="flat">
              <a:solidFill>
                <a:srgbClr val="CBCBCB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F2F2F2"/>
          </a:solidFill>
        </a:fill>
      </a:tcStyle>
    </a:band2H>
    <a:firstCol>
      <a:tcTxStyle b="off" i="off">
        <a:font>
          <a:latin typeface="Helvetica Neue"/>
          <a:ea typeface="Helvetica Neue"/>
          <a:cs typeface="Helvetica Neue"/>
        </a:font>
        <a:srgbClr val="444444"/>
      </a:tcTxStyle>
      <a:tcStyle>
        <a:tcBdr>
          <a:left>
            <a:ln w="12700" cap="flat">
              <a:solidFill>
                <a:srgbClr val="3C3C1D"/>
              </a:solidFill>
              <a:prstDash val="solid"/>
              <a:miter lim="400000"/>
            </a:ln>
          </a:left>
          <a:right>
            <a:ln w="12700" cap="flat">
              <a:solidFill>
                <a:schemeClr val="accent2">
                  <a:hueOff val="-487087"/>
                  <a:satOff val="-2686"/>
                  <a:lumOff val="14808"/>
                </a:schemeClr>
              </a:solidFill>
              <a:prstDash val="solid"/>
              <a:miter lim="400000"/>
            </a:ln>
          </a:right>
          <a:top>
            <a:ln w="12700" cap="flat">
              <a:solidFill>
                <a:schemeClr val="accent2">
                  <a:hueOff val="-487087"/>
                  <a:satOff val="-2686"/>
                  <a:lumOff val="14808"/>
                </a:schemeClr>
              </a:solidFill>
              <a:prstDash val="solid"/>
              <a:miter lim="400000"/>
            </a:ln>
          </a:top>
          <a:bottom>
            <a:ln w="12700" cap="flat">
              <a:solidFill>
                <a:schemeClr val="accent2">
                  <a:hueOff val="-487087"/>
                  <a:satOff val="-2686"/>
                  <a:lumOff val="14808"/>
                </a:schemeClr>
              </a:solidFill>
              <a:prstDash val="solid"/>
              <a:miter lim="400000"/>
            </a:ln>
          </a:bottom>
          <a:insideH>
            <a:ln w="12700" cap="flat">
              <a:solidFill>
                <a:schemeClr val="accent2">
                  <a:hueOff val="-487087"/>
                  <a:satOff val="-2686"/>
                  <a:lumOff val="14808"/>
                </a:schemeClr>
              </a:solidFill>
              <a:prstDash val="solid"/>
              <a:miter lim="400000"/>
            </a:ln>
          </a:insideH>
          <a:insideV>
            <a:ln w="12700" cap="flat">
              <a:solidFill>
                <a:schemeClr val="accent2">
                  <a:hueOff val="-487087"/>
                  <a:satOff val="-2686"/>
                  <a:lumOff val="14808"/>
                </a:schemeClr>
              </a:solidFill>
              <a:prstDash val="solid"/>
              <a:miter lim="400000"/>
            </a:ln>
          </a:insideV>
        </a:tcBdr>
        <a:fill>
          <a:solidFill>
            <a:srgbClr val="CFCDBB"/>
          </a:solidFill>
        </a:fill>
      </a:tcStyle>
    </a:firstCol>
    <a:lastRow>
      <a:tcTxStyle b="off" i="off">
        <a:font>
          <a:latin typeface="Helvetica Neue"/>
          <a:ea typeface="Helvetica Neue"/>
          <a:cs typeface="Helvetica Neue"/>
        </a:font>
        <a:srgbClr val="444444"/>
      </a:tcTxStyle>
      <a:tcStyle>
        <a:tcBdr>
          <a:left>
            <a:ln w="12700" cap="flat">
              <a:solidFill>
                <a:srgbClr val="C6C6C6"/>
              </a:solidFill>
              <a:prstDash val="solid"/>
              <a:miter lim="400000"/>
            </a:ln>
          </a:left>
          <a:right>
            <a:ln w="12700" cap="flat">
              <a:solidFill>
                <a:srgbClr val="C6C6C6"/>
              </a:solidFill>
              <a:prstDash val="solid"/>
              <a:miter lim="400000"/>
            </a:ln>
          </a:right>
          <a:top>
            <a:ln w="12700" cap="flat">
              <a:solidFill>
                <a:srgbClr val="656839"/>
              </a:solidFill>
              <a:prstDash val="solid"/>
              <a:miter lim="400000"/>
            </a:ln>
          </a:top>
          <a:bottom>
            <a:ln w="12700" cap="flat">
              <a:solidFill>
                <a:srgbClr val="3C3C1D"/>
              </a:solidFill>
              <a:prstDash val="solid"/>
              <a:miter lim="400000"/>
            </a:ln>
          </a:bottom>
          <a:insideH>
            <a:ln w="12700" cap="flat">
              <a:solidFill>
                <a:srgbClr val="C6C6C6"/>
              </a:solidFill>
              <a:prstDash val="solid"/>
              <a:miter lim="400000"/>
            </a:ln>
          </a:insideH>
          <a:insideV>
            <a:ln w="12700" cap="flat">
              <a:solidFill>
                <a:srgbClr val="C6C6C6"/>
              </a:solidFill>
              <a:prstDash val="solid"/>
              <a:miter lim="400000"/>
            </a:ln>
          </a:insideV>
        </a:tcBdr>
        <a:fill>
          <a:solidFill>
            <a:srgbClr val="E8E9E8"/>
          </a:solidFill>
        </a:fill>
      </a:tcStyle>
    </a:lastRow>
    <a:firstRow>
      <a:tcTxStyle b="off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chemeClr val="accent2">
                  <a:hueOff val="-487087"/>
                  <a:satOff val="-2686"/>
                  <a:lumOff val="14808"/>
                </a:schemeClr>
              </a:solidFill>
              <a:prstDash val="solid"/>
              <a:miter lim="400000"/>
            </a:ln>
          </a:left>
          <a:right>
            <a:ln w="12700" cap="flat">
              <a:solidFill>
                <a:schemeClr val="accent2">
                  <a:hueOff val="-487087"/>
                  <a:satOff val="-2686"/>
                  <a:lumOff val="14808"/>
                </a:schemeClr>
              </a:solidFill>
              <a:prstDash val="solid"/>
              <a:miter lim="400000"/>
            </a:ln>
          </a:right>
          <a:top>
            <a:ln w="12700" cap="flat">
              <a:solidFill>
                <a:srgbClr val="3C3C1D"/>
              </a:solidFill>
              <a:prstDash val="solid"/>
              <a:miter lim="400000"/>
            </a:ln>
          </a:top>
          <a:bottom>
            <a:ln w="12700" cap="flat">
              <a:solidFill>
                <a:srgbClr val="CBCBCB"/>
              </a:solidFill>
              <a:prstDash val="solid"/>
              <a:miter lim="400000"/>
            </a:ln>
          </a:bottom>
          <a:insideH>
            <a:ln w="12700" cap="flat">
              <a:solidFill>
                <a:srgbClr val="AAA485"/>
              </a:solidFill>
              <a:prstDash val="solid"/>
              <a:miter lim="400000"/>
            </a:ln>
          </a:insideH>
          <a:insideV>
            <a:ln w="12700" cap="flat">
              <a:solidFill>
                <a:schemeClr val="accent2">
                  <a:hueOff val="-487087"/>
                  <a:satOff val="-2686"/>
                  <a:lumOff val="14808"/>
                </a:schemeClr>
              </a:solidFill>
              <a:prstDash val="solid"/>
              <a:miter lim="400000"/>
            </a:ln>
          </a:insideV>
        </a:tcBdr>
        <a:fill>
          <a:solidFill>
            <a:srgbClr val="656839"/>
          </a:solidFill>
        </a:fill>
      </a:tcStyle>
    </a:firstRow>
  </a:tblStyle>
  <a:tblStyle styleId="{CF821DB8-F4EB-4A41-A1BA-3FCAFE7338EE}" styleName="">
    <a:tblBg/>
    <a:wholeTbl>
      <a:tcTxStyle b="off" i="off">
        <a:font>
          <a:latin typeface="Helvetica Neue"/>
          <a:ea typeface="Helvetica Neue"/>
          <a:cs typeface="Helvetica Neue"/>
        </a:font>
        <a:srgbClr val="444444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C4C6C6"/>
              </a:solidFill>
              <a:prstDash val="solid"/>
              <a:miter lim="400000"/>
            </a:ln>
          </a:top>
          <a:bottom>
            <a:ln w="25400" cap="flat">
              <a:solidFill>
                <a:srgbClr val="C4C6C6"/>
              </a:solidFill>
              <a:prstDash val="solid"/>
              <a:miter lim="400000"/>
            </a:ln>
          </a:bottom>
          <a:insideH>
            <a:ln w="25400" cap="flat">
              <a:solidFill>
                <a:srgbClr val="C4C6C6"/>
              </a:solidFill>
              <a:prstDash val="solid"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1F1F1"/>
          </a:solidFill>
        </a:fill>
      </a:tcStyle>
    </a:wholeTbl>
    <a:band2H>
      <a:tcTxStyle/>
      <a:tcStyle>
        <a:tcBdr/>
        <a:fill>
          <a:solidFill>
            <a:srgbClr val="E4E4E0"/>
          </a:solidFill>
        </a:fill>
      </a:tcStyle>
    </a:band2H>
    <a:firstCol>
      <a:tcTxStyle b="off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515151"/>
              </a:solidFill>
              <a:prstDash val="solid"/>
              <a:miter lim="400000"/>
            </a:ln>
          </a:left>
          <a:right>
            <a:ln w="0" cap="flat">
              <a:noFill/>
              <a:miter lim="400000"/>
            </a:ln>
          </a:right>
          <a:top>
            <a:ln w="12700" cap="flat">
              <a:solidFill>
                <a:srgbClr val="7D7766"/>
              </a:solidFill>
              <a:prstDash val="solid"/>
              <a:miter lim="400000"/>
            </a:ln>
          </a:top>
          <a:bottom>
            <a:ln w="12700" cap="flat">
              <a:solidFill>
                <a:srgbClr val="7D7766"/>
              </a:solidFill>
              <a:prstDash val="solid"/>
              <a:miter lim="400000"/>
            </a:ln>
          </a:bottom>
          <a:insideH>
            <a:ln w="12700" cap="flat">
              <a:solidFill>
                <a:srgbClr val="7D7766"/>
              </a:solidFill>
              <a:prstDash val="solid"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8F8B7E"/>
          </a:solidFill>
        </a:fill>
      </a:tcStyle>
    </a:firstCol>
    <a:lastRow>
      <a:tcTxStyle b="off" i="off">
        <a:font>
          <a:latin typeface="Helvetica Neue"/>
          <a:ea typeface="Helvetica Neue"/>
          <a:cs typeface="Helvetica Neue"/>
        </a:font>
        <a:srgbClr val="444444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747474"/>
              </a:solidFill>
              <a:prstDash val="solid"/>
              <a:miter lim="400000"/>
            </a:ln>
          </a:top>
          <a:bottom>
            <a:ln w="12700" cap="flat">
              <a:solidFill>
                <a:srgbClr val="515151"/>
              </a:solidFill>
              <a:prstDash val="solid"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1F1F1"/>
          </a:solidFill>
        </a:fill>
      </a:tcStyle>
    </a:lastRow>
    <a:firstRow>
      <a:tcTxStyle b="off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solidFill>
                <a:srgbClr val="515151"/>
              </a:solidFill>
              <a:prstDash val="solid"/>
              <a:miter lim="400000"/>
            </a:ln>
          </a:top>
          <a:bottom>
            <a:ln w="25400" cap="flat">
              <a:solidFill>
                <a:schemeClr val="accent2">
                  <a:hueOff val="-487087"/>
                  <a:satOff val="-2686"/>
                  <a:lumOff val="14808"/>
                </a:schemeClr>
              </a:solidFill>
              <a:prstDash val="solid"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5E5A4C"/>
          </a:solidFill>
        </a:fill>
      </a:tcStyle>
    </a:firstRow>
  </a:tblStyle>
  <a:tblStyle styleId="{33BA23B1-9221-436E-865A-0063620EA4FD}" styleName="">
    <a:tblBg/>
    <a:wholeTbl>
      <a:tcTxStyle b="off" i="off">
        <a:font>
          <a:latin typeface="Helvetica Neue"/>
          <a:ea typeface="Helvetica Neue"/>
          <a:cs typeface="Helvetica Neue"/>
        </a:font>
        <a:srgbClr val="444444"/>
      </a:tcTxStyle>
      <a:tcStyle>
        <a:tcBdr>
          <a:left>
            <a:ln w="12700" cap="flat">
              <a:solidFill>
                <a:srgbClr val="747474"/>
              </a:solidFill>
              <a:prstDash val="solid"/>
              <a:miter lim="400000"/>
            </a:ln>
          </a:left>
          <a:right>
            <a:ln w="12700" cap="flat">
              <a:solidFill>
                <a:srgbClr val="747474"/>
              </a:solidFill>
              <a:prstDash val="solid"/>
              <a:miter lim="400000"/>
            </a:ln>
          </a:right>
          <a:top>
            <a:ln w="12700" cap="flat">
              <a:solidFill>
                <a:srgbClr val="747474"/>
              </a:solidFill>
              <a:prstDash val="solid"/>
              <a:miter lim="400000"/>
            </a:ln>
          </a:top>
          <a:bottom>
            <a:ln w="12700" cap="flat">
              <a:solidFill>
                <a:srgbClr val="747474"/>
              </a:solidFill>
              <a:prstDash val="solid"/>
              <a:miter lim="400000"/>
            </a:ln>
          </a:bottom>
          <a:insideH>
            <a:ln w="12700" cap="flat">
              <a:solidFill>
                <a:srgbClr val="747474"/>
              </a:solidFill>
              <a:prstDash val="solid"/>
              <a:miter lim="400000"/>
            </a:ln>
          </a:insideH>
          <a:insideV>
            <a:ln w="12700" cap="flat">
              <a:solidFill>
                <a:srgbClr val="747474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F2F2F2"/>
          </a:solidFill>
        </a:fill>
      </a:tcStyle>
    </a:band2H>
    <a:firstCol>
      <a:tcTxStyle b="off" i="off">
        <a:font>
          <a:latin typeface="Helvetica Neue"/>
          <a:ea typeface="Helvetica Neue"/>
          <a:cs typeface="Helvetica Neue"/>
        </a:font>
        <a:srgbClr val="444444"/>
      </a:tcTxStyle>
      <a:tcStyle>
        <a:tcBdr>
          <a:left>
            <a:ln w="12700" cap="flat">
              <a:solidFill>
                <a:srgbClr val="747474"/>
              </a:solidFill>
              <a:prstDash val="solid"/>
              <a:miter lim="400000"/>
            </a:ln>
          </a:left>
          <a:right>
            <a:ln w="12700" cap="flat">
              <a:solidFill>
                <a:srgbClr val="747474"/>
              </a:solidFill>
              <a:prstDash val="solid"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9E9E9"/>
          </a:solidFill>
        </a:fill>
      </a:tcStyle>
    </a:firstCol>
    <a:lastRow>
      <a:tcTxStyle b="off" i="off">
        <a:font>
          <a:latin typeface="Helvetica Neue"/>
          <a:ea typeface="Helvetica Neue"/>
          <a:cs typeface="Helvetica Neue"/>
        </a:font>
        <a:srgbClr val="444444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747474"/>
              </a:solidFill>
              <a:prstDash val="solid"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CBCBCB"/>
          </a:solidFill>
        </a:fill>
      </a:tcStyle>
    </a:lastRow>
    <a:firstRow>
      <a:tcTxStyle b="off" i="off">
        <a:font>
          <a:latin typeface="Helvetica Neue"/>
          <a:ea typeface="Helvetica Neue"/>
          <a:cs typeface="Helvetica Neue"/>
        </a:font>
        <a:srgbClr val="444444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solidFill>
                <a:srgbClr val="747474"/>
              </a:solidFill>
              <a:prstDash val="solid"/>
              <a:miter lim="400000"/>
            </a:ln>
          </a:top>
          <a:bottom>
            <a:ln w="12700" cap="flat">
              <a:solidFill>
                <a:srgbClr val="747474"/>
              </a:solidFill>
              <a:prstDash val="solid"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CBCBCB"/>
          </a:solidFill>
        </a:fill>
      </a:tcStyle>
    </a:firstRow>
  </a:tblStyle>
  <a:tblStyle styleId="{2708684C-4D16-4618-839F-0558EEFCDFE6}" styleName="">
    <a:tblBg/>
    <a:wholeTbl>
      <a:tcTxStyle b="off" i="off">
        <a:font>
          <a:latin typeface="Helvetica Neue"/>
          <a:ea typeface="Helvetica Neue"/>
          <a:cs typeface="Helvetica Neue"/>
        </a:font>
        <a:srgbClr val="777777"/>
      </a:tcTxStyle>
      <a:tcStyle>
        <a:tcBdr>
          <a:left>
            <a:ln w="12700" cap="flat">
              <a:solidFill>
                <a:srgbClr val="C9C9C9"/>
              </a:solidFill>
              <a:prstDash val="solid"/>
              <a:miter lim="400000"/>
            </a:ln>
          </a:left>
          <a:right>
            <a:ln w="12700" cap="flat">
              <a:solidFill>
                <a:srgbClr val="C9C9C9"/>
              </a:solidFill>
              <a:prstDash val="solid"/>
              <a:miter lim="400000"/>
            </a:ln>
          </a:right>
          <a:top>
            <a:ln w="12700" cap="flat">
              <a:solidFill>
                <a:srgbClr val="525252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525252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525252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C9C9C9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D2D2D2">
              <a:alpha val="30000"/>
            </a:srgbClr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555555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C9C9C9"/>
              </a:solidFill>
              <a:prstDash val="solid"/>
              <a:miter lim="400000"/>
            </a:ln>
          </a:top>
          <a:bottom>
            <a:ln w="12700" cap="flat">
              <a:solidFill>
                <a:srgbClr val="C9C9C9"/>
              </a:solidFill>
              <a:prstDash val="solid"/>
              <a:miter lim="400000"/>
            </a:ln>
          </a:bottom>
          <a:insideH>
            <a:ln w="12700" cap="flat">
              <a:solidFill>
                <a:srgbClr val="C9C9C9"/>
              </a:solidFill>
              <a:prstDash val="solid"/>
              <a:miter lim="400000"/>
            </a:ln>
          </a:insideH>
          <a:insideV>
            <a:ln w="12700" cap="flat">
              <a:solidFill>
                <a:srgbClr val="C9C9C9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ff" i="off">
        <a:font>
          <a:latin typeface="Helvetica Neue Medium"/>
          <a:ea typeface="Helvetica Neue Medium"/>
          <a:cs typeface="Helvetica Neue Medium"/>
        </a:font>
        <a:srgbClr val="555555"/>
      </a:tcTxStyle>
      <a:tcStyle>
        <a:tcBdr>
          <a:left>
            <a:ln w="12700" cap="flat">
              <a:solidFill>
                <a:srgbClr val="C9C9C9"/>
              </a:solidFill>
              <a:prstDash val="solid"/>
              <a:miter lim="400000"/>
            </a:ln>
          </a:left>
          <a:right>
            <a:ln w="12700" cap="flat">
              <a:solidFill>
                <a:srgbClr val="C9C9C9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C9C9C9"/>
              </a:solidFill>
              <a:prstDash val="solid"/>
              <a:miter lim="400000"/>
            </a:ln>
          </a:insideH>
          <a:insideV>
            <a:ln w="12700" cap="flat">
              <a:solidFill>
                <a:srgbClr val="C9C9C9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555555"/>
      </a:tcTxStyle>
      <a:tcStyle>
        <a:tcBdr>
          <a:left>
            <a:ln w="12700" cap="flat">
              <a:solidFill>
                <a:srgbClr val="C9C9C9"/>
              </a:solidFill>
              <a:prstDash val="solid"/>
              <a:miter lim="400000"/>
            </a:ln>
          </a:left>
          <a:right>
            <a:ln w="12700" cap="flat">
              <a:solidFill>
                <a:srgbClr val="C9C9C9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C9C9C9"/>
              </a:solidFill>
              <a:prstDash val="solid"/>
              <a:miter lim="400000"/>
            </a:ln>
          </a:insideH>
          <a:insideV>
            <a:ln w="12700" cap="flat">
              <a:solidFill>
                <a:srgbClr val="C9C9C9"/>
              </a:solidFill>
              <a:prstDash val="solid"/>
              <a:miter lim="400000"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4" d="100"/>
          <a:sy n="74" d="100"/>
        </p:scale>
        <p:origin x="756" y="78"/>
      </p:cViewPr>
      <p:guideLst>
        <p:guide orient="horz" pos="3072"/>
        <p:guide pos="5462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71" d="100"/>
        <a:sy n="71" d="100"/>
      </p:scale>
      <p:origin x="0" y="-2232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Shape 134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35" name="Shape 135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42178007"/>
      </p:ext>
    </p:extLst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1pPr>
    <a:lvl2pPr indent="2286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2pPr>
    <a:lvl3pPr indent="4572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3pPr>
    <a:lvl4pPr indent="6858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4pPr>
    <a:lvl5pPr indent="9144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5pPr>
    <a:lvl6pPr indent="11430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6pPr>
    <a:lvl7pPr indent="13716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7pPr>
    <a:lvl8pPr indent="16002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8pPr>
    <a:lvl9pPr indent="18288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83E3FA-A49F-FA69-2FFE-712212887B7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167533" y="1596249"/>
            <a:ext cx="13005197" cy="3395698"/>
          </a:xfrm>
        </p:spPr>
        <p:txBody>
          <a:bodyPr anchor="b"/>
          <a:lstStyle>
            <a:lvl1pPr algn="ctr">
              <a:defRPr sz="8533"/>
            </a:lvl1pPr>
          </a:lstStyle>
          <a:p>
            <a:r>
              <a:rPr lang="en-GB"/>
              <a:t>Click to edit Master title style</a:t>
            </a:r>
            <a:endParaRPr lang="en-I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471E728-716A-DFB3-34F1-558C51C1E14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167533" y="5122898"/>
            <a:ext cx="13005197" cy="2354862"/>
          </a:xfrm>
        </p:spPr>
        <p:txBody>
          <a:bodyPr/>
          <a:lstStyle>
            <a:lvl1pPr marL="0" indent="0" algn="ctr">
              <a:buNone/>
              <a:defRPr sz="3413"/>
            </a:lvl1pPr>
            <a:lvl2pPr marL="650230" indent="0" algn="ctr">
              <a:buNone/>
              <a:defRPr sz="2844"/>
            </a:lvl2pPr>
            <a:lvl3pPr marL="1300460" indent="0" algn="ctr">
              <a:buNone/>
              <a:defRPr sz="2560"/>
            </a:lvl3pPr>
            <a:lvl4pPr marL="1950690" indent="0" algn="ctr">
              <a:buNone/>
              <a:defRPr sz="2276"/>
            </a:lvl4pPr>
            <a:lvl5pPr marL="2600919" indent="0" algn="ctr">
              <a:buNone/>
              <a:defRPr sz="2276"/>
            </a:lvl5pPr>
            <a:lvl6pPr marL="3251149" indent="0" algn="ctr">
              <a:buNone/>
              <a:defRPr sz="2276"/>
            </a:lvl6pPr>
            <a:lvl7pPr marL="3901379" indent="0" algn="ctr">
              <a:buNone/>
              <a:defRPr sz="2276"/>
            </a:lvl7pPr>
            <a:lvl8pPr marL="4551609" indent="0" algn="ctr">
              <a:buNone/>
              <a:defRPr sz="2276"/>
            </a:lvl8pPr>
            <a:lvl9pPr marL="5201839" indent="0" algn="ctr">
              <a:buNone/>
              <a:defRPr sz="2276"/>
            </a:lvl9pPr>
          </a:lstStyle>
          <a:p>
            <a:r>
              <a:rPr lang="en-GB"/>
              <a:t>Click to edit Master subtitle style</a:t>
            </a:r>
            <a:endParaRPr lang="en-I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11B66E-0048-52C2-4722-5B41129E6F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717166-CA76-4749-BDF9-41B87B45E186}" type="datetimeFigureOut">
              <a:rPr lang="en-IE" smtClean="0"/>
              <a:t>19/03/2026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9599D7-5FFE-7A46-A808-3C20C80CC6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980C77-1EBB-3ED2-3B68-F7E8184433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910051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1C9AA2-5D3B-DFCC-234C-34A09848E2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97EADC-88B2-29E0-EEF8-7BD1FF7363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A93C6A-3061-D0A0-10AA-E621953355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717166-CA76-4749-BDF9-41B87B45E186}" type="datetimeFigureOut">
              <a:rPr lang="en-IE" smtClean="0"/>
              <a:t>19/03/2026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EE16F1-8476-A8A5-F7AD-FD73715254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E78013-A78F-CF6B-065D-49478DCF02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689506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C36C7B-BF8C-38C7-9474-B2C1B289CA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3112" y="2431628"/>
            <a:ext cx="14955977" cy="4057226"/>
          </a:xfrm>
        </p:spPr>
        <p:txBody>
          <a:bodyPr anchor="b"/>
          <a:lstStyle>
            <a:lvl1pPr>
              <a:defRPr sz="8533"/>
            </a:lvl1pPr>
          </a:lstStyle>
          <a:p>
            <a:r>
              <a:rPr lang="en-GB"/>
              <a:t>Click to edit Master title style</a:t>
            </a:r>
            <a:endParaRPr lang="en-I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55F17F3-881A-BE5E-4D6D-AAB9804DA88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83112" y="6527237"/>
            <a:ext cx="14955977" cy="2133599"/>
          </a:xfrm>
        </p:spPr>
        <p:txBody>
          <a:bodyPr/>
          <a:lstStyle>
            <a:lvl1pPr marL="0" indent="0">
              <a:buNone/>
              <a:defRPr sz="3413">
                <a:solidFill>
                  <a:schemeClr val="tx1">
                    <a:tint val="82000"/>
                  </a:schemeClr>
                </a:solidFill>
              </a:defRPr>
            </a:lvl1pPr>
            <a:lvl2pPr marL="650230" indent="0">
              <a:buNone/>
              <a:defRPr sz="2844">
                <a:solidFill>
                  <a:schemeClr val="tx1">
                    <a:tint val="82000"/>
                  </a:schemeClr>
                </a:solidFill>
              </a:defRPr>
            </a:lvl2pPr>
            <a:lvl3pPr marL="1300460" indent="0">
              <a:buNone/>
              <a:defRPr sz="2560">
                <a:solidFill>
                  <a:schemeClr val="tx1">
                    <a:tint val="82000"/>
                  </a:schemeClr>
                </a:solidFill>
              </a:defRPr>
            </a:lvl3pPr>
            <a:lvl4pPr marL="1950690" indent="0">
              <a:buNone/>
              <a:defRPr sz="2276">
                <a:solidFill>
                  <a:schemeClr val="tx1">
                    <a:tint val="82000"/>
                  </a:schemeClr>
                </a:solidFill>
              </a:defRPr>
            </a:lvl4pPr>
            <a:lvl5pPr marL="2600919" indent="0">
              <a:buNone/>
              <a:defRPr sz="2276">
                <a:solidFill>
                  <a:schemeClr val="tx1">
                    <a:tint val="82000"/>
                  </a:schemeClr>
                </a:solidFill>
              </a:defRPr>
            </a:lvl5pPr>
            <a:lvl6pPr marL="3251149" indent="0">
              <a:buNone/>
              <a:defRPr sz="2276">
                <a:solidFill>
                  <a:schemeClr val="tx1">
                    <a:tint val="82000"/>
                  </a:schemeClr>
                </a:solidFill>
              </a:defRPr>
            </a:lvl6pPr>
            <a:lvl7pPr marL="3901379" indent="0">
              <a:buNone/>
              <a:defRPr sz="2276">
                <a:solidFill>
                  <a:schemeClr val="tx1">
                    <a:tint val="82000"/>
                  </a:schemeClr>
                </a:solidFill>
              </a:defRPr>
            </a:lvl7pPr>
            <a:lvl8pPr marL="4551609" indent="0">
              <a:buNone/>
              <a:defRPr sz="2276">
                <a:solidFill>
                  <a:schemeClr val="tx1">
                    <a:tint val="82000"/>
                  </a:schemeClr>
                </a:solidFill>
              </a:defRPr>
            </a:lvl8pPr>
            <a:lvl9pPr marL="5201839" indent="0">
              <a:buNone/>
              <a:defRPr sz="2276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3E515A-C390-CE77-0492-09BFA186AA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717166-CA76-4749-BDF9-41B87B45E186}" type="datetimeFigureOut">
              <a:rPr lang="en-IE" smtClean="0"/>
              <a:t>19/03/2026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6BE6D2-DBF0-F76F-89FC-A9D358B5F2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E3C0F3-2FFA-9E9C-0E13-A9D069B902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373133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9BA7B9-13EF-E549-96FF-1E732AC052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55B14D-D648-DCAE-E2F1-E5F3B0E957A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192143" y="2596444"/>
            <a:ext cx="7369612" cy="618857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1326CA9-529B-1D2F-D89B-586D4859EE2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778508" y="2596444"/>
            <a:ext cx="7369612" cy="618857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9D3D90-E008-5460-3667-D1CE78F2F4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717166-CA76-4749-BDF9-41B87B45E186}" type="datetimeFigureOut">
              <a:rPr lang="en-IE" smtClean="0"/>
              <a:t>19/03/2026</a:t>
            </a:fld>
            <a:endParaRPr lang="en-I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A02178C-65C4-E71C-C892-B5ED6C7B0C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E4F8142-D923-AFAF-F2EE-E9CD9A70D2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345325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7DB08D-BFB3-AB3A-F587-AE5BAD71D7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4402" y="519290"/>
            <a:ext cx="14955977" cy="1885245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I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E8CFDA1-D9FA-8235-A722-BBFF6C091D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94403" y="2390987"/>
            <a:ext cx="7335743" cy="1171786"/>
          </a:xfrm>
        </p:spPr>
        <p:txBody>
          <a:bodyPr anchor="b"/>
          <a:lstStyle>
            <a:lvl1pPr marL="0" indent="0">
              <a:buNone/>
              <a:defRPr sz="3413" b="1"/>
            </a:lvl1pPr>
            <a:lvl2pPr marL="650230" indent="0">
              <a:buNone/>
              <a:defRPr sz="2844" b="1"/>
            </a:lvl2pPr>
            <a:lvl3pPr marL="1300460" indent="0">
              <a:buNone/>
              <a:defRPr sz="2560" b="1"/>
            </a:lvl3pPr>
            <a:lvl4pPr marL="1950690" indent="0">
              <a:buNone/>
              <a:defRPr sz="2276" b="1"/>
            </a:lvl4pPr>
            <a:lvl5pPr marL="2600919" indent="0">
              <a:buNone/>
              <a:defRPr sz="2276" b="1"/>
            </a:lvl5pPr>
            <a:lvl6pPr marL="3251149" indent="0">
              <a:buNone/>
              <a:defRPr sz="2276" b="1"/>
            </a:lvl6pPr>
            <a:lvl7pPr marL="3901379" indent="0">
              <a:buNone/>
              <a:defRPr sz="2276" b="1"/>
            </a:lvl7pPr>
            <a:lvl8pPr marL="4551609" indent="0">
              <a:buNone/>
              <a:defRPr sz="2276" b="1"/>
            </a:lvl8pPr>
            <a:lvl9pPr marL="5201839" indent="0">
              <a:buNone/>
              <a:defRPr sz="2276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BFA6637-B961-7E50-9EB1-D50CCC10E11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194403" y="3562773"/>
            <a:ext cx="7335743" cy="5240303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9060A5C-4A9A-02C0-17E3-7AC719C4007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8778508" y="2390987"/>
            <a:ext cx="7371870" cy="1171786"/>
          </a:xfrm>
        </p:spPr>
        <p:txBody>
          <a:bodyPr anchor="b"/>
          <a:lstStyle>
            <a:lvl1pPr marL="0" indent="0">
              <a:buNone/>
              <a:defRPr sz="3413" b="1"/>
            </a:lvl1pPr>
            <a:lvl2pPr marL="650230" indent="0">
              <a:buNone/>
              <a:defRPr sz="2844" b="1"/>
            </a:lvl2pPr>
            <a:lvl3pPr marL="1300460" indent="0">
              <a:buNone/>
              <a:defRPr sz="2560" b="1"/>
            </a:lvl3pPr>
            <a:lvl4pPr marL="1950690" indent="0">
              <a:buNone/>
              <a:defRPr sz="2276" b="1"/>
            </a:lvl4pPr>
            <a:lvl5pPr marL="2600919" indent="0">
              <a:buNone/>
              <a:defRPr sz="2276" b="1"/>
            </a:lvl5pPr>
            <a:lvl6pPr marL="3251149" indent="0">
              <a:buNone/>
              <a:defRPr sz="2276" b="1"/>
            </a:lvl6pPr>
            <a:lvl7pPr marL="3901379" indent="0">
              <a:buNone/>
              <a:defRPr sz="2276" b="1"/>
            </a:lvl7pPr>
            <a:lvl8pPr marL="4551609" indent="0">
              <a:buNone/>
              <a:defRPr sz="2276" b="1"/>
            </a:lvl8pPr>
            <a:lvl9pPr marL="5201839" indent="0">
              <a:buNone/>
              <a:defRPr sz="2276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158CCD1-484E-C79D-32F1-CE706207572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8778508" y="3562773"/>
            <a:ext cx="7371870" cy="5240303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F2DEFBB-3A83-991F-8A26-54349322A9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717166-CA76-4749-BDF9-41B87B45E186}" type="datetimeFigureOut">
              <a:rPr lang="en-IE" smtClean="0"/>
              <a:t>19/03/2026</a:t>
            </a:fld>
            <a:endParaRPr lang="en-I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60A697B-97FE-6780-5BFF-A400126A7F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9DEB26D-09A3-539B-981E-C68A28C651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274601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D64628-CADF-3069-17C8-67EA8896B0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33C6766-503F-B8BB-5A9F-D8908E7F40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717166-CA76-4749-BDF9-41B87B45E186}" type="datetimeFigureOut">
              <a:rPr lang="en-IE" smtClean="0"/>
              <a:t>19/03/2026</a:t>
            </a:fld>
            <a:endParaRPr lang="en-I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45D409-E7D3-82A9-5006-61912103CA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EC56F85-4285-9D31-E1E3-A308BB3951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779542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5E36CA1-A311-8F68-38BD-526777002F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717166-CA76-4749-BDF9-41B87B45E186}" type="datetimeFigureOut">
              <a:rPr lang="en-IE" smtClean="0"/>
              <a:t>19/03/2026</a:t>
            </a:fld>
            <a:endParaRPr lang="en-I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1F78C46-F630-CC11-C5E3-8A7DDBA59E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4434C85-4737-7A45-045C-0AA2B78B5A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045468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0A1495-E780-B212-DE34-61B1F4C464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4402" y="650240"/>
            <a:ext cx="5592686" cy="2275840"/>
          </a:xfrm>
        </p:spPr>
        <p:txBody>
          <a:bodyPr anchor="b"/>
          <a:lstStyle>
            <a:lvl1pPr>
              <a:defRPr sz="4551"/>
            </a:lvl1pPr>
          </a:lstStyle>
          <a:p>
            <a:r>
              <a:rPr lang="en-GB"/>
              <a:t>Click to edit Master title style</a:t>
            </a:r>
            <a:endParaRPr lang="en-I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F3B47B-097F-1672-4370-1414822FF4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71870" y="1404338"/>
            <a:ext cx="8778508" cy="6931378"/>
          </a:xfrm>
        </p:spPr>
        <p:txBody>
          <a:bodyPr/>
          <a:lstStyle>
            <a:lvl1pPr>
              <a:defRPr sz="4551"/>
            </a:lvl1pPr>
            <a:lvl2pPr>
              <a:defRPr sz="3982"/>
            </a:lvl2pPr>
            <a:lvl3pPr>
              <a:defRPr sz="3413"/>
            </a:lvl3pPr>
            <a:lvl4pPr>
              <a:defRPr sz="2844"/>
            </a:lvl4pPr>
            <a:lvl5pPr>
              <a:defRPr sz="2844"/>
            </a:lvl5pPr>
            <a:lvl6pPr>
              <a:defRPr sz="2844"/>
            </a:lvl6pPr>
            <a:lvl7pPr>
              <a:defRPr sz="2844"/>
            </a:lvl7pPr>
            <a:lvl8pPr>
              <a:defRPr sz="2844"/>
            </a:lvl8pPr>
            <a:lvl9pPr>
              <a:defRPr sz="2844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19A7CF1-1306-B4CF-A069-924EE46874E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194402" y="2926080"/>
            <a:ext cx="5592686" cy="5420925"/>
          </a:xfrm>
        </p:spPr>
        <p:txBody>
          <a:bodyPr/>
          <a:lstStyle>
            <a:lvl1pPr marL="0" indent="0">
              <a:buNone/>
              <a:defRPr sz="2276"/>
            </a:lvl1pPr>
            <a:lvl2pPr marL="650230" indent="0">
              <a:buNone/>
              <a:defRPr sz="1991"/>
            </a:lvl2pPr>
            <a:lvl3pPr marL="1300460" indent="0">
              <a:buNone/>
              <a:defRPr sz="1707"/>
            </a:lvl3pPr>
            <a:lvl4pPr marL="1950690" indent="0">
              <a:buNone/>
              <a:defRPr sz="1422"/>
            </a:lvl4pPr>
            <a:lvl5pPr marL="2600919" indent="0">
              <a:buNone/>
              <a:defRPr sz="1422"/>
            </a:lvl5pPr>
            <a:lvl6pPr marL="3251149" indent="0">
              <a:buNone/>
              <a:defRPr sz="1422"/>
            </a:lvl6pPr>
            <a:lvl7pPr marL="3901379" indent="0">
              <a:buNone/>
              <a:defRPr sz="1422"/>
            </a:lvl7pPr>
            <a:lvl8pPr marL="4551609" indent="0">
              <a:buNone/>
              <a:defRPr sz="1422"/>
            </a:lvl8pPr>
            <a:lvl9pPr marL="5201839" indent="0">
              <a:buNone/>
              <a:defRPr sz="1422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1399027-C754-80B6-1AFA-B37E6E0EE9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717166-CA76-4749-BDF9-41B87B45E186}" type="datetimeFigureOut">
              <a:rPr lang="en-IE" smtClean="0"/>
              <a:t>19/03/2026</a:t>
            </a:fld>
            <a:endParaRPr lang="en-I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D8879FB-0547-8473-3463-EEAE88F12D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03CFA2B-C272-7384-0662-741407E1ED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978997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0041A6-717F-EFB4-1AD7-A96933616E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4402" y="650240"/>
            <a:ext cx="5592686" cy="2275840"/>
          </a:xfrm>
        </p:spPr>
        <p:txBody>
          <a:bodyPr anchor="b"/>
          <a:lstStyle>
            <a:lvl1pPr>
              <a:defRPr sz="4551"/>
            </a:lvl1pPr>
          </a:lstStyle>
          <a:p>
            <a:r>
              <a:rPr lang="en-GB"/>
              <a:t>Click to edit Master title style</a:t>
            </a:r>
            <a:endParaRPr lang="en-I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ABB9A00-11CA-0198-8908-CF5ABEFA93E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7371870" y="1404338"/>
            <a:ext cx="8778508" cy="6931378"/>
          </a:xfrm>
        </p:spPr>
        <p:txBody>
          <a:bodyPr/>
          <a:lstStyle>
            <a:lvl1pPr marL="0" indent="0">
              <a:buNone/>
              <a:defRPr sz="4551"/>
            </a:lvl1pPr>
            <a:lvl2pPr marL="650230" indent="0">
              <a:buNone/>
              <a:defRPr sz="3982"/>
            </a:lvl2pPr>
            <a:lvl3pPr marL="1300460" indent="0">
              <a:buNone/>
              <a:defRPr sz="3413"/>
            </a:lvl3pPr>
            <a:lvl4pPr marL="1950690" indent="0">
              <a:buNone/>
              <a:defRPr sz="2844"/>
            </a:lvl4pPr>
            <a:lvl5pPr marL="2600919" indent="0">
              <a:buNone/>
              <a:defRPr sz="2844"/>
            </a:lvl5pPr>
            <a:lvl6pPr marL="3251149" indent="0">
              <a:buNone/>
              <a:defRPr sz="2844"/>
            </a:lvl6pPr>
            <a:lvl7pPr marL="3901379" indent="0">
              <a:buNone/>
              <a:defRPr sz="2844"/>
            </a:lvl7pPr>
            <a:lvl8pPr marL="4551609" indent="0">
              <a:buNone/>
              <a:defRPr sz="2844"/>
            </a:lvl8pPr>
            <a:lvl9pPr marL="5201839" indent="0">
              <a:buNone/>
              <a:defRPr sz="2844"/>
            </a:lvl9pPr>
          </a:lstStyle>
          <a:p>
            <a:endParaRPr lang="en-I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E4A3EF1-B966-1095-90FA-E47C407E965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194402" y="2926080"/>
            <a:ext cx="5592686" cy="5420925"/>
          </a:xfrm>
        </p:spPr>
        <p:txBody>
          <a:bodyPr/>
          <a:lstStyle>
            <a:lvl1pPr marL="0" indent="0">
              <a:buNone/>
              <a:defRPr sz="2276"/>
            </a:lvl1pPr>
            <a:lvl2pPr marL="650230" indent="0">
              <a:buNone/>
              <a:defRPr sz="1991"/>
            </a:lvl2pPr>
            <a:lvl3pPr marL="1300460" indent="0">
              <a:buNone/>
              <a:defRPr sz="1707"/>
            </a:lvl3pPr>
            <a:lvl4pPr marL="1950690" indent="0">
              <a:buNone/>
              <a:defRPr sz="1422"/>
            </a:lvl4pPr>
            <a:lvl5pPr marL="2600919" indent="0">
              <a:buNone/>
              <a:defRPr sz="1422"/>
            </a:lvl5pPr>
            <a:lvl6pPr marL="3251149" indent="0">
              <a:buNone/>
              <a:defRPr sz="1422"/>
            </a:lvl6pPr>
            <a:lvl7pPr marL="3901379" indent="0">
              <a:buNone/>
              <a:defRPr sz="1422"/>
            </a:lvl7pPr>
            <a:lvl8pPr marL="4551609" indent="0">
              <a:buNone/>
              <a:defRPr sz="1422"/>
            </a:lvl8pPr>
            <a:lvl9pPr marL="5201839" indent="0">
              <a:buNone/>
              <a:defRPr sz="1422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E957250-BBEB-7EDC-D304-34D1905993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717166-CA76-4749-BDF9-41B87B45E186}" type="datetimeFigureOut">
              <a:rPr lang="en-IE" smtClean="0"/>
              <a:t>19/03/2026</a:t>
            </a:fld>
            <a:endParaRPr lang="en-I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4E6944A-F132-B83B-E948-C270428622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03E7B0D-CDF4-6079-D273-F1BCE5B01D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018815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288478-3F72-5A9C-098C-6F4A28BCBB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D4F3B90-A640-87F9-1A2F-0AA4748079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90C712-C97E-9C98-DEB5-54D67C7585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717166-CA76-4749-BDF9-41B87B45E186}" type="datetimeFigureOut">
              <a:rPr lang="en-IE" smtClean="0"/>
              <a:t>19/03/2026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7D308B-6E1B-2830-1118-B448B2B769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7C1F0A-7310-2D21-74C1-C58267737E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916409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A73AC86-7F0F-70F7-63DE-235EA4B066C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12409126" y="519289"/>
            <a:ext cx="3738994" cy="8265725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I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2B7F170-E046-0C83-DC4E-D1763E7B7AA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192143" y="519289"/>
            <a:ext cx="11000229" cy="8265725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34A78B-F09C-FFAE-6FFA-5FD358C3F6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717166-CA76-4749-BDF9-41B87B45E186}" type="datetimeFigureOut">
              <a:rPr lang="en-IE" smtClean="0"/>
              <a:t>19/03/2026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A2428E-CA91-1E5A-DE70-4A2F9A2849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C6CFA9-72FB-C7E9-D77C-4A479E4502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0946387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Shape 60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61" name="Shape 61"/>
          <p:cNvSpPr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rgbClr val="000000"/>
                </a:solidFill>
              </a:defRPr>
            </a:lvl1pPr>
            <a:lvl2pPr>
              <a:defRPr>
                <a:solidFill>
                  <a:srgbClr val="000000"/>
                </a:solidFill>
              </a:defRPr>
            </a:lvl2pPr>
            <a:lvl3pPr>
              <a:defRPr>
                <a:solidFill>
                  <a:srgbClr val="000000"/>
                </a:solidFill>
              </a:defRPr>
            </a:lvl3pPr>
            <a:lvl4pPr>
              <a:defRPr>
                <a:solidFill>
                  <a:srgbClr val="000000"/>
                </a:solidFill>
              </a:defRPr>
            </a:lvl4pPr>
            <a:lvl5pPr>
              <a:defRPr>
                <a:solidFill>
                  <a:srgbClr val="000000"/>
                </a:solidFill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62" name="Shape 62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940665744"/>
      </p:ext>
    </p:extLst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B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9B48F5F-E0CC-DB65-B237-F4604F4508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2143" y="519290"/>
            <a:ext cx="14955977" cy="188524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I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CBD38C6-3534-6086-8703-25F4B46464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92143" y="2596444"/>
            <a:ext cx="14955977" cy="618857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40898B-6496-D73C-3C71-030C0AE2C5F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192143" y="9040143"/>
            <a:ext cx="3901559" cy="5192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707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2717166-CA76-4749-BDF9-41B87B45E186}" type="datetimeFigureOut">
              <a:rPr lang="en-IE" smtClean="0"/>
              <a:t>19/03/2026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65018F-E657-7687-3151-464622B7B12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743962" y="9040143"/>
            <a:ext cx="5852339" cy="5192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707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E595D4-BC7D-8190-7014-D43B94BF195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2246561" y="9040143"/>
            <a:ext cx="3901559" cy="5192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707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6CB4B4D-7CA3-9044-876B-883B54F8677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395936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txStyles>
    <p:titleStyle>
      <a:lvl1pPr algn="l" defTabSz="1300460" rtl="0" eaLnBrk="1" latinLnBrk="0" hangingPunct="1">
        <a:lnSpc>
          <a:spcPct val="90000"/>
        </a:lnSpc>
        <a:spcBef>
          <a:spcPct val="0"/>
        </a:spcBef>
        <a:buNone/>
        <a:defRPr sz="6258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25115" indent="-325115" algn="l" defTabSz="1300460" rtl="0" eaLnBrk="1" latinLnBrk="0" hangingPunct="1">
        <a:lnSpc>
          <a:spcPct val="90000"/>
        </a:lnSpc>
        <a:spcBef>
          <a:spcPts val="1422"/>
        </a:spcBef>
        <a:buFont typeface="Arial" panose="020B0604020202020204" pitchFamily="34" charset="0"/>
        <a:buChar char="•"/>
        <a:defRPr sz="3982" kern="1200">
          <a:solidFill>
            <a:schemeClr val="tx1"/>
          </a:solidFill>
          <a:latin typeface="+mn-lt"/>
          <a:ea typeface="+mn-ea"/>
          <a:cs typeface="+mn-cs"/>
        </a:defRPr>
      </a:lvl1pPr>
      <a:lvl2pPr marL="975345" indent="-325115" algn="l" defTabSz="1300460" rtl="0" eaLnBrk="1" latinLnBrk="0" hangingPunct="1">
        <a:lnSpc>
          <a:spcPct val="90000"/>
        </a:lnSpc>
        <a:spcBef>
          <a:spcPts val="711"/>
        </a:spcBef>
        <a:buFont typeface="Arial" panose="020B0604020202020204" pitchFamily="34" charset="0"/>
        <a:buChar char="•"/>
        <a:defRPr sz="3413" kern="1200">
          <a:solidFill>
            <a:schemeClr val="tx1"/>
          </a:solidFill>
          <a:latin typeface="+mn-lt"/>
          <a:ea typeface="+mn-ea"/>
          <a:cs typeface="+mn-cs"/>
        </a:defRPr>
      </a:lvl2pPr>
      <a:lvl3pPr marL="1625575" indent="-325115" algn="l" defTabSz="1300460" rtl="0" eaLnBrk="1" latinLnBrk="0" hangingPunct="1">
        <a:lnSpc>
          <a:spcPct val="90000"/>
        </a:lnSpc>
        <a:spcBef>
          <a:spcPts val="711"/>
        </a:spcBef>
        <a:buFont typeface="Arial" panose="020B0604020202020204" pitchFamily="34" charset="0"/>
        <a:buChar char="•"/>
        <a:defRPr sz="2844" kern="1200">
          <a:solidFill>
            <a:schemeClr val="tx1"/>
          </a:solidFill>
          <a:latin typeface="+mn-lt"/>
          <a:ea typeface="+mn-ea"/>
          <a:cs typeface="+mn-cs"/>
        </a:defRPr>
      </a:lvl3pPr>
      <a:lvl4pPr marL="2275804" indent="-325115" algn="l" defTabSz="1300460" rtl="0" eaLnBrk="1" latinLnBrk="0" hangingPunct="1">
        <a:lnSpc>
          <a:spcPct val="90000"/>
        </a:lnSpc>
        <a:spcBef>
          <a:spcPts val="711"/>
        </a:spcBef>
        <a:buFont typeface="Arial" panose="020B0604020202020204" pitchFamily="34" charset="0"/>
        <a:buChar char="•"/>
        <a:defRPr sz="2560" kern="1200">
          <a:solidFill>
            <a:schemeClr val="tx1"/>
          </a:solidFill>
          <a:latin typeface="+mn-lt"/>
          <a:ea typeface="+mn-ea"/>
          <a:cs typeface="+mn-cs"/>
        </a:defRPr>
      </a:lvl4pPr>
      <a:lvl5pPr marL="2926034" indent="-325115" algn="l" defTabSz="1300460" rtl="0" eaLnBrk="1" latinLnBrk="0" hangingPunct="1">
        <a:lnSpc>
          <a:spcPct val="90000"/>
        </a:lnSpc>
        <a:spcBef>
          <a:spcPts val="711"/>
        </a:spcBef>
        <a:buFont typeface="Arial" panose="020B0604020202020204" pitchFamily="34" charset="0"/>
        <a:buChar char="•"/>
        <a:defRPr sz="2560" kern="1200">
          <a:solidFill>
            <a:schemeClr val="tx1"/>
          </a:solidFill>
          <a:latin typeface="+mn-lt"/>
          <a:ea typeface="+mn-ea"/>
          <a:cs typeface="+mn-cs"/>
        </a:defRPr>
      </a:lvl5pPr>
      <a:lvl6pPr marL="3576264" indent="-325115" algn="l" defTabSz="1300460" rtl="0" eaLnBrk="1" latinLnBrk="0" hangingPunct="1">
        <a:lnSpc>
          <a:spcPct val="90000"/>
        </a:lnSpc>
        <a:spcBef>
          <a:spcPts val="711"/>
        </a:spcBef>
        <a:buFont typeface="Arial" panose="020B0604020202020204" pitchFamily="34" charset="0"/>
        <a:buChar char="•"/>
        <a:defRPr sz="2560" kern="1200">
          <a:solidFill>
            <a:schemeClr val="tx1"/>
          </a:solidFill>
          <a:latin typeface="+mn-lt"/>
          <a:ea typeface="+mn-ea"/>
          <a:cs typeface="+mn-cs"/>
        </a:defRPr>
      </a:lvl6pPr>
      <a:lvl7pPr marL="4226494" indent="-325115" algn="l" defTabSz="1300460" rtl="0" eaLnBrk="1" latinLnBrk="0" hangingPunct="1">
        <a:lnSpc>
          <a:spcPct val="90000"/>
        </a:lnSpc>
        <a:spcBef>
          <a:spcPts val="711"/>
        </a:spcBef>
        <a:buFont typeface="Arial" panose="020B0604020202020204" pitchFamily="34" charset="0"/>
        <a:buChar char="•"/>
        <a:defRPr sz="2560" kern="1200">
          <a:solidFill>
            <a:schemeClr val="tx1"/>
          </a:solidFill>
          <a:latin typeface="+mn-lt"/>
          <a:ea typeface="+mn-ea"/>
          <a:cs typeface="+mn-cs"/>
        </a:defRPr>
      </a:lvl7pPr>
      <a:lvl8pPr marL="4876724" indent="-325115" algn="l" defTabSz="1300460" rtl="0" eaLnBrk="1" latinLnBrk="0" hangingPunct="1">
        <a:lnSpc>
          <a:spcPct val="90000"/>
        </a:lnSpc>
        <a:spcBef>
          <a:spcPts val="711"/>
        </a:spcBef>
        <a:buFont typeface="Arial" panose="020B0604020202020204" pitchFamily="34" charset="0"/>
        <a:buChar char="•"/>
        <a:defRPr sz="2560" kern="1200">
          <a:solidFill>
            <a:schemeClr val="tx1"/>
          </a:solidFill>
          <a:latin typeface="+mn-lt"/>
          <a:ea typeface="+mn-ea"/>
          <a:cs typeface="+mn-cs"/>
        </a:defRPr>
      </a:lvl8pPr>
      <a:lvl9pPr marL="5526954" indent="-325115" algn="l" defTabSz="1300460" rtl="0" eaLnBrk="1" latinLnBrk="0" hangingPunct="1">
        <a:lnSpc>
          <a:spcPct val="90000"/>
        </a:lnSpc>
        <a:spcBef>
          <a:spcPts val="711"/>
        </a:spcBef>
        <a:buFont typeface="Arial" panose="020B0604020202020204" pitchFamily="34" charset="0"/>
        <a:buChar char="•"/>
        <a:defRPr sz="256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300460" rtl="0" eaLnBrk="1" latinLnBrk="0" hangingPunct="1">
        <a:defRPr sz="2560" kern="1200">
          <a:solidFill>
            <a:schemeClr val="tx1"/>
          </a:solidFill>
          <a:latin typeface="+mn-lt"/>
          <a:ea typeface="+mn-ea"/>
          <a:cs typeface="+mn-cs"/>
        </a:defRPr>
      </a:lvl1pPr>
      <a:lvl2pPr marL="650230" algn="l" defTabSz="1300460" rtl="0" eaLnBrk="1" latinLnBrk="0" hangingPunct="1">
        <a:defRPr sz="2560" kern="1200">
          <a:solidFill>
            <a:schemeClr val="tx1"/>
          </a:solidFill>
          <a:latin typeface="+mn-lt"/>
          <a:ea typeface="+mn-ea"/>
          <a:cs typeface="+mn-cs"/>
        </a:defRPr>
      </a:lvl2pPr>
      <a:lvl3pPr marL="1300460" algn="l" defTabSz="1300460" rtl="0" eaLnBrk="1" latinLnBrk="0" hangingPunct="1">
        <a:defRPr sz="2560" kern="1200">
          <a:solidFill>
            <a:schemeClr val="tx1"/>
          </a:solidFill>
          <a:latin typeface="+mn-lt"/>
          <a:ea typeface="+mn-ea"/>
          <a:cs typeface="+mn-cs"/>
        </a:defRPr>
      </a:lvl3pPr>
      <a:lvl4pPr marL="1950690" algn="l" defTabSz="1300460" rtl="0" eaLnBrk="1" latinLnBrk="0" hangingPunct="1">
        <a:defRPr sz="2560" kern="1200">
          <a:solidFill>
            <a:schemeClr val="tx1"/>
          </a:solidFill>
          <a:latin typeface="+mn-lt"/>
          <a:ea typeface="+mn-ea"/>
          <a:cs typeface="+mn-cs"/>
        </a:defRPr>
      </a:lvl4pPr>
      <a:lvl5pPr marL="2600919" algn="l" defTabSz="1300460" rtl="0" eaLnBrk="1" latinLnBrk="0" hangingPunct="1">
        <a:defRPr sz="2560" kern="1200">
          <a:solidFill>
            <a:schemeClr val="tx1"/>
          </a:solidFill>
          <a:latin typeface="+mn-lt"/>
          <a:ea typeface="+mn-ea"/>
          <a:cs typeface="+mn-cs"/>
        </a:defRPr>
      </a:lvl5pPr>
      <a:lvl6pPr marL="3251149" algn="l" defTabSz="1300460" rtl="0" eaLnBrk="1" latinLnBrk="0" hangingPunct="1">
        <a:defRPr sz="2560" kern="1200">
          <a:solidFill>
            <a:schemeClr val="tx1"/>
          </a:solidFill>
          <a:latin typeface="+mn-lt"/>
          <a:ea typeface="+mn-ea"/>
          <a:cs typeface="+mn-cs"/>
        </a:defRPr>
      </a:lvl6pPr>
      <a:lvl7pPr marL="3901379" algn="l" defTabSz="1300460" rtl="0" eaLnBrk="1" latinLnBrk="0" hangingPunct="1">
        <a:defRPr sz="2560" kern="1200">
          <a:solidFill>
            <a:schemeClr val="tx1"/>
          </a:solidFill>
          <a:latin typeface="+mn-lt"/>
          <a:ea typeface="+mn-ea"/>
          <a:cs typeface="+mn-cs"/>
        </a:defRPr>
      </a:lvl7pPr>
      <a:lvl8pPr marL="4551609" algn="l" defTabSz="1300460" rtl="0" eaLnBrk="1" latinLnBrk="0" hangingPunct="1">
        <a:defRPr sz="2560" kern="1200">
          <a:solidFill>
            <a:schemeClr val="tx1"/>
          </a:solidFill>
          <a:latin typeface="+mn-lt"/>
          <a:ea typeface="+mn-ea"/>
          <a:cs typeface="+mn-cs"/>
        </a:defRPr>
      </a:lvl8pPr>
      <a:lvl9pPr marL="5201839" algn="l" defTabSz="1300460" rtl="0" eaLnBrk="1" latinLnBrk="0" hangingPunct="1">
        <a:defRPr sz="256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dev.mysql.com/doc/refman/8.4/en/date-and-time-functions.html#function_date-format" TargetMode="External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Shape 137"/>
          <p:cNvSpPr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>
            <a:normAutofit/>
          </a:bodyPr>
          <a:lstStyle/>
          <a:p>
            <a:r>
              <a:rPr lang="en-US" dirty="0"/>
              <a:t>SELECT statement 2</a:t>
            </a:r>
            <a:endParaRPr dirty="0"/>
          </a:p>
        </p:txBody>
      </p:sp>
      <p:sp>
        <p:nvSpPr>
          <p:cNvPr id="2" name="Text Placeholder 1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Topics List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pPr>
              <a:spcBef>
                <a:spcPts val="3600"/>
              </a:spcBef>
            </a:pPr>
            <a:r>
              <a:rPr lang="en-IE" sz="3600" dirty="0">
                <a:solidFill>
                  <a:srgbClr val="00B050"/>
                </a:solidFill>
              </a:rPr>
              <a:t>Using LIKE</a:t>
            </a:r>
          </a:p>
          <a:p>
            <a:pPr>
              <a:spcBef>
                <a:spcPts val="3600"/>
              </a:spcBef>
            </a:pPr>
            <a:r>
              <a:rPr lang="en-IE" sz="3600" dirty="0">
                <a:solidFill>
                  <a:schemeClr val="bg1">
                    <a:lumMod val="50000"/>
                  </a:schemeClr>
                </a:solidFill>
              </a:rPr>
              <a:t>Using BETWEEN…AND</a:t>
            </a:r>
          </a:p>
          <a:p>
            <a:pPr>
              <a:spcBef>
                <a:spcPts val="3600"/>
              </a:spcBef>
            </a:pPr>
            <a:r>
              <a:rPr lang="en-IE" sz="3600" dirty="0">
                <a:solidFill>
                  <a:schemeClr val="bg1">
                    <a:lumMod val="50000"/>
                  </a:schemeClr>
                </a:solidFill>
              </a:rPr>
              <a:t>Using IN</a:t>
            </a:r>
          </a:p>
          <a:p>
            <a:pPr>
              <a:spcBef>
                <a:spcPts val="3600"/>
              </a:spcBef>
            </a:pPr>
            <a:r>
              <a:rPr lang="en-IE" sz="3600" dirty="0">
                <a:solidFill>
                  <a:schemeClr val="bg1">
                    <a:lumMod val="50000"/>
                  </a:schemeClr>
                </a:solidFill>
              </a:rPr>
              <a:t>IS NULL</a:t>
            </a:r>
          </a:p>
          <a:p>
            <a:pPr>
              <a:spcBef>
                <a:spcPts val="3600"/>
              </a:spcBef>
            </a:pPr>
            <a:r>
              <a:rPr lang="en-IE" sz="3600" dirty="0">
                <a:solidFill>
                  <a:schemeClr val="bg1">
                    <a:lumMod val="50000"/>
                  </a:schemeClr>
                </a:solidFill>
              </a:rPr>
              <a:t>Using ORDER BY</a:t>
            </a:r>
          </a:p>
          <a:p>
            <a:pPr>
              <a:spcBef>
                <a:spcPts val="3600"/>
              </a:spcBef>
            </a:pPr>
            <a:r>
              <a:rPr lang="en-IE" sz="3600" dirty="0">
                <a:solidFill>
                  <a:schemeClr val="bg1">
                    <a:lumMod val="50000"/>
                  </a:schemeClr>
                </a:solidFill>
              </a:rPr>
              <a:t>Date Functions</a:t>
            </a:r>
          </a:p>
          <a:p>
            <a:pPr>
              <a:spcBef>
                <a:spcPts val="3600"/>
              </a:spcBef>
            </a:pPr>
            <a:r>
              <a:rPr lang="en-IE" sz="3600" dirty="0">
                <a:solidFill>
                  <a:schemeClr val="bg1">
                    <a:lumMod val="50000"/>
                  </a:schemeClr>
                </a:solidFill>
              </a:rPr>
              <a:t>Calculations</a:t>
            </a:r>
          </a:p>
          <a:p>
            <a:endParaRPr lang="en-IE" dirty="0"/>
          </a:p>
        </p:txBody>
      </p:sp>
    </p:spTree>
    <p:extLst>
      <p:ext uri="{BB962C8B-B14F-4D97-AF65-F5344CB8AC3E}">
        <p14:creationId xmlns:p14="http://schemas.microsoft.com/office/powerpoint/2010/main" val="3174744695"/>
      </p:ext>
    </p:extLst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92143" y="519290"/>
            <a:ext cx="14955977" cy="1885245"/>
          </a:xfrm>
        </p:spPr>
        <p:txBody>
          <a:bodyPr>
            <a:noAutofit/>
          </a:bodyPr>
          <a:lstStyle/>
          <a:p>
            <a:br>
              <a:rPr lang="en-US" dirty="0"/>
            </a:br>
            <a:r>
              <a:rPr lang="en-IE" dirty="0"/>
              <a:t>Using LIKE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92143" y="2596444"/>
            <a:ext cx="14955977" cy="6188570"/>
          </a:xfrm>
        </p:spPr>
        <p:txBody>
          <a:bodyPr>
            <a:normAutofit/>
          </a:bodyPr>
          <a:lstStyle/>
          <a:p>
            <a:endParaRPr lang="en-US" dirty="0"/>
          </a:p>
          <a:p>
            <a:r>
              <a:rPr lang="en-US" dirty="0"/>
              <a:t>With strings if you are using equality (=), you cannot always exactly match the data, so nothing will be returned. Pattern Matching through the LIKE clause allows you to enter a string with one or more wildcard characters. The % is a wildcard character meaning 0 or more characters.</a:t>
            </a:r>
          </a:p>
          <a:p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9D93396-1B0B-E2A6-1E48-93104B4FEB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79131" y="6553200"/>
            <a:ext cx="7812680" cy="1714503"/>
          </a:xfrm>
          <a:prstGeom prst="rect">
            <a:avLst/>
          </a:prstGeom>
          <a:ln w="38100"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371181603"/>
      </p:ext>
    </p:extLst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Topics List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pPr>
              <a:spcBef>
                <a:spcPts val="3600"/>
              </a:spcBef>
            </a:pPr>
            <a:r>
              <a:rPr lang="en-IE" sz="3600" dirty="0">
                <a:solidFill>
                  <a:schemeClr val="bg1">
                    <a:lumMod val="50000"/>
                  </a:schemeClr>
                </a:solidFill>
              </a:rPr>
              <a:t>Using LIKE</a:t>
            </a:r>
          </a:p>
          <a:p>
            <a:pPr>
              <a:spcBef>
                <a:spcPts val="3600"/>
              </a:spcBef>
            </a:pPr>
            <a:r>
              <a:rPr lang="en-IE" sz="3600" dirty="0">
                <a:solidFill>
                  <a:srgbClr val="00B050"/>
                </a:solidFill>
              </a:rPr>
              <a:t>Using BETWEEN…AND</a:t>
            </a:r>
          </a:p>
          <a:p>
            <a:pPr>
              <a:spcBef>
                <a:spcPts val="3600"/>
              </a:spcBef>
            </a:pPr>
            <a:r>
              <a:rPr lang="en-IE" sz="3600" dirty="0">
                <a:solidFill>
                  <a:schemeClr val="bg1">
                    <a:lumMod val="50000"/>
                  </a:schemeClr>
                </a:solidFill>
              </a:rPr>
              <a:t>Using IN</a:t>
            </a:r>
          </a:p>
          <a:p>
            <a:pPr>
              <a:spcBef>
                <a:spcPts val="3600"/>
              </a:spcBef>
            </a:pPr>
            <a:r>
              <a:rPr lang="en-IE" sz="3600" dirty="0">
                <a:solidFill>
                  <a:schemeClr val="bg1">
                    <a:lumMod val="50000"/>
                  </a:schemeClr>
                </a:solidFill>
              </a:rPr>
              <a:t>IS NULL</a:t>
            </a:r>
          </a:p>
          <a:p>
            <a:pPr>
              <a:spcBef>
                <a:spcPts val="3600"/>
              </a:spcBef>
            </a:pPr>
            <a:r>
              <a:rPr lang="en-IE" sz="3600" dirty="0">
                <a:solidFill>
                  <a:schemeClr val="bg1">
                    <a:lumMod val="50000"/>
                  </a:schemeClr>
                </a:solidFill>
              </a:rPr>
              <a:t>Using ORDER BY</a:t>
            </a:r>
          </a:p>
          <a:p>
            <a:pPr>
              <a:spcBef>
                <a:spcPts val="3600"/>
              </a:spcBef>
            </a:pPr>
            <a:r>
              <a:rPr lang="en-IE" sz="3600" dirty="0">
                <a:solidFill>
                  <a:schemeClr val="bg1">
                    <a:lumMod val="50000"/>
                  </a:schemeClr>
                </a:solidFill>
              </a:rPr>
              <a:t>Date Functions</a:t>
            </a:r>
          </a:p>
          <a:p>
            <a:pPr>
              <a:spcBef>
                <a:spcPts val="3600"/>
              </a:spcBef>
            </a:pPr>
            <a:r>
              <a:rPr lang="en-IE" sz="3600" dirty="0">
                <a:solidFill>
                  <a:schemeClr val="bg1">
                    <a:lumMod val="50000"/>
                  </a:schemeClr>
                </a:solidFill>
              </a:rPr>
              <a:t>Calculations</a:t>
            </a:r>
          </a:p>
          <a:p>
            <a:endParaRPr lang="en-IE" dirty="0"/>
          </a:p>
        </p:txBody>
      </p:sp>
    </p:spTree>
    <p:extLst>
      <p:ext uri="{BB962C8B-B14F-4D97-AF65-F5344CB8AC3E}">
        <p14:creationId xmlns:p14="http://schemas.microsoft.com/office/powerpoint/2010/main" val="2342908731"/>
      </p:ext>
    </p:extLst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92143" y="519290"/>
            <a:ext cx="14955977" cy="1885245"/>
          </a:xfrm>
        </p:spPr>
        <p:txBody>
          <a:bodyPr>
            <a:noAutofit/>
          </a:bodyPr>
          <a:lstStyle/>
          <a:p>
            <a:br>
              <a:rPr lang="en-US" dirty="0"/>
            </a:br>
            <a:r>
              <a:rPr lang="en-IE" dirty="0"/>
              <a:t>Using BETWEEN…AND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92143" y="2596444"/>
            <a:ext cx="14955977" cy="6188570"/>
          </a:xfrm>
        </p:spPr>
        <p:txBody>
          <a:bodyPr/>
          <a:lstStyle/>
          <a:p>
            <a:endParaRPr lang="en-US" dirty="0"/>
          </a:p>
          <a:p>
            <a:r>
              <a:rPr lang="en-US" dirty="0"/>
              <a:t>With numeric data, if you want to return records where one data field is in a particular range, then we use the </a:t>
            </a:r>
            <a:r>
              <a:rPr lang="en-IE" dirty="0"/>
              <a:t>BETWEEN…AND clause.</a:t>
            </a:r>
            <a:r>
              <a:rPr lang="en-US" dirty="0"/>
              <a:t>	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AFABDCC-F28B-2650-D4CF-8B1940D445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17331" y="4953000"/>
            <a:ext cx="5858872" cy="1681027"/>
          </a:xfrm>
          <a:prstGeom prst="rect">
            <a:avLst/>
          </a:prstGeom>
          <a:ln w="38100"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2347346777"/>
      </p:ext>
    </p:extLst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Topics List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pPr>
              <a:spcBef>
                <a:spcPts val="3600"/>
              </a:spcBef>
            </a:pPr>
            <a:r>
              <a:rPr lang="en-IE" sz="3600" dirty="0">
                <a:solidFill>
                  <a:schemeClr val="bg1">
                    <a:lumMod val="50000"/>
                  </a:schemeClr>
                </a:solidFill>
              </a:rPr>
              <a:t>Using LIKE</a:t>
            </a:r>
          </a:p>
          <a:p>
            <a:pPr>
              <a:spcBef>
                <a:spcPts val="3600"/>
              </a:spcBef>
            </a:pPr>
            <a:r>
              <a:rPr lang="en-IE" sz="3600" dirty="0">
                <a:solidFill>
                  <a:schemeClr val="bg1">
                    <a:lumMod val="50000"/>
                  </a:schemeClr>
                </a:solidFill>
              </a:rPr>
              <a:t>Using BETWEEN…AND</a:t>
            </a:r>
          </a:p>
          <a:p>
            <a:pPr>
              <a:spcBef>
                <a:spcPts val="3600"/>
              </a:spcBef>
            </a:pPr>
            <a:r>
              <a:rPr lang="en-IE" sz="3600" dirty="0">
                <a:solidFill>
                  <a:srgbClr val="00B050"/>
                </a:solidFill>
              </a:rPr>
              <a:t>Using IN</a:t>
            </a:r>
          </a:p>
          <a:p>
            <a:pPr>
              <a:spcBef>
                <a:spcPts val="3600"/>
              </a:spcBef>
            </a:pPr>
            <a:r>
              <a:rPr lang="en-IE" sz="3600" dirty="0">
                <a:solidFill>
                  <a:schemeClr val="bg1">
                    <a:lumMod val="50000"/>
                  </a:schemeClr>
                </a:solidFill>
              </a:rPr>
              <a:t>IS NULL</a:t>
            </a:r>
            <a:endParaRPr lang="en-IE" sz="3600" dirty="0">
              <a:solidFill>
                <a:srgbClr val="00B050"/>
              </a:solidFill>
            </a:endParaRPr>
          </a:p>
          <a:p>
            <a:pPr>
              <a:spcBef>
                <a:spcPts val="3600"/>
              </a:spcBef>
            </a:pPr>
            <a:r>
              <a:rPr lang="en-IE" sz="3600" dirty="0">
                <a:solidFill>
                  <a:schemeClr val="bg1">
                    <a:lumMod val="50000"/>
                  </a:schemeClr>
                </a:solidFill>
              </a:rPr>
              <a:t>Using ORDER BY</a:t>
            </a:r>
          </a:p>
          <a:p>
            <a:pPr>
              <a:spcBef>
                <a:spcPts val="3600"/>
              </a:spcBef>
            </a:pPr>
            <a:r>
              <a:rPr lang="en-IE" sz="3600" dirty="0">
                <a:solidFill>
                  <a:schemeClr val="bg1">
                    <a:lumMod val="50000"/>
                  </a:schemeClr>
                </a:solidFill>
              </a:rPr>
              <a:t>Date Functions</a:t>
            </a:r>
          </a:p>
          <a:p>
            <a:pPr>
              <a:spcBef>
                <a:spcPts val="3600"/>
              </a:spcBef>
            </a:pPr>
            <a:r>
              <a:rPr lang="en-IE" sz="3600" dirty="0">
                <a:solidFill>
                  <a:schemeClr val="bg1">
                    <a:lumMod val="50000"/>
                  </a:schemeClr>
                </a:solidFill>
              </a:rPr>
              <a:t>Calculations</a:t>
            </a:r>
          </a:p>
          <a:p>
            <a:endParaRPr lang="en-IE" dirty="0"/>
          </a:p>
        </p:txBody>
      </p:sp>
    </p:spTree>
    <p:extLst>
      <p:ext uri="{BB962C8B-B14F-4D97-AF65-F5344CB8AC3E}">
        <p14:creationId xmlns:p14="http://schemas.microsoft.com/office/powerpoint/2010/main" val="2780711925"/>
      </p:ext>
    </p:extLst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92143" y="519290"/>
            <a:ext cx="14955977" cy="1885245"/>
          </a:xfrm>
        </p:spPr>
        <p:txBody>
          <a:bodyPr>
            <a:noAutofit/>
          </a:bodyPr>
          <a:lstStyle/>
          <a:p>
            <a:br>
              <a:rPr lang="en-US" dirty="0"/>
            </a:br>
            <a:r>
              <a:rPr lang="en-IE" dirty="0"/>
              <a:t>Using IN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92143" y="2596444"/>
            <a:ext cx="14955977" cy="6188570"/>
          </a:xfrm>
        </p:spPr>
        <p:txBody>
          <a:bodyPr>
            <a:normAutofit/>
          </a:bodyPr>
          <a:lstStyle/>
          <a:p>
            <a:endParaRPr lang="en-US" dirty="0"/>
          </a:p>
          <a:p>
            <a:r>
              <a:rPr lang="en-US" dirty="0"/>
              <a:t>The IN clause means one of the following (from a list). It is useful when there are a few alternatives for a data field value.</a:t>
            </a:r>
          </a:p>
          <a:p>
            <a:pPr marL="1300460" lvl="2" indent="0">
              <a:buNone/>
            </a:pPr>
            <a:r>
              <a:rPr lang="en-US" dirty="0"/>
              <a:t>	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DB5E220-D526-9806-B601-9E84D735B3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01522" y="5105400"/>
            <a:ext cx="11937218" cy="1457327"/>
          </a:xfrm>
          <a:prstGeom prst="rect">
            <a:avLst/>
          </a:prstGeom>
          <a:ln w="38100"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3612387533"/>
      </p:ext>
    </p:extLst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Topics List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pPr>
              <a:spcBef>
                <a:spcPts val="3600"/>
              </a:spcBef>
            </a:pPr>
            <a:r>
              <a:rPr lang="en-IE" sz="3600" dirty="0">
                <a:solidFill>
                  <a:schemeClr val="bg1">
                    <a:lumMod val="50000"/>
                  </a:schemeClr>
                </a:solidFill>
              </a:rPr>
              <a:t>Using LIKE</a:t>
            </a:r>
          </a:p>
          <a:p>
            <a:pPr>
              <a:spcBef>
                <a:spcPts val="3600"/>
              </a:spcBef>
            </a:pPr>
            <a:r>
              <a:rPr lang="en-IE" sz="3600" dirty="0">
                <a:solidFill>
                  <a:schemeClr val="bg1">
                    <a:lumMod val="50000"/>
                  </a:schemeClr>
                </a:solidFill>
              </a:rPr>
              <a:t>Using BETWEEN…AND</a:t>
            </a:r>
          </a:p>
          <a:p>
            <a:pPr>
              <a:spcBef>
                <a:spcPts val="3600"/>
              </a:spcBef>
            </a:pPr>
            <a:r>
              <a:rPr lang="en-IE" sz="3600" dirty="0">
                <a:solidFill>
                  <a:schemeClr val="bg1">
                    <a:lumMod val="50000"/>
                  </a:schemeClr>
                </a:solidFill>
              </a:rPr>
              <a:t>Using IN</a:t>
            </a:r>
          </a:p>
          <a:p>
            <a:pPr>
              <a:spcBef>
                <a:spcPts val="3600"/>
              </a:spcBef>
            </a:pPr>
            <a:r>
              <a:rPr lang="en-IE" sz="3600" dirty="0">
                <a:solidFill>
                  <a:srgbClr val="00B050"/>
                </a:solidFill>
              </a:rPr>
              <a:t>IS NULL</a:t>
            </a:r>
          </a:p>
          <a:p>
            <a:pPr>
              <a:spcBef>
                <a:spcPts val="3600"/>
              </a:spcBef>
            </a:pPr>
            <a:r>
              <a:rPr lang="en-IE" sz="3600" dirty="0">
                <a:solidFill>
                  <a:schemeClr val="bg1">
                    <a:lumMod val="50000"/>
                  </a:schemeClr>
                </a:solidFill>
              </a:rPr>
              <a:t>Using ORDER BY</a:t>
            </a:r>
          </a:p>
          <a:p>
            <a:pPr>
              <a:spcBef>
                <a:spcPts val="3600"/>
              </a:spcBef>
            </a:pPr>
            <a:r>
              <a:rPr lang="en-IE" sz="3600" dirty="0">
                <a:solidFill>
                  <a:schemeClr val="bg1">
                    <a:lumMod val="50000"/>
                  </a:schemeClr>
                </a:solidFill>
              </a:rPr>
              <a:t>Date Functions</a:t>
            </a:r>
          </a:p>
          <a:p>
            <a:pPr>
              <a:spcBef>
                <a:spcPts val="3600"/>
              </a:spcBef>
            </a:pPr>
            <a:r>
              <a:rPr lang="en-IE" sz="3600" dirty="0">
                <a:solidFill>
                  <a:schemeClr val="bg1">
                    <a:lumMod val="50000"/>
                  </a:schemeClr>
                </a:solidFill>
              </a:rPr>
              <a:t>Calculations</a:t>
            </a:r>
          </a:p>
          <a:p>
            <a:endParaRPr lang="en-IE" dirty="0"/>
          </a:p>
        </p:txBody>
      </p:sp>
    </p:spTree>
    <p:extLst>
      <p:ext uri="{BB962C8B-B14F-4D97-AF65-F5344CB8AC3E}">
        <p14:creationId xmlns:p14="http://schemas.microsoft.com/office/powerpoint/2010/main" val="3526116697"/>
      </p:ext>
    </p:extLst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92143" y="519290"/>
            <a:ext cx="14955977" cy="1885245"/>
          </a:xfrm>
        </p:spPr>
        <p:txBody>
          <a:bodyPr>
            <a:noAutofit/>
          </a:bodyPr>
          <a:lstStyle/>
          <a:p>
            <a:br>
              <a:rPr lang="en-US" dirty="0"/>
            </a:br>
            <a:r>
              <a:rPr lang="en-IE" dirty="0"/>
              <a:t>IS NULL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92143" y="2596444"/>
            <a:ext cx="14955977" cy="6188570"/>
          </a:xfrm>
        </p:spPr>
        <p:txBody>
          <a:bodyPr>
            <a:normAutofit/>
          </a:bodyPr>
          <a:lstStyle/>
          <a:p>
            <a:r>
              <a:rPr lang="en-GB" dirty="0"/>
              <a:t>A NULL value exists in a database where a piece of data is missing or not filled in. It means the value is unknown or not available. </a:t>
            </a:r>
          </a:p>
          <a:p>
            <a:r>
              <a:rPr lang="en-GB" dirty="0"/>
              <a:t>It is not zero or an empty string.</a:t>
            </a:r>
          </a:p>
          <a:p>
            <a:r>
              <a:rPr lang="en-GB" dirty="0"/>
              <a:t>For example, when entering information into a table not all the information may be to hand at the time of data entry and so may be left NULL. </a:t>
            </a:r>
          </a:p>
          <a:p>
            <a:r>
              <a:rPr lang="en-GB" dirty="0"/>
              <a:t>Sometimes we may want to find out where these NULL values are by using IS NULL. Alternatively ,we can use IS NOT NULL for negation.</a:t>
            </a:r>
            <a:r>
              <a:rPr lang="en-US" dirty="0"/>
              <a:t>          	</a:t>
            </a:r>
          </a:p>
        </p:txBody>
      </p:sp>
    </p:spTree>
    <p:extLst>
      <p:ext uri="{BB962C8B-B14F-4D97-AF65-F5344CB8AC3E}">
        <p14:creationId xmlns:p14="http://schemas.microsoft.com/office/powerpoint/2010/main" val="3478917842"/>
      </p:ext>
    </p:extLst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92143" y="519290"/>
            <a:ext cx="14955977" cy="1885245"/>
          </a:xfrm>
        </p:spPr>
        <p:txBody>
          <a:bodyPr>
            <a:noAutofit/>
          </a:bodyPr>
          <a:lstStyle/>
          <a:p>
            <a:br>
              <a:rPr lang="en-US" dirty="0"/>
            </a:br>
            <a:r>
              <a:rPr lang="en-IE" dirty="0"/>
              <a:t>IS NULL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92143" y="2596444"/>
            <a:ext cx="14955977" cy="6188570"/>
          </a:xfrm>
        </p:spPr>
        <p:txBody>
          <a:bodyPr>
            <a:normAutofit/>
          </a:bodyPr>
          <a:lstStyle/>
          <a:p>
            <a:endParaRPr lang="en-GB" dirty="0"/>
          </a:p>
          <a:p>
            <a:r>
              <a:rPr lang="en-GB" dirty="0"/>
              <a:t>If a Trainer left the GYM, any classes associated with him/her would result in the PPS value being updated to NULL. To check for this, we could use:</a:t>
            </a:r>
            <a:r>
              <a:rPr lang="en-US" dirty="0"/>
              <a:t>	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10A1F22-9F62-AC56-BB5D-BBD9D56FF1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88931" y="5257800"/>
            <a:ext cx="3199707" cy="1502892"/>
          </a:xfrm>
          <a:prstGeom prst="rect">
            <a:avLst/>
          </a:prstGeom>
          <a:ln w="38100"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1444685410"/>
      </p:ext>
    </p:extLst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Topics List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pPr>
              <a:spcBef>
                <a:spcPts val="3600"/>
              </a:spcBef>
            </a:pPr>
            <a:r>
              <a:rPr lang="en-IE" sz="3600" dirty="0">
                <a:solidFill>
                  <a:schemeClr val="bg1">
                    <a:lumMod val="50000"/>
                  </a:schemeClr>
                </a:solidFill>
              </a:rPr>
              <a:t>Using LIKE</a:t>
            </a:r>
          </a:p>
          <a:p>
            <a:pPr>
              <a:spcBef>
                <a:spcPts val="3600"/>
              </a:spcBef>
            </a:pPr>
            <a:r>
              <a:rPr lang="en-IE" sz="3600" dirty="0">
                <a:solidFill>
                  <a:schemeClr val="bg1">
                    <a:lumMod val="50000"/>
                  </a:schemeClr>
                </a:solidFill>
              </a:rPr>
              <a:t>Using BETWEEN…AND</a:t>
            </a:r>
          </a:p>
          <a:p>
            <a:pPr>
              <a:spcBef>
                <a:spcPts val="3600"/>
              </a:spcBef>
            </a:pPr>
            <a:r>
              <a:rPr lang="en-IE" sz="3600" dirty="0">
                <a:solidFill>
                  <a:schemeClr val="bg1">
                    <a:lumMod val="50000"/>
                  </a:schemeClr>
                </a:solidFill>
              </a:rPr>
              <a:t>Using IN</a:t>
            </a:r>
          </a:p>
          <a:p>
            <a:pPr>
              <a:spcBef>
                <a:spcPts val="3600"/>
              </a:spcBef>
            </a:pPr>
            <a:r>
              <a:rPr lang="en-IE" sz="3600" dirty="0">
                <a:solidFill>
                  <a:schemeClr val="bg1">
                    <a:lumMod val="50000"/>
                  </a:schemeClr>
                </a:solidFill>
              </a:rPr>
              <a:t>IS NULL</a:t>
            </a:r>
          </a:p>
          <a:p>
            <a:pPr>
              <a:spcBef>
                <a:spcPts val="3600"/>
              </a:spcBef>
            </a:pPr>
            <a:r>
              <a:rPr lang="en-IE" sz="3600" dirty="0">
                <a:solidFill>
                  <a:srgbClr val="00B050"/>
                </a:solidFill>
              </a:rPr>
              <a:t>Using ORDER BY</a:t>
            </a:r>
          </a:p>
          <a:p>
            <a:pPr>
              <a:spcBef>
                <a:spcPts val="3600"/>
              </a:spcBef>
            </a:pPr>
            <a:r>
              <a:rPr lang="en-IE" sz="3600" dirty="0">
                <a:solidFill>
                  <a:schemeClr val="bg1">
                    <a:lumMod val="50000"/>
                  </a:schemeClr>
                </a:solidFill>
              </a:rPr>
              <a:t>Date Functions</a:t>
            </a:r>
          </a:p>
          <a:p>
            <a:pPr>
              <a:spcBef>
                <a:spcPts val="3600"/>
              </a:spcBef>
            </a:pPr>
            <a:r>
              <a:rPr lang="en-IE" sz="3600" dirty="0">
                <a:solidFill>
                  <a:schemeClr val="bg1">
                    <a:lumMod val="50000"/>
                  </a:schemeClr>
                </a:solidFill>
              </a:rPr>
              <a:t>Calculations</a:t>
            </a:r>
            <a:endParaRPr lang="en-IE" sz="3600" dirty="0">
              <a:solidFill>
                <a:srgbClr val="00B050"/>
              </a:solidFill>
            </a:endParaRPr>
          </a:p>
          <a:p>
            <a:endParaRPr lang="en-IE" dirty="0"/>
          </a:p>
        </p:txBody>
      </p:sp>
    </p:spTree>
    <p:extLst>
      <p:ext uri="{BB962C8B-B14F-4D97-AF65-F5344CB8AC3E}">
        <p14:creationId xmlns:p14="http://schemas.microsoft.com/office/powerpoint/2010/main" val="3706792283"/>
      </p:ext>
    </p:extLst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92143" y="519290"/>
            <a:ext cx="14955977" cy="1885245"/>
          </a:xfrm>
        </p:spPr>
        <p:txBody>
          <a:bodyPr>
            <a:noAutofit/>
          </a:bodyPr>
          <a:lstStyle/>
          <a:p>
            <a:br>
              <a:rPr lang="en-US" dirty="0"/>
            </a:br>
            <a:r>
              <a:rPr lang="en-IE" dirty="0"/>
              <a:t>Using ORDER BY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92143" y="2596444"/>
            <a:ext cx="14955977" cy="6188570"/>
          </a:xfrm>
        </p:spPr>
        <p:txBody>
          <a:bodyPr>
            <a:normAutofit/>
          </a:bodyPr>
          <a:lstStyle/>
          <a:p>
            <a:endParaRPr lang="en-US" dirty="0"/>
          </a:p>
          <a:p>
            <a:r>
              <a:rPr lang="en-US" dirty="0"/>
              <a:t>The </a:t>
            </a:r>
            <a:r>
              <a:rPr lang="en-IE" dirty="0"/>
              <a:t>ORDER BY clause </a:t>
            </a:r>
            <a:r>
              <a:rPr lang="en-US" dirty="0"/>
              <a:t>sorts the returned data in the order specified. The default is ASC (ascending), use DESC for descending order.</a:t>
            </a:r>
          </a:p>
          <a:p>
            <a:pPr marL="1300460" lvl="2" indent="0">
              <a:buNone/>
            </a:pP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A02F0FF-7152-DFAF-D16A-6F7B114A80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15622" y="5334000"/>
            <a:ext cx="8509018" cy="15954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8259558"/>
      </p:ext>
    </p:extLst>
  </p:cSld>
  <p:clrMapOvr>
    <a:masterClrMapping/>
  </p:clrMapOvr>
  <p:transition spd="med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E7BC6C-08EF-F239-38E6-263028F182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08C484-759A-655F-4545-D460DBA3E6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Topics List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1B8F996-BA51-8778-BFC0-F6D321E6B70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pPr>
              <a:spcBef>
                <a:spcPts val="3600"/>
              </a:spcBef>
            </a:pPr>
            <a:r>
              <a:rPr lang="en-IE" sz="3600" dirty="0">
                <a:solidFill>
                  <a:schemeClr val="bg1">
                    <a:lumMod val="50000"/>
                  </a:schemeClr>
                </a:solidFill>
              </a:rPr>
              <a:t>Using LIKE</a:t>
            </a:r>
          </a:p>
          <a:p>
            <a:pPr>
              <a:spcBef>
                <a:spcPts val="3600"/>
              </a:spcBef>
            </a:pPr>
            <a:r>
              <a:rPr lang="en-IE" sz="3600" dirty="0">
                <a:solidFill>
                  <a:schemeClr val="bg1">
                    <a:lumMod val="50000"/>
                  </a:schemeClr>
                </a:solidFill>
              </a:rPr>
              <a:t>Using BETWEEN…AND</a:t>
            </a:r>
          </a:p>
          <a:p>
            <a:pPr>
              <a:spcBef>
                <a:spcPts val="3600"/>
              </a:spcBef>
            </a:pPr>
            <a:r>
              <a:rPr lang="en-IE" sz="3600" dirty="0">
                <a:solidFill>
                  <a:schemeClr val="bg1">
                    <a:lumMod val="50000"/>
                  </a:schemeClr>
                </a:solidFill>
              </a:rPr>
              <a:t>Using IN</a:t>
            </a:r>
          </a:p>
          <a:p>
            <a:pPr>
              <a:spcBef>
                <a:spcPts val="3600"/>
              </a:spcBef>
            </a:pPr>
            <a:r>
              <a:rPr lang="en-IE" sz="3600" dirty="0">
                <a:solidFill>
                  <a:schemeClr val="bg1">
                    <a:lumMod val="50000"/>
                  </a:schemeClr>
                </a:solidFill>
              </a:rPr>
              <a:t>IS NULL</a:t>
            </a:r>
          </a:p>
          <a:p>
            <a:pPr>
              <a:lnSpc>
                <a:spcPct val="100000"/>
              </a:lnSpc>
              <a:spcBef>
                <a:spcPts val="3600"/>
              </a:spcBef>
            </a:pPr>
            <a:r>
              <a:rPr lang="en-IE" sz="3600" dirty="0">
                <a:solidFill>
                  <a:schemeClr val="bg1">
                    <a:lumMod val="50000"/>
                  </a:schemeClr>
                </a:solidFill>
              </a:rPr>
              <a:t>Using ORDER BY</a:t>
            </a:r>
          </a:p>
          <a:p>
            <a:pPr>
              <a:spcBef>
                <a:spcPts val="3600"/>
              </a:spcBef>
            </a:pPr>
            <a:r>
              <a:rPr lang="en-IE" sz="3600" dirty="0">
                <a:solidFill>
                  <a:srgbClr val="00B050"/>
                </a:solidFill>
              </a:rPr>
              <a:t>Date Functions</a:t>
            </a:r>
          </a:p>
          <a:p>
            <a:pPr>
              <a:spcBef>
                <a:spcPts val="3600"/>
              </a:spcBef>
            </a:pPr>
            <a:r>
              <a:rPr lang="en-IE" sz="3600" dirty="0">
                <a:solidFill>
                  <a:schemeClr val="bg1">
                    <a:lumMod val="50000"/>
                  </a:schemeClr>
                </a:solidFill>
              </a:rPr>
              <a:t>Calculations</a:t>
            </a:r>
            <a:endParaRPr lang="en-IE" sz="3600" dirty="0">
              <a:solidFill>
                <a:srgbClr val="00B050"/>
              </a:solidFill>
            </a:endParaRPr>
          </a:p>
          <a:p>
            <a:endParaRPr lang="en-IE" dirty="0"/>
          </a:p>
        </p:txBody>
      </p:sp>
    </p:spTree>
    <p:extLst>
      <p:ext uri="{BB962C8B-B14F-4D97-AF65-F5344CB8AC3E}">
        <p14:creationId xmlns:p14="http://schemas.microsoft.com/office/powerpoint/2010/main" val="194574259"/>
      </p:ext>
    </p:extLst>
  </p:cSld>
  <p:clrMapOvr>
    <a:masterClrMapping/>
  </p:clrMapOvr>
  <p:transition spd="med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92143" y="519290"/>
            <a:ext cx="14955977" cy="1885245"/>
          </a:xfrm>
        </p:spPr>
        <p:txBody>
          <a:bodyPr>
            <a:normAutofit/>
          </a:bodyPr>
          <a:lstStyle/>
          <a:p>
            <a:br>
              <a:rPr lang="en-US" dirty="0"/>
            </a:br>
            <a:r>
              <a:rPr lang="en-US" dirty="0"/>
              <a:t>Using Date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92143" y="2596444"/>
            <a:ext cx="14955977" cy="6188570"/>
          </a:xfrm>
        </p:spPr>
        <p:txBody>
          <a:bodyPr/>
          <a:lstStyle/>
          <a:p>
            <a:r>
              <a:rPr lang="en-US" dirty="0"/>
              <a:t>You can ascertain the current date and/or time from the system in MySQL.</a:t>
            </a:r>
          </a:p>
          <a:p>
            <a:endParaRPr lang="en-US" dirty="0"/>
          </a:p>
          <a:p>
            <a:r>
              <a:rPr lang="en-US" dirty="0"/>
              <a:t>Current date in the format '</a:t>
            </a:r>
            <a:r>
              <a:rPr lang="en-US" dirty="0" err="1"/>
              <a:t>yyyy</a:t>
            </a:r>
            <a:r>
              <a:rPr lang="en-US" dirty="0"/>
              <a:t>-mm-dd’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Current date and time in the format '</a:t>
            </a:r>
            <a:r>
              <a:rPr lang="en-US" dirty="0" err="1"/>
              <a:t>yyyy</a:t>
            </a:r>
            <a:r>
              <a:rPr lang="en-US" dirty="0"/>
              <a:t>-mm-dd </a:t>
            </a:r>
            <a:r>
              <a:rPr lang="en-US" dirty="0" err="1"/>
              <a:t>hh:mm:ss</a:t>
            </a:r>
            <a:r>
              <a:rPr lang="en-US" dirty="0"/>
              <a:t>'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1A436E9-4A70-50C4-ADDB-AB360D7274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1000" y="5562600"/>
            <a:ext cx="7086606" cy="457200"/>
          </a:xfrm>
          <a:prstGeom prst="rect">
            <a:avLst/>
          </a:prstGeom>
          <a:ln w="38100">
            <a:solidFill>
              <a:schemeClr val="accent1"/>
            </a:solidFill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BA3E6C2-E419-FBAB-FD52-F45A3DA2FF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79131" y="7924800"/>
            <a:ext cx="7530345" cy="457199"/>
          </a:xfrm>
          <a:prstGeom prst="rect">
            <a:avLst/>
          </a:prstGeom>
          <a:ln w="38100"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311168832"/>
      </p:ext>
    </p:extLst>
  </p:cSld>
  <p:clrMapOvr>
    <a:masterClrMapping/>
  </p:clrMapOvr>
  <p:transition spd="med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92143" y="519290"/>
            <a:ext cx="14955977" cy="1885245"/>
          </a:xfrm>
        </p:spPr>
        <p:txBody>
          <a:bodyPr>
            <a:normAutofit/>
          </a:bodyPr>
          <a:lstStyle/>
          <a:p>
            <a:br>
              <a:rPr lang="en-US" dirty="0"/>
            </a:br>
            <a:r>
              <a:rPr lang="en-US" dirty="0"/>
              <a:t>Using Date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92143" y="2596444"/>
            <a:ext cx="14955977" cy="6188570"/>
          </a:xfrm>
        </p:spPr>
        <p:txBody>
          <a:bodyPr/>
          <a:lstStyle/>
          <a:p>
            <a:endParaRPr lang="en-US" dirty="0"/>
          </a:p>
          <a:p>
            <a:r>
              <a:rPr lang="en-US" dirty="0"/>
              <a:t>To display the date in a more readable fashion, we can apply the DATE_FORMAT function, which allows you to display the date in whatever format you want using parameters.</a:t>
            </a:r>
          </a:p>
          <a:p>
            <a:endParaRPr lang="en-GB" dirty="0"/>
          </a:p>
          <a:p>
            <a:r>
              <a:rPr lang="en-GB" dirty="0"/>
              <a:t>DATE_FORMAT has 2 parameters:</a:t>
            </a:r>
          </a:p>
          <a:p>
            <a:pPr lvl="1"/>
            <a:r>
              <a:rPr lang="en-GB" dirty="0"/>
              <a:t>date: The date to be formatted, it is a required value.</a:t>
            </a:r>
          </a:p>
          <a:p>
            <a:pPr lvl="1"/>
            <a:r>
              <a:rPr lang="en-GB" dirty="0"/>
              <a:t>format: The format to use, it is also a required value. The format can be one or a combination of values.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81056916"/>
      </p:ext>
    </p:extLst>
  </p:cSld>
  <p:clrMapOvr>
    <a:masterClrMapping/>
  </p:clrMapOvr>
  <p:transition spd="med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92143" y="519290"/>
            <a:ext cx="14955977" cy="1885245"/>
          </a:xfrm>
        </p:spPr>
        <p:txBody>
          <a:bodyPr>
            <a:noAutofit/>
          </a:bodyPr>
          <a:lstStyle/>
          <a:p>
            <a:br>
              <a:rPr lang="en-US" dirty="0"/>
            </a:br>
            <a:r>
              <a:rPr lang="en-US" dirty="0"/>
              <a:t>Using Date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92143" y="2596444"/>
            <a:ext cx="14955977" cy="6188570"/>
          </a:xfrm>
        </p:spPr>
        <p:txBody>
          <a:bodyPr/>
          <a:lstStyle/>
          <a:p>
            <a:r>
              <a:rPr lang="en-GB" dirty="0"/>
              <a:t>Selection of format values: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D7C8B07-6AC3-41E8-BBFC-197ABFEC5E9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30770" y="3494902"/>
            <a:ext cx="10818137" cy="450609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C976831-0480-2C50-8399-4131FD58DB09}"/>
              </a:ext>
            </a:extLst>
          </p:cNvPr>
          <p:cNvSpPr txBox="1"/>
          <p:nvPr/>
        </p:nvSpPr>
        <p:spPr>
          <a:xfrm>
            <a:off x="4230716" y="9003477"/>
            <a:ext cx="131826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E" sz="2400" dirty="0">
                <a:hlinkClick r:id="rId3"/>
              </a:rPr>
              <a:t>https://dev.mysql.com/doc/refman/8.4/en/date-and-time-functions.html#function_date-format</a:t>
            </a:r>
            <a:r>
              <a:rPr lang="en-IE" sz="24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664134782"/>
      </p:ext>
    </p:extLst>
  </p:cSld>
  <p:clrMapOvr>
    <a:masterClrMapping/>
  </p:clrMapOvr>
  <p:transition spd="med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92143" y="519290"/>
            <a:ext cx="14955977" cy="1885245"/>
          </a:xfrm>
        </p:spPr>
        <p:txBody>
          <a:bodyPr>
            <a:noAutofit/>
          </a:bodyPr>
          <a:lstStyle/>
          <a:p>
            <a:br>
              <a:rPr lang="en-US" dirty="0"/>
            </a:br>
            <a:r>
              <a:rPr lang="en-US" dirty="0"/>
              <a:t>Using Date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92143" y="2596444"/>
            <a:ext cx="14955977" cy="6188570"/>
          </a:xfrm>
        </p:spPr>
        <p:txBody>
          <a:bodyPr/>
          <a:lstStyle/>
          <a:p>
            <a:r>
              <a:rPr lang="en-US" dirty="0"/>
              <a:t>For example, to return the current date in the format of                                         </a:t>
            </a:r>
          </a:p>
          <a:p>
            <a:pPr lvl="1"/>
            <a:r>
              <a:rPr lang="en-US" dirty="0"/>
              <a:t>date of month (01 to 31) </a:t>
            </a:r>
          </a:p>
          <a:p>
            <a:pPr lvl="1"/>
            <a:r>
              <a:rPr lang="en-US" dirty="0"/>
              <a:t>abbreviated month name  (Jan, Feb, …)</a:t>
            </a:r>
          </a:p>
          <a:p>
            <a:pPr lvl="1"/>
            <a:r>
              <a:rPr lang="en-US" dirty="0"/>
              <a:t>numeric year (2-digit, 23)</a:t>
            </a:r>
          </a:p>
          <a:p>
            <a:endParaRPr lang="en-US" dirty="0"/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507CAC9-8293-2708-BA97-99D6D34E5B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88531" y="5562600"/>
            <a:ext cx="9767912" cy="1200153"/>
          </a:xfrm>
          <a:prstGeom prst="rect">
            <a:avLst/>
          </a:prstGeom>
          <a:ln w="38100"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181671653"/>
      </p:ext>
    </p:extLst>
  </p:cSld>
  <p:clrMapOvr>
    <a:masterClrMapping/>
  </p:clrMapOvr>
  <p:transition spd="med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92143" y="519290"/>
            <a:ext cx="14955977" cy="1885245"/>
          </a:xfrm>
        </p:spPr>
        <p:txBody>
          <a:bodyPr>
            <a:noAutofit/>
          </a:bodyPr>
          <a:lstStyle/>
          <a:p>
            <a:br>
              <a:rPr lang="en-US" dirty="0"/>
            </a:br>
            <a:r>
              <a:rPr lang="en-US" dirty="0"/>
              <a:t>Using Date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92143" y="2596444"/>
            <a:ext cx="14955977" cy="6188570"/>
          </a:xfrm>
        </p:spPr>
        <p:txBody>
          <a:bodyPr/>
          <a:lstStyle/>
          <a:p>
            <a:r>
              <a:rPr lang="en-US" dirty="0"/>
              <a:t>For example, to return the current date in the format of                                         </a:t>
            </a:r>
          </a:p>
          <a:p>
            <a:pPr lvl="1"/>
            <a:r>
              <a:rPr lang="en-US" dirty="0"/>
              <a:t>day of week (Sunday, Monday, …) </a:t>
            </a:r>
          </a:p>
          <a:p>
            <a:pPr lvl="1"/>
            <a:r>
              <a:rPr lang="en-US" dirty="0"/>
              <a:t>month name (January, February, …)</a:t>
            </a:r>
          </a:p>
          <a:p>
            <a:pPr lvl="1"/>
            <a:r>
              <a:rPr lang="en-US" dirty="0"/>
              <a:t>date of month (1st, 2nd,  …)</a:t>
            </a:r>
          </a:p>
          <a:p>
            <a:pPr lvl="1"/>
            <a:r>
              <a:rPr lang="en-US" dirty="0"/>
              <a:t>numeric year (4-digit, 2026)</a:t>
            </a:r>
          </a:p>
          <a:p>
            <a:endParaRPr lang="en-US" dirty="0"/>
          </a:p>
          <a:p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1F2210D-2231-085F-23FF-26C72EA58B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0731" y="5943600"/>
            <a:ext cx="12021791" cy="1281320"/>
          </a:xfrm>
          <a:prstGeom prst="rect">
            <a:avLst/>
          </a:prstGeom>
          <a:ln w="38100"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1826628629"/>
      </p:ext>
    </p:extLst>
  </p:cSld>
  <p:clrMapOvr>
    <a:masterClrMapping/>
  </p:clrMapOvr>
  <p:transition spd="med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4C5964-8B6F-18E5-55AA-BE1C92C0BF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8407FF-CB2C-E1EC-767C-FDC33A54FB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Topics List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DADB85E-D53F-83E0-4B48-509962F33E2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pPr>
              <a:spcBef>
                <a:spcPts val="3600"/>
              </a:spcBef>
            </a:pPr>
            <a:r>
              <a:rPr lang="en-IE" sz="3600" dirty="0">
                <a:solidFill>
                  <a:schemeClr val="bg1">
                    <a:lumMod val="50000"/>
                  </a:schemeClr>
                </a:solidFill>
              </a:rPr>
              <a:t>Using LIKE</a:t>
            </a:r>
          </a:p>
          <a:p>
            <a:pPr>
              <a:spcBef>
                <a:spcPts val="3600"/>
              </a:spcBef>
            </a:pPr>
            <a:r>
              <a:rPr lang="en-IE" sz="3600" dirty="0">
                <a:solidFill>
                  <a:schemeClr val="bg1">
                    <a:lumMod val="50000"/>
                  </a:schemeClr>
                </a:solidFill>
              </a:rPr>
              <a:t>Using BETWEEN…AND</a:t>
            </a:r>
          </a:p>
          <a:p>
            <a:pPr>
              <a:spcBef>
                <a:spcPts val="3600"/>
              </a:spcBef>
            </a:pPr>
            <a:r>
              <a:rPr lang="en-IE" sz="3600" dirty="0">
                <a:solidFill>
                  <a:schemeClr val="bg1">
                    <a:lumMod val="50000"/>
                  </a:schemeClr>
                </a:solidFill>
              </a:rPr>
              <a:t>Using IN</a:t>
            </a:r>
          </a:p>
          <a:p>
            <a:pPr>
              <a:spcBef>
                <a:spcPts val="3600"/>
              </a:spcBef>
            </a:pPr>
            <a:r>
              <a:rPr lang="en-IE" sz="3600" dirty="0">
                <a:solidFill>
                  <a:schemeClr val="bg1">
                    <a:lumMod val="50000"/>
                  </a:schemeClr>
                </a:solidFill>
              </a:rPr>
              <a:t>IS NULL</a:t>
            </a:r>
          </a:p>
          <a:p>
            <a:pPr>
              <a:lnSpc>
                <a:spcPct val="100000"/>
              </a:lnSpc>
              <a:spcBef>
                <a:spcPts val="3600"/>
              </a:spcBef>
            </a:pPr>
            <a:r>
              <a:rPr lang="en-IE" sz="3600" dirty="0">
                <a:solidFill>
                  <a:schemeClr val="bg1">
                    <a:lumMod val="50000"/>
                  </a:schemeClr>
                </a:solidFill>
              </a:rPr>
              <a:t>Using ORDER BY</a:t>
            </a:r>
          </a:p>
          <a:p>
            <a:pPr>
              <a:spcBef>
                <a:spcPts val="3600"/>
              </a:spcBef>
            </a:pPr>
            <a:r>
              <a:rPr lang="en-IE" sz="3600" dirty="0">
                <a:solidFill>
                  <a:schemeClr val="bg1">
                    <a:lumMod val="50000"/>
                  </a:schemeClr>
                </a:solidFill>
              </a:rPr>
              <a:t>Date Functions</a:t>
            </a:r>
          </a:p>
          <a:p>
            <a:pPr>
              <a:spcBef>
                <a:spcPts val="3600"/>
              </a:spcBef>
            </a:pPr>
            <a:r>
              <a:rPr lang="en-IE" sz="3600" dirty="0">
                <a:solidFill>
                  <a:srgbClr val="00B050"/>
                </a:solidFill>
              </a:rPr>
              <a:t>Calculations</a:t>
            </a:r>
          </a:p>
          <a:p>
            <a:endParaRPr lang="en-IE" dirty="0"/>
          </a:p>
        </p:txBody>
      </p:sp>
    </p:spTree>
    <p:extLst>
      <p:ext uri="{BB962C8B-B14F-4D97-AF65-F5344CB8AC3E}">
        <p14:creationId xmlns:p14="http://schemas.microsoft.com/office/powerpoint/2010/main" val="1270805180"/>
      </p:ext>
    </p:extLst>
  </p:cSld>
  <p:clrMapOvr>
    <a:masterClrMapping/>
  </p:clrMapOvr>
  <p:transition spd="med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92143" y="519290"/>
            <a:ext cx="14955977" cy="1885245"/>
          </a:xfrm>
        </p:spPr>
        <p:txBody>
          <a:bodyPr>
            <a:noAutofit/>
          </a:bodyPr>
          <a:lstStyle/>
          <a:p>
            <a:br>
              <a:rPr lang="en-US" dirty="0"/>
            </a:br>
            <a:r>
              <a:rPr lang="en-US" dirty="0"/>
              <a:t>Performing Calculations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92143" y="2596444"/>
            <a:ext cx="14955977" cy="6188570"/>
          </a:xfrm>
        </p:spPr>
        <p:txBody>
          <a:bodyPr/>
          <a:lstStyle/>
          <a:p>
            <a:endParaRPr lang="en-US" dirty="0"/>
          </a:p>
          <a:p>
            <a:r>
              <a:rPr lang="en-US" dirty="0"/>
              <a:t>DATEDIFF()</a:t>
            </a:r>
          </a:p>
          <a:p>
            <a:pPr lvl="1"/>
            <a:r>
              <a:rPr lang="en-US" dirty="0"/>
              <a:t>DATEDIFF calculates the distance (number of days) between 2 dates.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72AED1E-118F-9A40-CED1-1D552D5A26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31331" y="5195886"/>
            <a:ext cx="10875969" cy="495301"/>
          </a:xfrm>
          <a:prstGeom prst="rect">
            <a:avLst/>
          </a:prstGeom>
          <a:ln w="38100"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3502201429"/>
      </p:ext>
    </p:extLst>
  </p:cSld>
  <p:clrMapOvr>
    <a:masterClrMapping/>
  </p:clrMapOvr>
  <p:transition spd="med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92143" y="519290"/>
            <a:ext cx="14955977" cy="1885245"/>
          </a:xfrm>
        </p:spPr>
        <p:txBody>
          <a:bodyPr>
            <a:noAutofit/>
          </a:bodyPr>
          <a:lstStyle/>
          <a:p>
            <a:br>
              <a:rPr lang="en-US" dirty="0"/>
            </a:br>
            <a:r>
              <a:rPr lang="en-US" dirty="0"/>
              <a:t>Performing Calculations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92143" y="2596444"/>
            <a:ext cx="14955977" cy="6188570"/>
          </a:xfrm>
        </p:spPr>
        <p:txBody>
          <a:bodyPr/>
          <a:lstStyle/>
          <a:p>
            <a:r>
              <a:rPr lang="en-US" dirty="0"/>
              <a:t>TIMESTAMPDIFF()</a:t>
            </a:r>
          </a:p>
          <a:p>
            <a:pPr lvl="1"/>
            <a:r>
              <a:rPr lang="en-GB" dirty="0"/>
              <a:t>The MySQL TIMESTAMPDIFF() function is used to calculate the difference between two date (or datetime) expressions</a:t>
            </a:r>
            <a:r>
              <a:rPr lang="en-US" dirty="0"/>
              <a:t>.</a:t>
            </a:r>
          </a:p>
          <a:p>
            <a:pPr lvl="1"/>
            <a:r>
              <a:rPr lang="en-US" dirty="0"/>
              <a:t>For example, we can calculate the difference between a given date and today and return the result in YEARs. Obviously, we can return the result in days, months, quarters, hours, </a:t>
            </a:r>
            <a:r>
              <a:rPr lang="en-US" dirty="0" err="1"/>
              <a:t>etc</a:t>
            </a:r>
            <a:r>
              <a:rPr lang="en-US" dirty="0"/>
              <a:t>…</a:t>
            </a:r>
          </a:p>
          <a:p>
            <a:pPr lvl="1"/>
            <a:r>
              <a:rPr lang="en-US" dirty="0"/>
              <a:t>In the following example, we return the age for each gym member based on their date of birth.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9B83FE6-01DA-6316-7037-69E525DFD1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16913" y="7162800"/>
            <a:ext cx="11306435" cy="1143000"/>
          </a:xfrm>
          <a:prstGeom prst="rect">
            <a:avLst/>
          </a:prstGeom>
          <a:ln w="38100"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1934305679"/>
      </p:ext>
    </p:extLst>
  </p:cSld>
  <p:clrMapOvr>
    <a:masterClrMapping/>
  </p:clrMapOvr>
  <p:transition spd="med"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08786E-7139-AE1D-3513-71473404CA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656B1D-90B1-EB4A-7F79-3C03AFD6BA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2143" y="519290"/>
            <a:ext cx="14955977" cy="1885245"/>
          </a:xfrm>
        </p:spPr>
        <p:txBody>
          <a:bodyPr>
            <a:noAutofit/>
          </a:bodyPr>
          <a:lstStyle/>
          <a:p>
            <a:br>
              <a:rPr lang="en-US" dirty="0"/>
            </a:br>
            <a:r>
              <a:rPr lang="en-US" dirty="0"/>
              <a:t>Performing Calculations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173814A-5F3E-D3D1-BC29-195E7BBB3C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92143" y="2596444"/>
            <a:ext cx="14955977" cy="6188570"/>
          </a:xfrm>
        </p:spPr>
        <p:txBody>
          <a:bodyPr/>
          <a:lstStyle/>
          <a:p>
            <a:r>
              <a:rPr lang="en-US" dirty="0"/>
              <a:t>DATE_ADD()</a:t>
            </a:r>
          </a:p>
          <a:p>
            <a:pPr lvl="1"/>
            <a:r>
              <a:rPr lang="en-GB" dirty="0"/>
              <a:t>The MySQL DATE_ADD() function  is used to add a specified time or date interval to a specified date and then return the date.</a:t>
            </a:r>
            <a:endParaRPr lang="en-US" dirty="0"/>
          </a:p>
          <a:p>
            <a:pPr lvl="1"/>
            <a:r>
              <a:rPr lang="en-US" dirty="0"/>
              <a:t>In the following example, we return the next renewal date for all gym members based on their current renewal date.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E7E282A-0F38-E120-7562-830EC5B0D0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4454" y="5943600"/>
            <a:ext cx="14611354" cy="1143000"/>
          </a:xfrm>
          <a:prstGeom prst="rect">
            <a:avLst/>
          </a:prstGeom>
          <a:ln w="38100"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2718909556"/>
      </p:ext>
    </p:extLst>
  </p:cSld>
  <p:clrMapOvr>
    <a:masterClrMapping/>
  </p:clrMapOvr>
  <p:transition spd="med"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39F986-8816-8346-7643-41CFC2D461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530348-1296-63A8-6CE5-48243AAA6A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2143" y="519290"/>
            <a:ext cx="14955977" cy="1885245"/>
          </a:xfrm>
        </p:spPr>
        <p:txBody>
          <a:bodyPr>
            <a:noAutofit/>
          </a:bodyPr>
          <a:lstStyle/>
          <a:p>
            <a:br>
              <a:rPr lang="en-US" dirty="0"/>
            </a:br>
            <a:r>
              <a:rPr lang="en-US" dirty="0"/>
              <a:t>Performing Calculations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F22D49C-8C9C-5FAE-156F-84063CB247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92143" y="2596444"/>
            <a:ext cx="14955977" cy="6188570"/>
          </a:xfrm>
        </p:spPr>
        <p:txBody>
          <a:bodyPr/>
          <a:lstStyle/>
          <a:p>
            <a:r>
              <a:rPr lang="en-US" dirty="0"/>
              <a:t>And in the following example, we combine the </a:t>
            </a:r>
            <a:r>
              <a:rPr lang="en-GB" dirty="0"/>
              <a:t>TIMESTAMPDIFF() and DATE_ADD() functions to </a:t>
            </a:r>
            <a:r>
              <a:rPr lang="en-US" dirty="0"/>
              <a:t>return the member name and the number of months until their next renewal date.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2D5E5E3-073E-4D51-9C2E-DAD1D9B6EE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76064" y="5043487"/>
            <a:ext cx="11788134" cy="1295400"/>
          </a:xfrm>
          <a:prstGeom prst="rect">
            <a:avLst/>
          </a:prstGeom>
          <a:ln w="38100"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837273458"/>
      </p:ext>
    </p:extLst>
  </p:cSld>
  <p:clrMapOvr>
    <a:masterClrMapping/>
  </p:clrMapOvr>
  <p:transition spd="med"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92143" y="519290"/>
            <a:ext cx="14955977" cy="1885245"/>
          </a:xfrm>
        </p:spPr>
        <p:txBody>
          <a:bodyPr>
            <a:normAutofit/>
          </a:bodyPr>
          <a:lstStyle/>
          <a:p>
            <a:br>
              <a:rPr lang="en-US" dirty="0"/>
            </a:br>
            <a:r>
              <a:rPr lang="en-US" dirty="0"/>
              <a:t>Performing Calculations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92143" y="2596444"/>
            <a:ext cx="14955977" cy="6188570"/>
          </a:xfrm>
        </p:spPr>
        <p:txBody>
          <a:bodyPr/>
          <a:lstStyle/>
          <a:p>
            <a:r>
              <a:rPr lang="en-US" dirty="0"/>
              <a:t>We can use the usual operators to perform calculations: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869531" y="3657600"/>
          <a:ext cx="8669868" cy="3352800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433493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3493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4400" dirty="0"/>
                        <a:t>Operator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400" dirty="0"/>
                        <a:t>Meaning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Addition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Subtraction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Multiplication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/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Division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Modulus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19417628"/>
      </p:ext>
    </p:extLst>
  </p:cSld>
  <p:clrMapOvr>
    <a:masterClrMapping/>
  </p:clrMapOvr>
  <p:transition spd="med"/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ModernPortfolio">
  <a:themeElements>
    <a:clrScheme name="ModernPortfolio">
      <a:dk1>
        <a:srgbClr val="000000"/>
      </a:dk1>
      <a:lt1>
        <a:srgbClr val="FFFFFF"/>
      </a:lt1>
      <a:dk2>
        <a:srgbClr val="5C5C5C"/>
      </a:dk2>
      <a:lt2>
        <a:srgbClr val="CBCBCB"/>
      </a:lt2>
      <a:accent1>
        <a:srgbClr val="557E8A"/>
      </a:accent1>
      <a:accent2>
        <a:srgbClr val="88885A"/>
      </a:accent2>
      <a:accent3>
        <a:srgbClr val="B29E85"/>
      </a:accent3>
      <a:accent4>
        <a:srgbClr val="BB7B52"/>
      </a:accent4>
      <a:accent5>
        <a:srgbClr val="CF7F66"/>
      </a:accent5>
      <a:accent6>
        <a:srgbClr val="62647B"/>
      </a:accent6>
      <a:hlink>
        <a:srgbClr val="0000FF"/>
      </a:hlink>
      <a:folHlink>
        <a:srgbClr val="FF00FF"/>
      </a:folHlink>
    </a:clrScheme>
    <a:fontScheme name="ModernPortfolio">
      <a:majorFont>
        <a:latin typeface="Helvetica Neue Light"/>
        <a:ea typeface="Helvetica Neue Light"/>
        <a:cs typeface="Helvetica Neue Light"/>
      </a:majorFont>
      <a:minorFont>
        <a:latin typeface="Helvetica Neue Light"/>
        <a:ea typeface="Helvetica Neue Light"/>
        <a:cs typeface="Helvetica Neue Light"/>
      </a:minorFont>
    </a:fontScheme>
    <a:fmtScheme name="ModernPortfol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>
            <a:satOff val="12166"/>
            <a:lumOff val="-13042"/>
          </a:schemeClr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584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6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 Neue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12700" cap="flat">
          <a:solidFill>
            <a:srgbClr val="ABABAB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584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6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 Neue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21</TotalTime>
  <Words>880</Words>
  <Application>Microsoft Office PowerPoint</Application>
  <PresentationFormat>Custom</PresentationFormat>
  <Paragraphs>147</Paragraphs>
  <Slides>24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9" baseType="lpstr">
      <vt:lpstr>Aptos</vt:lpstr>
      <vt:lpstr>Aptos Display</vt:lpstr>
      <vt:lpstr>Arial</vt:lpstr>
      <vt:lpstr>Helvetica Neue</vt:lpstr>
      <vt:lpstr>Office Theme</vt:lpstr>
      <vt:lpstr>SELECT statement 2</vt:lpstr>
      <vt:lpstr>Topics List</vt:lpstr>
      <vt:lpstr> Using LIKE</vt:lpstr>
      <vt:lpstr>Topics List</vt:lpstr>
      <vt:lpstr> Using BETWEEN…AND</vt:lpstr>
      <vt:lpstr>Topics List</vt:lpstr>
      <vt:lpstr> Using IN</vt:lpstr>
      <vt:lpstr>Topics List</vt:lpstr>
      <vt:lpstr> IS NULL</vt:lpstr>
      <vt:lpstr> IS NULL</vt:lpstr>
      <vt:lpstr>Topics List</vt:lpstr>
      <vt:lpstr> Using ORDER BY</vt:lpstr>
      <vt:lpstr>Topics List</vt:lpstr>
      <vt:lpstr> Using Date</vt:lpstr>
      <vt:lpstr> Using Date</vt:lpstr>
      <vt:lpstr> Using Date</vt:lpstr>
      <vt:lpstr> Using Date</vt:lpstr>
      <vt:lpstr> Using Date</vt:lpstr>
      <vt:lpstr>Topics List</vt:lpstr>
      <vt:lpstr> Performing Calculations</vt:lpstr>
      <vt:lpstr> Performing Calculations</vt:lpstr>
      <vt:lpstr> Performing Calculations</vt:lpstr>
      <vt:lpstr> Performing Calculations</vt:lpstr>
      <vt:lpstr> Performing Calculations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Select statement</dc:title>
  <dc:creator>mary</dc:creator>
  <cp:lastModifiedBy>Rosanne Birney</cp:lastModifiedBy>
  <cp:revision>173</cp:revision>
  <dcterms:modified xsi:type="dcterms:W3CDTF">2026-03-19T09:08:11Z</dcterms:modified>
</cp:coreProperties>
</file>