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1"/>
  </p:notesMasterIdLst>
  <p:sldIdLst>
    <p:sldId id="399" r:id="rId3"/>
    <p:sldId id="306" r:id="rId4"/>
    <p:sldId id="278" r:id="rId5"/>
    <p:sldId id="280" r:id="rId6"/>
    <p:sldId id="258" r:id="rId7"/>
    <p:sldId id="279" r:id="rId8"/>
    <p:sldId id="284" r:id="rId9"/>
    <p:sldId id="303" r:id="rId10"/>
    <p:sldId id="281" r:id="rId11"/>
    <p:sldId id="282" r:id="rId12"/>
    <p:sldId id="307" r:id="rId13"/>
    <p:sldId id="283" r:id="rId14"/>
    <p:sldId id="304" r:id="rId15"/>
    <p:sldId id="285" r:id="rId16"/>
    <p:sldId id="286" r:id="rId17"/>
    <p:sldId id="287" r:id="rId18"/>
    <p:sldId id="288" r:id="rId19"/>
    <p:sldId id="290" r:id="rId20"/>
    <p:sldId id="291" r:id="rId21"/>
    <p:sldId id="292" r:id="rId22"/>
    <p:sldId id="308" r:id="rId23"/>
    <p:sldId id="299" r:id="rId24"/>
    <p:sldId id="300" r:id="rId25"/>
    <p:sldId id="301" r:id="rId26"/>
    <p:sldId id="296" r:id="rId27"/>
    <p:sldId id="305" r:id="rId28"/>
    <p:sldId id="297" r:id="rId29"/>
    <p:sldId id="302" r:id="rId30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>
      <p:cViewPr varScale="1">
        <p:scale>
          <a:sx n="62" d="100"/>
          <a:sy n="62" d="100"/>
        </p:scale>
        <p:origin x="36" y="159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7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33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10058708" y="7975600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23" name="Shape 23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7594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879657" y="7785100"/>
            <a:ext cx="7721836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10465120" y="8470900"/>
            <a:ext cx="6604202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title"/>
          </p:nvPr>
        </p:nvSpPr>
        <p:spPr>
          <a:xfrm>
            <a:off x="762024" y="3289300"/>
            <a:ext cx="15816216" cy="31750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762023" y="1968501"/>
            <a:ext cx="6764732" cy="13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70" name="Shape 70"/>
          <p:cNvSpPr>
            <a:spLocks noGrp="1"/>
          </p:cNvSpPr>
          <p:nvPr>
            <p:ph type="pic" idx="13"/>
          </p:nvPr>
        </p:nvSpPr>
        <p:spPr>
          <a:xfrm>
            <a:off x="8670131" y="0"/>
            <a:ext cx="8670132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762023" y="330200"/>
            <a:ext cx="677354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sz="half" idx="1"/>
          </p:nvPr>
        </p:nvSpPr>
        <p:spPr>
          <a:xfrm>
            <a:off x="762023" y="2222500"/>
            <a:ext cx="6773540" cy="6667500"/>
          </a:xfrm>
          <a:prstGeom prst="rect">
            <a:avLst/>
          </a:prstGeom>
        </p:spPr>
        <p:txBody>
          <a:bodyPr/>
          <a:lstStyle>
            <a:lvl1pPr marL="3302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604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906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208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6510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681012" y="9194800"/>
            <a:ext cx="320601" cy="318036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1185370" y="889000"/>
            <a:ext cx="14952590" cy="796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 flipH="1">
            <a:off x="12073833" y="508001"/>
            <a:ext cx="171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89" name="Shape 89"/>
          <p:cNvSpPr/>
          <p:nvPr/>
        </p:nvSpPr>
        <p:spPr>
          <a:xfrm>
            <a:off x="12073831" y="4464051"/>
            <a:ext cx="4598144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90" name="Shape 90"/>
          <p:cNvSpPr>
            <a:spLocks noGrp="1"/>
          </p:cNvSpPr>
          <p:nvPr>
            <p:ph type="pic" sz="quarter" idx="13"/>
          </p:nvPr>
        </p:nvSpPr>
        <p:spPr>
          <a:xfrm>
            <a:off x="12293976" y="4622800"/>
            <a:ext cx="4368933" cy="386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sz="quarter" idx="14"/>
          </p:nvPr>
        </p:nvSpPr>
        <p:spPr>
          <a:xfrm>
            <a:off x="12293976" y="508000"/>
            <a:ext cx="4368933" cy="379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pic" idx="15"/>
          </p:nvPr>
        </p:nvSpPr>
        <p:spPr>
          <a:xfrm>
            <a:off x="694288" y="508000"/>
            <a:ext cx="11159408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694288" y="8661400"/>
            <a:ext cx="11159408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49842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57200">
              <a:spcBef>
                <a:spcPts val="0"/>
              </a:spcBef>
              <a:buSzTx/>
              <a:buFontTx/>
              <a:buNone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4"/>
          </p:nvPr>
        </p:nvSpPr>
        <p:spPr>
          <a:xfrm>
            <a:off x="1693385" y="4292600"/>
            <a:ext cx="13953493" cy="7112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457200">
              <a:spcBef>
                <a:spcPts val="2400"/>
              </a:spcBef>
              <a:buSzTx/>
              <a:buFontTx/>
              <a:buNone/>
              <a:defRPr sz="4000"/>
            </a:lvl1pPr>
          </a:lstStyle>
          <a:p>
            <a:r>
              <a:t>“Type a quote here.”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0A9A-5A32-4593-81BF-7A4D533C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6F9C5-FD27-496E-8906-99D033EC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E7B9-9427-49F7-94B8-73402D05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A779-2191-4F03-9A52-EDD42BA6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A21F7-1D82-452D-8F4F-66404406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54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641A-97F0-42B6-ACCC-6405AF1F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C22D-E4D1-46FB-BE82-21D3347D5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53530-F369-4E3E-A34D-F1F76F22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DF4C1E-2C77-4154-ADD8-310B6460F8A9}" type="datetimeFigureOut">
              <a:rPr lang="en-US" smtClean="0"/>
              <a:pPr>
                <a:defRPr/>
              </a:pPr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D6DD-2839-4E32-9CF3-7A01DCF0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34A2-73A4-447B-B360-C67DAA58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35430-8769-424E-9E74-CCA21C0C7F8F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7771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D0ED-88C8-4CF4-B088-CA2E2F14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42B5-E91F-4EAF-80DE-AA39FA2D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99024-EA75-4689-8956-9268582E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6AE88-6A54-4018-B3FA-F9571169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2179F-AFE7-44BD-8412-406E6BD2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298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9F5C-F1A7-4F26-9AD3-639EAA93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D0D8-81ED-47AA-A00D-75343AF07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E7F04-184F-4769-95D3-5E99562BE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809E9-DBA0-450A-9F49-B0645A8C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8E6DE-BAD5-4E87-9B35-4B5CC2F5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C516A-E742-4728-B950-BF5CD0CA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376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00E1-B67E-42E6-B19A-677AD1D1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E299C-7F58-4AA5-91E5-B8C640F3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A4A4E-35BE-487F-87F7-334E038B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B2BFE-F854-41AF-B915-17811678B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FE39F-C863-4122-952A-FF8D61058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DB1546-84C1-4A1F-8A10-FE88F29C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2BF4F-F994-4D3D-9B0D-36EB6E84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00D7E-1F66-4284-95EB-B575028C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512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AFA3-B026-434E-9C43-8F5DE54E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7204-275D-4CE2-85BE-07F4367B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1DDF3-BB15-460C-B274-C002A022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87B5F-DCFF-453A-8E20-EC2931F4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408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35630-C51A-4742-BC91-78CBC862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CC7D6-6325-4247-B5EF-48C0E29D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C1E70-502B-488E-A867-419DBCD3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95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17E9-64CE-435A-910C-80032833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F047-267F-4F2C-BED6-2F75BFCD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516E6-49C6-49D1-95CA-C6EFCEED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084ED-187C-4958-B8AC-8AD405B1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7323D-19EF-4E3F-BC4C-55D733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B75B2-6DCE-48E9-BB49-8BCBF500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606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8752-0F07-4D73-A575-491D80F4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C18B2-08E8-4538-B9BC-E68E69585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BEB96-90B3-4F48-B654-836376968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2EAF7-F641-4BA2-B8E5-E9CA494A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ED160-FCF3-49A7-90D1-E57BEEF8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14060-35CA-44EA-A4EA-256EE7C2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675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79D-573E-43CA-AF45-75224033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9DFD4-0658-4D54-A63C-43585DCCD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2EF1-0AEE-4C69-BB0F-A1ACC8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114A-8503-47E6-B1BB-BB12E9F3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5D1E0-BAE3-4157-8DF6-8018023A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01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2F404-59AD-4432-91A6-DC800CD51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C78BB-D0E3-4EBF-B755-959223799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FD3F-5C8C-443C-AC5B-30F49139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E8B29-0AAA-47B9-A833-2C66412F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2BF19-EED0-4D4E-8EC9-AD0CC6B6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63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62023" y="1968501"/>
            <a:ext cx="15824625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2024" y="330200"/>
            <a:ext cx="15816216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2024" y="2222500"/>
            <a:ext cx="15816216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6453531" y="9194800"/>
            <a:ext cx="320601" cy="3180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9F2D6-E623-45C5-A10A-750A90B1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08778-3C62-4556-9450-9D0B7B31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03158-A4C6-49F0-9BB4-24BDA774E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F34D4-32C0-4415-B8BB-5C4234FBB260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7F357-997D-4F66-B8EB-6001506F5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6E989-C092-43BB-AB7C-4804D431C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18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50131" y="1596249"/>
            <a:ext cx="14122599" cy="3395698"/>
          </a:xfrm>
        </p:spPr>
        <p:txBody>
          <a:bodyPr>
            <a:normAutofit/>
          </a:bodyPr>
          <a:lstStyle/>
          <a:p>
            <a:r>
              <a:rPr lang="en-US" sz="8800" dirty="0"/>
              <a:t>Relationships and Relationship Types</a:t>
            </a:r>
            <a:endParaRPr lang="en-IE" noProof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5A2176A-F514-4DFD-5EDD-11963ABB9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noProof="0" dirty="0"/>
          </a:p>
        </p:txBody>
      </p:sp>
      <p:sp>
        <p:nvSpPr>
          <p:cNvPr id="2" name="Lightning Bolt 1" descr="-">
            <a:extLst>
              <a:ext uri="{FF2B5EF4-FFF2-40B4-BE49-F238E27FC236}">
                <a16:creationId xmlns:a16="http://schemas.microsoft.com/office/drawing/2014/main" id="{8357F06C-ACB9-73CB-6DC5-0054E103720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 Light"/>
            </a:endParaRPr>
          </a:p>
        </p:txBody>
      </p:sp>
      <p:sp>
        <p:nvSpPr>
          <p:cNvPr id="3" name="Lightning Bolt 2" descr="-">
            <a:extLst>
              <a:ext uri="{FF2B5EF4-FFF2-40B4-BE49-F238E27FC236}">
                <a16:creationId xmlns:a16="http://schemas.microsoft.com/office/drawing/2014/main" id="{7DF4CA5B-E2D5-467C-D6B8-A1EE3EBA387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155272010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Concepts of the ER Model (Recap)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Relationships and Relationship types </a:t>
            </a:r>
          </a:p>
        </p:txBody>
      </p:sp>
    </p:spTree>
    <p:extLst>
      <p:ext uri="{BB962C8B-B14F-4D97-AF65-F5344CB8AC3E}">
        <p14:creationId xmlns:p14="http://schemas.microsoft.com/office/powerpoint/2010/main" val="5234265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Relationships and Relationship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13963885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Relationship: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association among entities is called a relationship.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one particular Student identified by 20081285 </a:t>
            </a:r>
            <a:r>
              <a:rPr lang="en-GB" i="1" dirty="0" err="1">
                <a:solidFill>
                  <a:schemeClr val="bg1">
                    <a:lumMod val="50000"/>
                  </a:schemeClr>
                </a:solidFill>
              </a:rPr>
              <a:t>enrolls_on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 particular Course identified by wd155.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464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sz="half" idx="1"/>
          </p:nvPr>
        </p:nvSpPr>
        <p:spPr>
          <a:xfrm>
            <a:off x="762025" y="2222501"/>
            <a:ext cx="8517708" cy="638239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 the example, we can see from the occurrence diagram that Branch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branchNo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B003 has 2 Staff members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staffNo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SG37 and SG14.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We can also see that Staff member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staffNo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SG37 works at Branch (identified by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branchNo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B003.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7B60C0-731F-2AED-AA48-692CE305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131" y="2438400"/>
            <a:ext cx="7315200" cy="3522132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Relationship Type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Relationship type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: Defines a relationship set among entities of certain entity types. We assign a name to a relationship type (usually) using a verb.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Examples: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Student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registers on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Course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Passenger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reserves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Flight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Branch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has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Staff</a:t>
            </a:r>
          </a:p>
          <a:p>
            <a:pPr lvl="1">
              <a:spcBef>
                <a:spcPts val="600"/>
              </a:spcBef>
            </a:pPr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We represent a relationship type by drawing a line between the entity types involved in the relationship.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9E1C6-5EBE-D195-8206-2448A121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931" y="3886200"/>
            <a:ext cx="5254145" cy="2886078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Type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An entity type can have more than one relationship with another entity type. Relationship types may be given role names to indicate purpose that each participating entity type plays in a relationship.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10C1AA-399B-0C4F-4989-27D3C637A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931" y="4499397"/>
            <a:ext cx="5558359" cy="435293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4037326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rgbClr val="00B050"/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30" y="2222500"/>
            <a:ext cx="15909109" cy="6667500"/>
          </a:xfrm>
        </p:spPr>
        <p:txBody>
          <a:bodyPr>
            <a:normAutofit/>
          </a:bodyPr>
          <a:lstStyle/>
          <a:p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degree of a relationship is the number of entity types participating in the relationship. When we speak of a student registered for a course, we are discussing a relationship,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where two entity types (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Student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are involved; the relationship is of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degree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because each instance of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register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will always involve one student entity type and one course entity type.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Relationships of degree 2 are called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binary relati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onships; relationships of degree 3 are called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ternary relatio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nships. In general, we speak of n-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ary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relationships where n entities participate in a relationship.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9949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following is an example of a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ternary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relationship.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B2A61A-F3B9-153D-177D-93E96849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731" y="3886200"/>
            <a:ext cx="6580123" cy="220504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8447017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  <a:br>
              <a:rPr lang="en-US" dirty="0"/>
            </a:br>
            <a:r>
              <a:rPr lang="en-US" sz="3200" dirty="0"/>
              <a:t>Recursive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</a:t>
            </a:r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Recursive Relationship</a:t>
            </a:r>
            <a:r>
              <a:rPr lang="en-IE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is one in which a relationship exists between occurrences of the same entity type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. These are also called </a:t>
            </a: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unary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 relationships.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typical business example arises when we have a business rule such as "a staff member supervises other staff members".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 role of one staff member may be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supervisor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whereas the role of another staff member may be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supervisee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93926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Degree of a Relationship</a:t>
            </a:r>
            <a:br>
              <a:rPr lang="en-US" dirty="0"/>
            </a:br>
            <a:r>
              <a:rPr lang="en-US" sz="3200" dirty="0"/>
              <a:t>Recursive Relationship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0DBF4-FB53-3487-4701-FA919291A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131" y="3352800"/>
            <a:ext cx="7091525" cy="3193258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4691160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rgbClr val="00B050"/>
                </a:solidFill>
              </a:rPr>
              <a:t>Structural Constraints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As well as assigning a name to a relationship type, we also assign structural constraints. The main type of constraint on relationships is called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multiplicity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Multiplicity is the number (or range) of possible occurrences of an entity type that may relate to a single occurrence of an associated entity type through a particular relationship.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Multiplicity consists of two separate constraints known as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cardinality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participation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0718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Cardinality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: Describes the maximum number of possible relationship occurrences for an entity participating in a given relationship type.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Consider the relationship "works in". When we ask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How many employees can work in a single department?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or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How many departments can an employee work in?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we are asking questions regarding the cardinality of the relationship</a:t>
            </a:r>
            <a:r>
              <a:rPr lang="en-GB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1468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There are three classifications, and these are: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one-to-one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(1:1)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one-to-many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(1:*)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and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many-to-many </a:t>
            </a:r>
            <a:r>
              <a:rPr lang="en-AU">
                <a:solidFill>
                  <a:schemeClr val="bg1">
                    <a:lumMod val="50000"/>
                  </a:schemeClr>
                </a:solidFill>
              </a:rPr>
              <a:t>(*:*)</a:t>
            </a:r>
            <a:r>
              <a:rPr lang="en-GB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7337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one-to-one (1:1) Cardinality </a:t>
            </a:r>
            <a:endParaRPr lang="en-US" b="1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One-to-one relationships have 1 specified for both cardinalities, and do not seem to arise very often. In this example, each relationship represents the association between a single Staff entity occurrence and a single Branch entity occurrence. Each Staff member manages zero or one Branch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one)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each Branch is managed by one Staff member (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one)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0FA43-3DF1-2CC7-0872-96870C2F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331" y="6400800"/>
            <a:ext cx="5850296" cy="2846934"/>
          </a:xfrm>
          <a:prstGeom prst="rect">
            <a:avLst/>
          </a:prstGeom>
          <a:ln w="34925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940227190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one-to-many (1:*) Cardinality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One-to-many relationships has 1 specified at one side of the relationship type and many (*) at the other side.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In this example,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each relationship represents the association between a single Staff entity occurrence and a single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entity occurrence. Each Staff member oversees zero or more (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many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properties for rent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). Each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is overseen by zero or one (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one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Staff member.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BB49C-1343-3B13-A182-57B1220AF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931" y="6400800"/>
            <a:ext cx="5425675" cy="27559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39408787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Cardinality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i="1" dirty="0">
                <a:solidFill>
                  <a:schemeClr val="bg1">
                    <a:lumMod val="50000"/>
                  </a:schemeClr>
                </a:solidFill>
              </a:rPr>
              <a:t>many-to-many (*:*) Cardinality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Many-to-many relationships have many (*) specified for both cardinalities.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In this example, each relationship represents the association between a single newspaper entity occurrence and a single 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entity occurrence. Each Newspaper advertises one or more (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many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) properties for rent (</a:t>
            </a:r>
            <a:r>
              <a:rPr lang="en-IE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) and each property for rent is advertised in zero or more (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many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) Newspapers.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F9B81-BA78-C590-39CE-429CA30D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31" y="6287461"/>
            <a:ext cx="5118315" cy="30607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01110298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sz="3200" dirty="0"/>
              <a:t>Participation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Participation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Determines whether all or only some entity occurrences participate in a relationship.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There are 2 classifications for participation, these are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optional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mandatory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Optional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means that each entity may or may not participate in the relationship. In the example below, Staff has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optional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participation as not all Staff members participate in the relationship.</a:t>
            </a:r>
          </a:p>
          <a:p>
            <a:pPr lvl="1">
              <a:spcBef>
                <a:spcPts val="600"/>
              </a:spcBef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Mandatory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means that each entity must participate in the relationship. In the example below, Branch has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mandatory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participation as all Branches participate in the relationship.</a:t>
            </a:r>
          </a:p>
          <a:p>
            <a:pPr lvl="1">
              <a:spcBef>
                <a:spcPts val="600"/>
              </a:spcBef>
            </a:pP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AB917-BAD8-5EA2-BE86-FAB614612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6531" y="7010400"/>
            <a:ext cx="5316896" cy="2587365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400111849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br>
              <a:rPr lang="en-IE" dirty="0"/>
            </a:br>
            <a:r>
              <a:rPr lang="en-IE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To represent (record) the cardinality and participation constraints, we will use 2 numbers (min, max) where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 represents the minimum participation of an entity in the relationship (participation). Max represents the maximum participation of an entity in the relationship (cardinality)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lvl="1"/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can be 0 (for optional) or 1 (for mandatory).</a:t>
            </a:r>
          </a:p>
          <a:p>
            <a:pPr lvl="1"/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max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can be 1 (for 1) or * (for many).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Note that these values may vary if a specific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min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and/or </a:t>
            </a:r>
            <a:r>
              <a:rPr lang="en-IE" i="1" dirty="0">
                <a:solidFill>
                  <a:schemeClr val="bg1">
                    <a:lumMod val="50000"/>
                  </a:schemeClr>
                </a:solidFill>
              </a:rPr>
              <a:t>max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 value is given.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2771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1 (Staff </a:t>
            </a:r>
            <a:r>
              <a:rPr lang="en-IE" i="1" dirty="0"/>
              <a:t>Manages</a:t>
            </a:r>
            <a:r>
              <a:rPr lang="en-IE" dirty="0"/>
              <a:t> Branch)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0B35F-41A0-319C-4153-318CD0DA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731" y="2895600"/>
            <a:ext cx="5886456" cy="4938083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58708574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2 (Staff </a:t>
            </a:r>
            <a:r>
              <a:rPr lang="en-IE" i="1" dirty="0"/>
              <a:t>Oversees</a:t>
            </a:r>
            <a:r>
              <a:rPr lang="en-IE" dirty="0"/>
              <a:t> </a:t>
            </a:r>
            <a:r>
              <a:rPr lang="en-IE" dirty="0" err="1"/>
              <a:t>PropertyForRent</a:t>
            </a:r>
            <a:r>
              <a:rPr lang="en-IE" dirty="0"/>
              <a:t>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5F9CAE-32E3-51D5-BF66-827A24880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931" y="3581400"/>
            <a:ext cx="7358314" cy="31242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80548578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Structural Constraints</a:t>
            </a:r>
            <a:br>
              <a:rPr lang="en-IE" dirty="0"/>
            </a:br>
            <a:r>
              <a:rPr lang="en-IE" dirty="0"/>
              <a:t>Example 3 (Newspaper </a:t>
            </a:r>
            <a:r>
              <a:rPr lang="en-IE" i="1" dirty="0"/>
              <a:t>Advertises</a:t>
            </a:r>
            <a:r>
              <a:rPr lang="en-IE" dirty="0"/>
              <a:t> </a:t>
            </a:r>
            <a:r>
              <a:rPr lang="en-IE" dirty="0" err="1"/>
              <a:t>PropertyForRent</a:t>
            </a:r>
            <a:r>
              <a:rPr lang="en-IE" dirty="0"/>
              <a:t>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98F8C-B6F7-8C2C-84A1-C36F2C90C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531" y="3505200"/>
            <a:ext cx="7290436" cy="3276603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35192777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Structural Constraints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Summary of Structural Constraints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12860F-14EC-8CF1-C495-1DD594493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31" y="3657600"/>
            <a:ext cx="8099398" cy="35052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8499297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Relationship types and Relationships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Degree of a Relationship</a:t>
            </a: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Structural Constraints</a:t>
            </a:r>
          </a:p>
          <a:p>
            <a:r>
              <a:rPr lang="en-US" dirty="0">
                <a:solidFill>
                  <a:srgbClr val="00B050"/>
                </a:solidFill>
              </a:rPr>
              <a:t>Relationship Type Attributes</a:t>
            </a:r>
          </a:p>
        </p:txBody>
      </p:sp>
    </p:spTree>
    <p:extLst>
      <p:ext uri="{BB962C8B-B14F-4D97-AF65-F5344CB8AC3E}">
        <p14:creationId xmlns:p14="http://schemas.microsoft.com/office/powerpoint/2010/main" val="48669050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Type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5331" y="2222500"/>
            <a:ext cx="15816216" cy="6667500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Attributes can also be assigned to relationship types. They represent a data item value that needs to be recorded for/about the relationship.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 this example, the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Advertises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relationship between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Newspaper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GB" i="1" dirty="0" err="1">
                <a:solidFill>
                  <a:schemeClr val="bg1">
                    <a:lumMod val="50000"/>
                  </a:schemeClr>
                </a:solidFill>
              </a:rPr>
              <a:t>PropertyForRent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may wish to record the date of the advertisement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dateAdvert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 and the cost of the advertisement (cost).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represent relationship attributes using the same symbol as an entity type. The rectangle holding the attribute(s) are joined to the relationship using a dashed line.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F836B-872D-AF52-5224-79B0A8015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731" y="6781800"/>
            <a:ext cx="4652212" cy="22098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44453118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sz="4900" dirty="0"/>
              <a:t>Exercise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Draw Entity and Relationship types (with structural constraints) for the following: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department will have a minimum of 4 employees assigned to it. Each employee is assigned to 1 department.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department is managed by one manager (employee). We keep track of the start date when the employee began managing the department. Not all employees manage a department.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department may manage a number of projects. Each project is managed by 1 department.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employee may work on several projects. A project is worked on by many employees. We keep track of the current number of hours that an employee works on each project.</a:t>
            </a:r>
          </a:p>
          <a:p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131" y="161804"/>
            <a:ext cx="2457793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6795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Microsoft Office PowerPoint</Application>
  <PresentationFormat>Custom</PresentationFormat>
  <Paragraphs>96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Helvetica</vt:lpstr>
      <vt:lpstr>Helvetica Neue</vt:lpstr>
      <vt:lpstr>Helvetica Neue Light</vt:lpstr>
      <vt:lpstr>Helvetica Neue Medium</vt:lpstr>
      <vt:lpstr>ModernPortfolio</vt:lpstr>
      <vt:lpstr>Office Theme</vt:lpstr>
      <vt:lpstr>Relationships and Relationship Types</vt:lpstr>
      <vt:lpstr>   Concepts of the ER Model (Recap)</vt:lpstr>
      <vt:lpstr>Topics List</vt:lpstr>
      <vt:lpstr>Relationships</vt:lpstr>
      <vt:lpstr>Relationships</vt:lpstr>
      <vt:lpstr>Relationship Type</vt:lpstr>
      <vt:lpstr>Relationship Type</vt:lpstr>
      <vt:lpstr>Topics List</vt:lpstr>
      <vt:lpstr>Degree of a Relationship</vt:lpstr>
      <vt:lpstr>Degree of a Relationship</vt:lpstr>
      <vt:lpstr>Degree of a Relationship Recursive Relationship</vt:lpstr>
      <vt:lpstr>Degree of a Relationship Recursive Relationship</vt:lpstr>
      <vt:lpstr>Topics List</vt:lpstr>
      <vt:lpstr>Structural Constraints</vt:lpstr>
      <vt:lpstr>Structural Constraints Cardinality</vt:lpstr>
      <vt:lpstr>Structural Constraints Cardinality</vt:lpstr>
      <vt:lpstr>Structural Constraints Cardinality</vt:lpstr>
      <vt:lpstr>Structural Constraints Cardinality</vt:lpstr>
      <vt:lpstr>Structural Constraints Cardinality</vt:lpstr>
      <vt:lpstr>Structural Constraints Participation</vt:lpstr>
      <vt:lpstr>  Structural Constraints</vt:lpstr>
      <vt:lpstr>Structural Constraints Example 1 (Staff Manages Branch)</vt:lpstr>
      <vt:lpstr>Structural Constraints Example 2 (Staff Oversees PropertyForRent)</vt:lpstr>
      <vt:lpstr>Structural Constraints Example 3 (Newspaper Advertises PropertyForRent)</vt:lpstr>
      <vt:lpstr>Structural Constraints</vt:lpstr>
      <vt:lpstr>Topics List</vt:lpstr>
      <vt:lpstr>Relationship Type Attributes</vt:lpstr>
      <vt:lpstr>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 and Relationship Types</dc:title>
  <dc:creator>mary</dc:creator>
  <cp:lastModifiedBy>Mary Lyng</cp:lastModifiedBy>
  <cp:revision>111</cp:revision>
  <dcterms:modified xsi:type="dcterms:W3CDTF">2026-01-16T09:50:42Z</dcterms:modified>
</cp:coreProperties>
</file>