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06" r:id="rId3"/>
    <p:sldId id="278" r:id="rId4"/>
    <p:sldId id="280" r:id="rId5"/>
    <p:sldId id="258" r:id="rId6"/>
    <p:sldId id="279" r:id="rId7"/>
    <p:sldId id="284" r:id="rId8"/>
    <p:sldId id="303" r:id="rId9"/>
    <p:sldId id="281" r:id="rId10"/>
    <p:sldId id="282" r:id="rId11"/>
    <p:sldId id="307" r:id="rId12"/>
    <p:sldId id="283" r:id="rId13"/>
    <p:sldId id="30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308" r:id="rId23"/>
    <p:sldId id="299" r:id="rId24"/>
    <p:sldId id="300" r:id="rId25"/>
    <p:sldId id="301" r:id="rId26"/>
    <p:sldId id="296" r:id="rId27"/>
    <p:sldId id="302" r:id="rId28"/>
    <p:sldId id="311" r:id="rId29"/>
    <p:sldId id="305" r:id="rId30"/>
    <p:sldId id="297" r:id="rId31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69" y="45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7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>
            <a:off x="762023" y="4749801"/>
            <a:ext cx="15824609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762024" y="1320800"/>
            <a:ext cx="15816216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sz="quarter" idx="1"/>
          </p:nvPr>
        </p:nvSpPr>
        <p:spPr>
          <a:xfrm>
            <a:off x="762024" y="5016500"/>
            <a:ext cx="15816216" cy="101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10058708" y="7975600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23" name="Shape 23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7594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879657" y="7785100"/>
            <a:ext cx="7721836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10465120" y="8470900"/>
            <a:ext cx="6604202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title"/>
          </p:nvPr>
        </p:nvSpPr>
        <p:spPr>
          <a:xfrm>
            <a:off x="762024" y="3289300"/>
            <a:ext cx="15816216" cy="31750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762023" y="1968501"/>
            <a:ext cx="6764732" cy="13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70" name="Shape 70"/>
          <p:cNvSpPr>
            <a:spLocks noGrp="1"/>
          </p:cNvSpPr>
          <p:nvPr>
            <p:ph type="pic" idx="13"/>
          </p:nvPr>
        </p:nvSpPr>
        <p:spPr>
          <a:xfrm>
            <a:off x="8670131" y="0"/>
            <a:ext cx="8670132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762023" y="330200"/>
            <a:ext cx="677354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sz="half" idx="1"/>
          </p:nvPr>
        </p:nvSpPr>
        <p:spPr>
          <a:xfrm>
            <a:off x="762023" y="2222500"/>
            <a:ext cx="6773540" cy="6667500"/>
          </a:xfrm>
          <a:prstGeom prst="rect">
            <a:avLst/>
          </a:prstGeom>
        </p:spPr>
        <p:txBody>
          <a:bodyPr/>
          <a:lstStyle>
            <a:lvl1pPr marL="3302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604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906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208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6510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681012" y="9194800"/>
            <a:ext cx="320601" cy="318036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1185370" y="889000"/>
            <a:ext cx="14952590" cy="796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 flipH="1">
            <a:off x="12073833" y="508001"/>
            <a:ext cx="171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89" name="Shape 89"/>
          <p:cNvSpPr/>
          <p:nvPr/>
        </p:nvSpPr>
        <p:spPr>
          <a:xfrm>
            <a:off x="12073831" y="4464051"/>
            <a:ext cx="4598144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90" name="Shape 90"/>
          <p:cNvSpPr>
            <a:spLocks noGrp="1"/>
          </p:cNvSpPr>
          <p:nvPr>
            <p:ph type="pic" sz="quarter" idx="13"/>
          </p:nvPr>
        </p:nvSpPr>
        <p:spPr>
          <a:xfrm>
            <a:off x="12293976" y="4622800"/>
            <a:ext cx="4368933" cy="386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sz="quarter" idx="14"/>
          </p:nvPr>
        </p:nvSpPr>
        <p:spPr>
          <a:xfrm>
            <a:off x="12293976" y="508000"/>
            <a:ext cx="4368933" cy="379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pic" idx="15"/>
          </p:nvPr>
        </p:nvSpPr>
        <p:spPr>
          <a:xfrm>
            <a:off x="694288" y="508000"/>
            <a:ext cx="11159408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694288" y="8661400"/>
            <a:ext cx="11159408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49842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57200">
              <a:spcBef>
                <a:spcPts val="0"/>
              </a:spcBef>
              <a:buSzTx/>
              <a:buFontTx/>
              <a:buNone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4"/>
          </p:nvPr>
        </p:nvSpPr>
        <p:spPr>
          <a:xfrm>
            <a:off x="1693385" y="4292600"/>
            <a:ext cx="13953493" cy="7112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457200">
              <a:spcBef>
                <a:spcPts val="2400"/>
              </a:spcBef>
              <a:buSzTx/>
              <a:buFontTx/>
              <a:buNone/>
              <a:defRPr sz="4000"/>
            </a:lvl1pPr>
          </a:lstStyle>
          <a:p>
            <a:r>
              <a:t>“Type a quote here.”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62023" y="1968501"/>
            <a:ext cx="15824625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2024" y="330200"/>
            <a:ext cx="15816216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2024" y="2222500"/>
            <a:ext cx="15816216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6453531" y="9194800"/>
            <a:ext cx="320601" cy="3180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400" dirty="0"/>
              <a:t>Relationships and Relationship Types</a:t>
            </a:r>
            <a:endParaRPr sz="4400" dirty="0"/>
          </a:p>
        </p:txBody>
      </p:sp>
      <p:sp>
        <p:nvSpPr>
          <p:cNvPr id="138" name="Shape 138"/>
          <p:cNvSpPr>
            <a:spLocks noGrp="1"/>
          </p:cNvSpPr>
          <p:nvPr>
            <p:ph type="subTitle" sz="quarter" idx="1"/>
          </p:nvPr>
        </p:nvSpPr>
        <p:spPr>
          <a:xfrm>
            <a:off x="3196431" y="7200900"/>
            <a:ext cx="11861800" cy="1016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131" y="3875466"/>
            <a:ext cx="4266734" cy="27646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Concepts of the ER Model (Recap)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Relationships and Relationship types 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</p:txBody>
      </p:sp>
    </p:spTree>
    <p:extLst>
      <p:ext uri="{BB962C8B-B14F-4D97-AF65-F5344CB8AC3E}">
        <p14:creationId xmlns:p14="http://schemas.microsoft.com/office/powerpoint/2010/main" val="5234265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Relationships and Relationship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13963885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Relationship: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association among entities is called a relationship.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one particular Student identified by 20081285 </a:t>
            </a:r>
            <a:r>
              <a:rPr lang="en-GB" i="1" dirty="0" err="1">
                <a:solidFill>
                  <a:schemeClr val="bg1">
                    <a:lumMod val="50000"/>
                  </a:schemeClr>
                </a:solidFill>
              </a:rPr>
              <a:t>enrolls_on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 particular Course identified by wd155.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464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sz="half" idx="1"/>
          </p:nvPr>
        </p:nvSpPr>
        <p:spPr>
          <a:xfrm>
            <a:off x="762025" y="2222501"/>
            <a:ext cx="8517708" cy="638239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 the example, we can see from the occurrence diagram that Branch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branchNo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B001 has 2 Staff members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staffNo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S0003 and S1500.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We can also see that Staff member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staffNo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S0003 works at Branch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branchNo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B001.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dirty="0"/>
          </a:p>
        </p:txBody>
      </p:sp>
      <p:pic>
        <p:nvPicPr>
          <p:cNvPr id="4" name="Picture 3" descr="occurrence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4131" y="3022917"/>
            <a:ext cx="5731510" cy="37077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Relationship Type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Relationship type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: Defines a relationship set among entities of certain entity types. We assign a name to a relationship type (usually) using a verb.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Examples: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Students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 on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Courses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Passengers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reserve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Flights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Branch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has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Staff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6" descr="DS3-Figure 11-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331" y="3837781"/>
            <a:ext cx="6248400" cy="34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An entity type can have more than one relationship with another entity type. Relationship types may be given role names to indicate purpose that each participating entity type plays in a relationship.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role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7731" y="4876800"/>
            <a:ext cx="7086600" cy="35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326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rgbClr val="00B050"/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30" y="2222500"/>
            <a:ext cx="15909109" cy="6667500"/>
          </a:xfrm>
        </p:spPr>
        <p:txBody>
          <a:bodyPr>
            <a:normAutofit/>
          </a:bodyPr>
          <a:lstStyle/>
          <a:p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degree of a relationship is the number of entity sets participating in the relationship. When we speak of a student registered for a course, we are discussing a relationship,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where two entity sets (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Student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are involved; the relationship is of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degree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because each instance of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will always involve one student entity and one course entity.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Relationships of degree 2 are called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binary relati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onships; relationships of degree 3 are called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ternary relatio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nships. In general, we speak of n-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ary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relationships where n entities participate in a relationship.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9949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following is an example of a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ternary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relationship.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degre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4331" y="3657600"/>
            <a:ext cx="8610600" cy="313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017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  <a:br>
              <a:rPr lang="en-US" dirty="0"/>
            </a:br>
            <a:r>
              <a:rPr lang="en-US" sz="3200" dirty="0"/>
              <a:t>Recursive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Recursive Relationship</a:t>
            </a:r>
            <a:r>
              <a:rPr lang="en-IE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is one in which a relationship exists between occurrences of the same entity type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. These are also called </a:t>
            </a: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unary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 relationships.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typical business example arises when we have a business rule such as "a staff member supervises other staff members".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role of one staff member may be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supervisor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whereas the role of another staff member may be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supervisee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9392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  <a:br>
              <a:rPr lang="en-US" dirty="0"/>
            </a:br>
            <a:r>
              <a:rPr lang="en-US" sz="3200" dirty="0"/>
              <a:t>Recursive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recursiv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331" y="3263528"/>
            <a:ext cx="7924800" cy="382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160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rgbClr val="00B050"/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As well as assigning a name to a relationship type, we also assign structural constraints (i.e. describe it’s cardinality and participation).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071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Cardinality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: Cardinality is a constraint on a relationship specifying the number of entity instances that a specific entity may be related to via the relationship.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Consider the relationship "works in". When we ask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How many employees can work in a single department?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or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How many departments can an employee work in?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we are asking questions regarding the cardinality of the relationship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1468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There are three classifications, and these are: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one-to-one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(1:1)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one-to-many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(1:*)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and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many-to-many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(*:*)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7337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one-to-one (1:1) Cardinality 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One-to-one relationships have 1 specified for both cardinalities, and do not seem to arise very often. To illustrate a one-to-one, we require very specific business rules.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2719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one-to-one (1:1) Cardinality 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Suppose we have Staff and Vehicles. Assume that we are only concerned with the current driver of a vehicle, and that we are only concerned with the current vehicle that a driver is operating. Then, we have a one-to-one relationship between Staff and Vehicle.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101" y="6781800"/>
            <a:ext cx="7360596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3366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one-to-many (1:*) Cardinality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One-to-many relationships has 1 specified at one side of the relationship type and many (*) at the other side.</a:t>
            </a:r>
            <a:endParaRPr lang="en-IE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For example, A Branch entity occurrence has many Staff members; and one Staff entity occurrence works in one Branch.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2" y="6957237"/>
            <a:ext cx="558228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878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many-to-many (*:*) Cardinality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Many-to-many relationships have many (*) specified for both cardinalities.</a:t>
            </a:r>
            <a:endParaRPr lang="en-IE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For example, An Actor entity occurrence stars in many Videos; and a Video entity occurrence has many Actors.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32" y="6934200"/>
            <a:ext cx="565848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0298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Participation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Participation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Determines whether all or only some entity occurrences participate in a relationship.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There are 2 classifications for participation, these are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optional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mandatory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Optional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means that each entity occurrence may or may not participate in the relationship.</a:t>
            </a:r>
          </a:p>
          <a:p>
            <a:pPr lvl="1"/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Mandatory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means that each entity occurrence must participate in the relationship.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184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br>
              <a:rPr lang="en-IE" dirty="0"/>
            </a:br>
            <a:r>
              <a:rPr lang="en-IE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To represent (record) the cardinality and participation constraints, we will use 2 numbers (min, max) where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 represents the minimum participation of an entity occurrence in the relationship (participation). Max represents the maximum participation of an entity occurrence in the relationship (cardinality)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lvl="1"/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can be 0 (for optional) or 1 (for mandatory).</a:t>
            </a:r>
          </a:p>
          <a:p>
            <a:pPr lvl="1"/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max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can be 1 (for 1) or * (for many).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Note that these values may vary if a specific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and/or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max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is given.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2771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8" descr="DS3-Figure 11-14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345" y="2895600"/>
            <a:ext cx="8137187" cy="4157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08574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8" descr="DS3-Figure 11-15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354" y="2971800"/>
            <a:ext cx="7239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48578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8" descr="DS3-Figure 11-16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298" y="3048000"/>
            <a:ext cx="73914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27779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Summary of Structural Constraints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 descr="DS3-Table 11-01"/>
          <p:cNvPicPr/>
          <p:nvPr/>
        </p:nvPicPr>
        <p:blipFill>
          <a:blip r:embed="rId2" cstate="print"/>
          <a:srcRect l="84" t="12500"/>
          <a:stretch>
            <a:fillRect/>
          </a:stretch>
        </p:blipFill>
        <p:spPr bwMode="auto">
          <a:xfrm>
            <a:off x="4479131" y="3352801"/>
            <a:ext cx="8686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99297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Structural Constraints</a:t>
            </a:r>
            <a:br>
              <a:rPr lang="en-GB" dirty="0"/>
            </a:br>
            <a:r>
              <a:rPr lang="en-GB" dirty="0"/>
              <a:t>Exercise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Draw Entity and Relationship types (with structural constraints) for the following: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course offers at least 6 modules and a module may or may not be offered on a few courses. A lecturer is assigned 3 (and only 3) modules and a module may or may not be only assigned to 1 lecturer. </a:t>
            </a:r>
          </a:p>
          <a:p>
            <a:pPr marL="914400" lvl="2" indent="0">
              <a:spcBef>
                <a:spcPts val="600"/>
              </a:spcBef>
              <a:buNone/>
            </a:pP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932" y="228600"/>
            <a:ext cx="245779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6795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Structural Constraints</a:t>
            </a:r>
            <a:br>
              <a:rPr lang="en-GB" dirty="0"/>
            </a:br>
            <a:r>
              <a:rPr lang="en-GB" dirty="0"/>
              <a:t>Exercise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spcBef>
                <a:spcPts val="600"/>
              </a:spcBef>
              <a:buNone/>
            </a:pP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932" y="228600"/>
            <a:ext cx="245779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1111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rgbClr val="00B050"/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Type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Attributes can also be assigned to relationship types. They represent a data item value that needs to be recorded when an entity occurrence on each side of the relationship is associated with one another.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Example, suppose we have entity types Student and Module that are associated via a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studies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relationship type. An attribute that helps to describe a Student studying a Module is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grade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 This will record the grade that each student obtains on each module that they are associated with.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3118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1116</Words>
  <Application>Microsoft Office PowerPoint</Application>
  <PresentationFormat>Custom</PresentationFormat>
  <Paragraphs>96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Helvetica</vt:lpstr>
      <vt:lpstr>Helvetica Neue</vt:lpstr>
      <vt:lpstr>Helvetica Neue Light</vt:lpstr>
      <vt:lpstr>Helvetica Neue Medium</vt:lpstr>
      <vt:lpstr>ModernPortfolio</vt:lpstr>
      <vt:lpstr>Relationships and Relationship Types</vt:lpstr>
      <vt:lpstr>   Concepts of the ER Model (Recap)</vt:lpstr>
      <vt:lpstr>Topics List</vt:lpstr>
      <vt:lpstr>Relationships</vt:lpstr>
      <vt:lpstr>Relationships</vt:lpstr>
      <vt:lpstr>Relationship Type</vt:lpstr>
      <vt:lpstr>Relationship Type</vt:lpstr>
      <vt:lpstr>Topics List</vt:lpstr>
      <vt:lpstr>Degree of a Relationship</vt:lpstr>
      <vt:lpstr>Degree of a Relationship</vt:lpstr>
      <vt:lpstr>Degree of a Relationship Recursive Relationship</vt:lpstr>
      <vt:lpstr>Degree of a Relationship Recursive Relationship</vt:lpstr>
      <vt:lpstr>Topics List</vt:lpstr>
      <vt:lpstr>Structural Constraints</vt:lpstr>
      <vt:lpstr>Structural Constraints Cardinality</vt:lpstr>
      <vt:lpstr>Structural Constraints Cardinality</vt:lpstr>
      <vt:lpstr>Structural Constraints Cardinality</vt:lpstr>
      <vt:lpstr>Structural Constraints Cardinality</vt:lpstr>
      <vt:lpstr>Structural Constraints Cardinality</vt:lpstr>
      <vt:lpstr>Structural Constraints Cardinality</vt:lpstr>
      <vt:lpstr>Structural Constraints Participation</vt:lpstr>
      <vt:lpstr>  Structural Constraints</vt:lpstr>
      <vt:lpstr>Structural Constraints Example 1</vt:lpstr>
      <vt:lpstr>Structural Constraints Example 2</vt:lpstr>
      <vt:lpstr>Structural Constraints Example 3</vt:lpstr>
      <vt:lpstr>Structural Constraints</vt:lpstr>
      <vt:lpstr>Structural Constraints Exercise</vt:lpstr>
      <vt:lpstr>Structural Constraints Exercise</vt:lpstr>
      <vt:lpstr>Topics List</vt:lpstr>
      <vt:lpstr>Relationship Type Attributes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 and Relationship Types</dc:title>
  <dc:creator>mary</dc:creator>
  <cp:lastModifiedBy>Tom O CALLAGHAN</cp:lastModifiedBy>
  <cp:revision>98</cp:revision>
  <dcterms:modified xsi:type="dcterms:W3CDTF">2021-09-16T19:39:07Z</dcterms:modified>
</cp:coreProperties>
</file>