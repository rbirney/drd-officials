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  <p:sldMasterId id="2147483676" r:id="rId3"/>
  </p:sldMasterIdLst>
  <p:notesMasterIdLst>
    <p:notesMasterId r:id="rId30"/>
  </p:notesMasterIdLst>
  <p:handoutMasterIdLst>
    <p:handoutMasterId r:id="rId31"/>
  </p:handoutMasterIdLst>
  <p:sldIdLst>
    <p:sldId id="399" r:id="rId4"/>
    <p:sldId id="278" r:id="rId5"/>
    <p:sldId id="443" r:id="rId6"/>
    <p:sldId id="398" r:id="rId7"/>
    <p:sldId id="444" r:id="rId8"/>
    <p:sldId id="445" r:id="rId9"/>
    <p:sldId id="441" r:id="rId10"/>
    <p:sldId id="283" r:id="rId11"/>
    <p:sldId id="284" r:id="rId12"/>
    <p:sldId id="285" r:id="rId13"/>
    <p:sldId id="413" r:id="rId14"/>
    <p:sldId id="288" r:id="rId15"/>
    <p:sldId id="414" r:id="rId16"/>
    <p:sldId id="289" r:id="rId17"/>
    <p:sldId id="290" r:id="rId18"/>
    <p:sldId id="317" r:id="rId19"/>
    <p:sldId id="318" r:id="rId20"/>
    <p:sldId id="314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792" y="60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63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AED30-7077-4C1D-BEB9-86F1E5751CE8}" type="datetimeFigureOut">
              <a:rPr lang="en-IE" smtClean="0"/>
              <a:t>14/01/2026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001F9-17E2-4EBA-85E2-E56B78F910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37769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33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29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10058709" y="7975602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8099" tIns="38099" rIns="38099" bIns="38099" anchor="ctr"/>
          <a:lstStyle/>
          <a:p>
            <a:pPr algn="l" defTabSz="3429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23" name="Shape 23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7594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879657" y="7785100"/>
            <a:ext cx="7721836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10465120" y="8470900"/>
            <a:ext cx="6604202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17145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34290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51435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68580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tabLst>
                <a:tab pos="224155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tabLst>
                <a:tab pos="224155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tabLst>
                <a:tab pos="224155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tabLst>
                <a:tab pos="224155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tabLst>
                <a:tab pos="224155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762023" y="1968502"/>
            <a:ext cx="6764732" cy="13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8099" tIns="38099" rIns="38099" bIns="38099" anchor="ctr"/>
          <a:lstStyle/>
          <a:p>
            <a:pPr algn="l" defTabSz="3429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70" name="Shape 70"/>
          <p:cNvSpPr>
            <a:spLocks noGrp="1"/>
          </p:cNvSpPr>
          <p:nvPr>
            <p:ph type="pic" idx="13"/>
          </p:nvPr>
        </p:nvSpPr>
        <p:spPr>
          <a:xfrm>
            <a:off x="8670131" y="0"/>
            <a:ext cx="8670132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762023" y="330200"/>
            <a:ext cx="677354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sz="half" idx="1"/>
          </p:nvPr>
        </p:nvSpPr>
        <p:spPr>
          <a:xfrm>
            <a:off x="762023" y="2222500"/>
            <a:ext cx="6773540" cy="6667500"/>
          </a:xfrm>
          <a:prstGeom prst="rect">
            <a:avLst/>
          </a:prstGeom>
        </p:spPr>
        <p:txBody>
          <a:bodyPr/>
          <a:lstStyle>
            <a:lvl1pPr marL="247650" indent="-247650">
              <a:spcBef>
                <a:spcPts val="2250"/>
              </a:spcBef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495300" indent="-247650">
              <a:spcBef>
                <a:spcPts val="2250"/>
              </a:spcBef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42950" indent="-247650">
              <a:spcBef>
                <a:spcPts val="2250"/>
              </a:spcBef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90600" indent="-247650">
              <a:spcBef>
                <a:spcPts val="2250"/>
              </a:spcBef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38250" indent="-247650">
              <a:spcBef>
                <a:spcPts val="2250"/>
              </a:spcBef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681013" y="9194801"/>
            <a:ext cx="267702" cy="264175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1185370" y="889000"/>
            <a:ext cx="14952590" cy="796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 flipH="1">
            <a:off x="12073834" y="508003"/>
            <a:ext cx="171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8099" tIns="38099" rIns="38099" bIns="38099" anchor="ctr"/>
          <a:lstStyle/>
          <a:p>
            <a:pPr algn="l" defTabSz="3429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89" name="Shape 89"/>
          <p:cNvSpPr/>
          <p:nvPr/>
        </p:nvSpPr>
        <p:spPr>
          <a:xfrm>
            <a:off x="12073831" y="4464053"/>
            <a:ext cx="4598144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8099" tIns="38099" rIns="38099" bIns="38099" anchor="ctr"/>
          <a:lstStyle/>
          <a:p>
            <a:pPr algn="l" defTabSz="3429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0" name="Shape 90"/>
          <p:cNvSpPr>
            <a:spLocks noGrp="1"/>
          </p:cNvSpPr>
          <p:nvPr>
            <p:ph type="pic" sz="quarter" idx="13"/>
          </p:nvPr>
        </p:nvSpPr>
        <p:spPr>
          <a:xfrm>
            <a:off x="12293977" y="4622800"/>
            <a:ext cx="4368933" cy="386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sz="quarter" idx="14"/>
          </p:nvPr>
        </p:nvSpPr>
        <p:spPr>
          <a:xfrm>
            <a:off x="12293977" y="508000"/>
            <a:ext cx="4368933" cy="379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pic" idx="15"/>
          </p:nvPr>
        </p:nvSpPr>
        <p:spPr>
          <a:xfrm>
            <a:off x="694288" y="508000"/>
            <a:ext cx="11159408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694288" y="8661400"/>
            <a:ext cx="11159408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17145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34290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51435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685800">
              <a:spcBef>
                <a:spcPts val="0"/>
              </a:spcBef>
              <a:buSzTx/>
              <a:buFontTx/>
              <a:buNone/>
              <a:defRPr sz="195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40267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42900">
              <a:spcBef>
                <a:spcPts val="0"/>
              </a:spcBef>
              <a:buSzTx/>
              <a:buFontTx/>
              <a:buNone/>
              <a:defRPr sz="195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4"/>
          </p:nvPr>
        </p:nvSpPr>
        <p:spPr>
          <a:xfrm>
            <a:off x="1693385" y="4366072"/>
            <a:ext cx="13953493" cy="56425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42900">
              <a:spcBef>
                <a:spcPts val="1800"/>
              </a:spcBef>
              <a:buSzTx/>
              <a:buFontTx/>
              <a:buNone/>
              <a:defRPr sz="3000"/>
            </a:lvl1pPr>
          </a:lstStyle>
          <a:p>
            <a:r>
              <a:t>“Type a quote here.”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513" y="2007544"/>
            <a:ext cx="15895242" cy="3144337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399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12" y="2007545"/>
            <a:ext cx="7803118" cy="3029069"/>
          </a:xfrm>
        </p:spPr>
        <p:txBody>
          <a:bodyPr/>
          <a:lstStyle>
            <a:lvl1pPr marL="362636" indent="-362636">
              <a:lnSpc>
                <a:spcPct val="90000"/>
              </a:lnSpc>
              <a:defRPr sz="3000"/>
            </a:lvl1pPr>
            <a:lvl2pPr marL="718216" indent="-347114">
              <a:lnSpc>
                <a:spcPct val="90000"/>
              </a:lnSpc>
              <a:defRPr sz="2550"/>
            </a:lvl2pPr>
            <a:lvl3pPr marL="1017355" indent="-307605">
              <a:lnSpc>
                <a:spcPct val="90000"/>
              </a:lnSpc>
              <a:defRPr sz="2100"/>
            </a:lvl3pPr>
            <a:lvl4pPr marL="1309439" indent="-292084">
              <a:lnSpc>
                <a:spcPct val="90000"/>
              </a:lnSpc>
              <a:defRPr sz="1950"/>
            </a:lvl4pPr>
            <a:lvl5pPr marL="1617044" indent="-299139">
              <a:lnSpc>
                <a:spcPct val="90000"/>
              </a:lnSpc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4633" y="2007545"/>
            <a:ext cx="7803118" cy="3029069"/>
          </a:xfrm>
        </p:spPr>
        <p:txBody>
          <a:bodyPr/>
          <a:lstStyle>
            <a:lvl1pPr marL="371102" indent="-371102">
              <a:lnSpc>
                <a:spcPct val="90000"/>
              </a:lnSpc>
              <a:defRPr sz="3000"/>
            </a:lvl1pPr>
            <a:lvl2pPr marL="718216" indent="-362636">
              <a:lnSpc>
                <a:spcPct val="90000"/>
              </a:lnSpc>
              <a:defRPr sz="2550"/>
            </a:lvl2pPr>
            <a:lvl3pPr marL="1025821" indent="-323127">
              <a:lnSpc>
                <a:spcPct val="90000"/>
              </a:lnSpc>
              <a:defRPr sz="2100"/>
            </a:lvl3pPr>
            <a:lvl4pPr marL="1309439" indent="-283618">
              <a:lnSpc>
                <a:spcPct val="90000"/>
              </a:lnSpc>
              <a:defRPr sz="1950"/>
            </a:lvl4pPr>
            <a:lvl5pPr marL="1617044" indent="-292084">
              <a:lnSpc>
                <a:spcPct val="90000"/>
              </a:lnSpc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7449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015" y="27095"/>
            <a:ext cx="5491084" cy="467361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fld id="{2CDF4C1E-2C77-4154-ADD8-310B6460F8A9}" type="datetimeFigureOut">
              <a:rPr lang="en-US"/>
              <a:pPr>
                <a:defRPr/>
              </a:pPr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02599" y="27095"/>
            <a:ext cx="7803118" cy="467361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506431" y="9194801"/>
            <a:ext cx="267701" cy="26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35430-8769-424E-9E74-CCA21C0C7F8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3496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4ADA-1F4E-4A2C-9566-6454F38A1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6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F0EB4-5D48-45C5-8E74-68178D693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EE474-C1A2-4A6E-AC05-640EC6FF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9B21E-671B-4B41-9283-0D196EBD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A10C9-66F0-4F5E-93CA-BF3D7C33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673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5768-AD0B-4195-AE16-4D9CE4FA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3E6E1-1A14-4248-9DA0-91EDEA532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ED971-20FC-43EB-9EBB-FD8D032C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4F945-E5D6-4741-948A-F5393267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81053-BE15-4B24-B727-B333F138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226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9F34-6810-4F78-BA60-B248056F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A6C73-F927-45A8-B616-5C9CE187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C9D2-E161-482A-AF69-6BE18705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9F613-EC0F-4D19-84DA-C3E1DAC3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DF74C-D51A-4A1B-B8D0-3B5C23D9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919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1306-B5DF-42ED-8C2E-96A99DE1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72FC-E56E-4471-A842-F55ED1ECC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547C6-7941-4744-B87E-2546C104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F264F-4B45-428D-8A39-93995AC1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9AE72-D438-4E03-8932-D1186E1C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8A2B8-0213-4652-8E32-8A3B00D7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580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8E6-B8D0-44DA-96F4-9A6F18BF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FFF37-7517-4856-90A5-4C6109A2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A0D24-36CC-48CC-9D72-F2AED7DA8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E5E3A-D57B-4089-ABE0-B2284DF60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5A4DA-FA15-412A-B095-35F7D4B11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1547A-8FD2-4415-80ED-E0485D83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D7B91-CFB9-4FD1-8F0F-7C774A21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2CA8-EE24-4023-B588-13E89431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654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D8F3-E5DB-4987-86B0-04E3E213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CF4B5-2E5E-4662-963F-EF3A2185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59295-6B66-4370-B13E-C9532316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67B8A-2A76-412C-ACA2-0759EF49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00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A9F8A-49BB-4463-A2E0-AF03CBCA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415E2-1BDB-40FD-8175-FF436804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F3E47-4872-4534-8E07-57B592FD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314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D33A-815D-464C-80CB-0A72EDBD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185F2-E142-4CE8-A298-FBDE4D726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9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1CEF0-9C02-45E6-A80C-4BDB12D49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CBAED-A292-4B1B-8B7C-1E29F25B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FF7F1-0FC7-4549-BFCE-619BC938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89F7A-A00B-46C7-A855-CD6057FB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816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7F76-CFC0-48FC-9703-E4A32C83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37178-5063-4EA0-955B-B3DEABBCD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9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D8508-550F-4073-B728-3BCDFB90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49C0E-C74C-4D20-8B6F-390D7823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23DE-5C4C-4791-AA8F-52FA307C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DDF3D-6711-4F83-9B95-EB333604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507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2E53-FDC0-477D-8FF8-4F91E390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0DC6C-9DAA-4FD1-8483-E172E3966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2786-D1D9-4D88-A839-9B644316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1695-E35D-4751-B533-8B56CD0C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4859C-FDB8-4F4D-B42F-371F8B82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658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882ED2-CA13-4A3E-9FF1-19DDCEBE3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519113"/>
            <a:ext cx="3738148" cy="8266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6F00D-8657-4903-9E6B-569F55FDA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519113"/>
            <a:ext cx="11015470" cy="8266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11D2D-A868-494F-A8E6-5D0C3FBB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784D-BC4A-4E41-B3CC-2C0AE003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5704B-1150-4F94-8949-0E1FF158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086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0A9A-5A32-4593-81BF-7A4D533C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6F9C5-FD27-496E-8906-99D033EC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E7B9-9427-49F7-94B8-73402D05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A779-2191-4F03-9A52-EDD42BA6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A21F7-1D82-452D-8F4F-66404406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000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641A-97F0-42B6-ACCC-6405AF1F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C22D-E4D1-46FB-BE82-21D3347D5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53530-F369-4E3E-A34D-F1F76F22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DF4C1E-2C77-4154-ADD8-310B6460F8A9}" type="datetimeFigureOut">
              <a:rPr lang="en-US" smtClean="0"/>
              <a:pPr>
                <a:defRPr/>
              </a:pPr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D6DD-2839-4E32-9CF3-7A01DCF0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34A2-73A4-447B-B360-C67DAA58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35430-8769-424E-9E74-CCA21C0C7F8F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0709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D0ED-88C8-4CF4-B088-CA2E2F14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42B5-E91F-4EAF-80DE-AA39FA2D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99024-EA75-4689-8956-9268582E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6AE88-6A54-4018-B3FA-F9571169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2179F-AFE7-44BD-8412-406E6BD2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688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9F5C-F1A7-4F26-9AD3-639EAA93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D0D8-81ED-47AA-A00D-75343AF07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E7F04-184F-4769-95D3-5E99562BE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809E9-DBA0-450A-9F49-B0645A8C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8E6DE-BAD5-4E87-9B35-4B5CC2F5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C516A-E742-4728-B950-BF5CD0CA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7926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00E1-B67E-42E6-B19A-677AD1D1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E299C-7F58-4AA5-91E5-B8C640F3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A4A4E-35BE-487F-87F7-334E038B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B2BFE-F854-41AF-B915-17811678B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FE39F-C863-4122-952A-FF8D61058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DB1546-84C1-4A1F-8A10-FE88F29C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2BF4F-F994-4D3D-9B0D-36EB6E84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00D7E-1F66-4284-95EB-B575028C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4685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AFA3-B026-434E-9C43-8F5DE54E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7204-275D-4CE2-85BE-07F4367B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1DDF3-BB15-460C-B274-C002A022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87B5F-DCFF-453A-8E20-EC2931F4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901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35630-C51A-4742-BC91-78CBC862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CC7D6-6325-4247-B5EF-48C0E29D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C1E70-502B-488E-A867-419DBCD3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1115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17E9-64CE-435A-910C-80032833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F047-267F-4F2C-BED6-2F75BFCD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516E6-49C6-49D1-95CA-C6EFCEED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084ED-187C-4958-B8AC-8AD405B1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7323D-19EF-4E3F-BC4C-55D733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B75B2-6DCE-48E9-BB49-8BCBF500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7763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8752-0F07-4D73-A575-491D80F4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C18B2-08E8-4538-B9BC-E68E69585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BEB96-90B3-4F48-B654-836376968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2EAF7-F641-4BA2-B8E5-E9CA494A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ED160-FCF3-49A7-90D1-E57BEEF8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14060-35CA-44EA-A4EA-256EE7C2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4998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79D-573E-43CA-AF45-75224033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9DFD4-0658-4D54-A63C-43585DCCD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2EF1-0AEE-4C69-BB0F-A1ACC8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114A-8503-47E6-B1BB-BB12E9F3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5D1E0-BAE3-4157-8DF6-8018023A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6143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2F404-59AD-4432-91A6-DC800CD51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C78BB-D0E3-4EBF-B755-959223799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FD3F-5C8C-443C-AC5B-30F49139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E8B29-0AAA-47B9-A833-2C66412F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2BF19-EED0-4D4E-8EC9-AD0CC6B6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8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62023" y="1968503"/>
            <a:ext cx="15824625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8099" tIns="38099" rIns="38099" bIns="38099" anchor="ctr"/>
          <a:lstStyle/>
          <a:p>
            <a:pPr algn="l" defTabSz="3429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2024" y="330200"/>
            <a:ext cx="15816216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2024" y="2222500"/>
            <a:ext cx="15816216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6506431" y="9194801"/>
            <a:ext cx="267701" cy="26417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 spd="med"/>
  <p:hf sldNum="0" hdr="0" ftr="0" dt="0"/>
  <p:txStyles>
    <p:titleStyle>
      <a:lvl1pPr marL="0" marR="0" indent="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7145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34290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51435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68580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85725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02870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20015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371600" algn="l" defTabSz="4381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5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3429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6858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0287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3716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17145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0574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24003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27432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3086100" marR="0" indent="-342900" algn="l" defTabSz="438150" rtl="0" latinLnBrk="0">
        <a:lnSpc>
          <a:spcPct val="100000"/>
        </a:lnSpc>
        <a:spcBef>
          <a:spcPts val="3150"/>
        </a:spcBef>
        <a:spcAft>
          <a:spcPts val="0"/>
        </a:spcAft>
        <a:buClrTx/>
        <a:buSzPct val="75000"/>
        <a:buFont typeface="Helvetica Neue"/>
        <a:buChar char="•"/>
        <a:tabLst/>
        <a:defRPr sz="27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90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5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r" defTabSz="4381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5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76E03-1368-4CB9-A087-8129B4F3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95970-2E12-4329-AEC8-93D28C00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4E24C-3172-447A-882F-DDB255F5C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1720" y="9040813"/>
            <a:ext cx="3901135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C7D0A-A636-4A58-BC9E-6B62A3884577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D5B8-A39E-4B27-B42F-177015D9D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4809" y="9040813"/>
            <a:ext cx="5850645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85D60-5F10-4687-AFD0-D0D12536B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7408" y="9040813"/>
            <a:ext cx="3901136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B7FE-14DD-41A2-816B-697037568F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9F2D6-E623-45C5-A10A-750A90B1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08778-3C62-4556-9450-9D0B7B31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03158-A4C6-49F0-9BB4-24BDA774E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7F357-997D-4F66-B8EB-6001506F5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6E989-C092-43BB-AB7C-4804D431C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19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>
            <a:normAutofit/>
          </a:bodyPr>
          <a:lstStyle/>
          <a:p>
            <a:r>
              <a:rPr lang="en-US" sz="8800" dirty="0"/>
              <a:t>Introduction to Databases</a:t>
            </a:r>
            <a:endParaRPr lang="en-IE" noProof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5A2176A-F514-4DFD-5EDD-11963ABB9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noProof="0" dirty="0"/>
          </a:p>
        </p:txBody>
      </p:sp>
      <p:sp>
        <p:nvSpPr>
          <p:cNvPr id="2" name="Lightning Bolt 1" descr="-">
            <a:extLst>
              <a:ext uri="{FF2B5EF4-FFF2-40B4-BE49-F238E27FC236}">
                <a16:creationId xmlns:a16="http://schemas.microsoft.com/office/drawing/2014/main" id="{8357F06C-ACB9-73CB-6DC5-0054E103720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ightning Bolt 2" descr="-">
            <a:extLst>
              <a:ext uri="{FF2B5EF4-FFF2-40B4-BE49-F238E27FC236}">
                <a16:creationId xmlns:a16="http://schemas.microsoft.com/office/drawing/2014/main" id="{7DF4CA5B-E2D5-467C-D6B8-A1EE3EBA387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272010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GB" altLang="en-US" sz="3600" dirty="0">
                <a:solidFill>
                  <a:srgbClr val="00B050"/>
                </a:solidFill>
              </a:rPr>
              <a:t>Database overview</a:t>
            </a:r>
          </a:p>
          <a:p>
            <a:pPr algn="just" eaLnBrk="1" hangingPunct="1"/>
            <a:r>
              <a:rPr lang="en-GB" altLang="en-US" sz="3600" dirty="0"/>
              <a:t>Relational database concepts</a:t>
            </a:r>
          </a:p>
          <a:p>
            <a:pPr algn="just"/>
            <a:r>
              <a:rPr lang="en-GB" altLang="en-US" sz="3600" dirty="0"/>
              <a:t>Non-relational database concepts</a:t>
            </a:r>
          </a:p>
          <a:p>
            <a:pPr algn="just" eaLnBrk="1" hangingPunct="1"/>
            <a:endParaRPr lang="en-GB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963885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24" y="228600"/>
            <a:ext cx="15816216" cy="1397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Database Overview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62024" y="2286000"/>
            <a:ext cx="15816216" cy="6019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Database is a large collection of related data.</a:t>
            </a:r>
          </a:p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Classically, a database models a real-world organisation (e.g. enterprise, university).</a:t>
            </a:r>
          </a:p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Entities/objects of interest (e.g. students, courses).</a:t>
            </a:r>
          </a:p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Relationships (e.g. “Martin is taking IDS in 2024/25”).</a:t>
            </a:r>
          </a:p>
          <a:p>
            <a:pPr>
              <a:lnSpc>
                <a:spcPct val="150000"/>
              </a:lnSpc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Changes in the organisation results in changes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6838170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Database Overview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62024" y="2286000"/>
            <a:ext cx="15816216" cy="6019800"/>
          </a:xfrm>
        </p:spPr>
        <p:txBody>
          <a:bodyPr>
            <a:noAutofit/>
          </a:bodyPr>
          <a:lstStyle/>
          <a:p>
            <a:r>
              <a:rPr lang="en-GB" altLang="en-US" sz="3600" dirty="0">
                <a:ea typeface="ＭＳ Ｐゴシック" panose="020B0600070205080204" pitchFamily="34" charset="-128"/>
              </a:rPr>
              <a:t>A Database Management System (DBMS) is software that enables efficient storage, organisation, and retrieval of data.</a:t>
            </a:r>
            <a:r>
              <a:rPr lang="en-US" altLang="en-US" sz="36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Collection of interrelated data (database).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Set of programs to access the data. 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An environment that is both </a:t>
            </a:r>
            <a:r>
              <a:rPr lang="en-US" altLang="en-US" sz="3600" i="1" dirty="0">
                <a:ea typeface="ＭＳ Ｐゴシック" panose="020B0600070205080204" pitchFamily="34" charset="-128"/>
              </a:rPr>
              <a:t>convenient</a:t>
            </a:r>
            <a:r>
              <a:rPr lang="en-US" altLang="en-US" sz="36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3600" i="1" dirty="0">
                <a:ea typeface="ＭＳ Ｐゴシック" panose="020B0600070205080204" pitchFamily="34" charset="-128"/>
              </a:rPr>
              <a:t>efficient</a:t>
            </a:r>
            <a:r>
              <a:rPr lang="en-US" altLang="en-US" sz="3600" dirty="0">
                <a:ea typeface="ＭＳ Ｐゴシック" panose="020B0600070205080204" pitchFamily="34" charset="-128"/>
              </a:rPr>
              <a:t> to use.</a:t>
            </a:r>
          </a:p>
          <a:p>
            <a:pPr marL="0" indent="0">
              <a:lnSpc>
                <a:spcPct val="150000"/>
              </a:lnSpc>
              <a:spcBef>
                <a:spcPts val="450"/>
              </a:spcBef>
              <a:buNone/>
            </a:pPr>
            <a:endParaRPr lang="en-GB" altLang="en-US" sz="3600" dirty="0">
              <a:solidFill>
                <a:schemeClr val="bg1">
                  <a:lumMod val="50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207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Database Overview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62024" y="2286000"/>
            <a:ext cx="15816216" cy="6781800"/>
          </a:xfrm>
        </p:spPr>
        <p:txBody>
          <a:bodyPr>
            <a:noAutofit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Database Applications: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Banking: transactions.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Airlines: reservations, schedules.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Universities:  registration, grades.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Sales: customers, products, purchases.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Online retailers: order tracking, customized recommendations.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Manufacturing: production, inventory, orders, supply chain.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Human resources:  employee records, salaries, tax deductions.</a:t>
            </a:r>
          </a:p>
          <a:p>
            <a:pPr marL="0" indent="0">
              <a:lnSpc>
                <a:spcPct val="150000"/>
              </a:lnSpc>
              <a:spcBef>
                <a:spcPts val="450"/>
              </a:spcBef>
              <a:buNone/>
            </a:pPr>
            <a:endParaRPr lang="en-GB" altLang="en-US" sz="3600" dirty="0">
              <a:solidFill>
                <a:schemeClr val="bg1">
                  <a:lumMod val="50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771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Database Overview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62024" y="2286000"/>
            <a:ext cx="15816216" cy="6781800"/>
          </a:xfrm>
        </p:spPr>
        <p:txBody>
          <a:bodyPr>
            <a:noAutofit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Database Application examples: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Add new students, instructors, and courses.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Register students for courses and generate class rosters.</a:t>
            </a:r>
          </a:p>
          <a:p>
            <a:pPr lvl="1">
              <a:spcBef>
                <a:spcPts val="600"/>
              </a:spcBef>
            </a:pPr>
            <a:r>
              <a:rPr lang="en-US" altLang="en-US" sz="3600" dirty="0">
                <a:ea typeface="ＭＳ Ｐゴシック" panose="020B0600070205080204" pitchFamily="34" charset="-128"/>
              </a:rPr>
              <a:t>Assign grades to students, compute grade point averages (GPA) and generate transcripts.</a:t>
            </a:r>
          </a:p>
          <a:p>
            <a:pPr marL="0" indent="0">
              <a:buNone/>
            </a:pPr>
            <a:endParaRPr lang="en-US" altLang="en-US" sz="3600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36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150000"/>
              </a:lnSpc>
              <a:spcBef>
                <a:spcPts val="450"/>
              </a:spcBef>
              <a:buNone/>
            </a:pPr>
            <a:endParaRPr lang="en-GB" altLang="en-US" sz="3600" dirty="0">
              <a:solidFill>
                <a:schemeClr val="bg1">
                  <a:lumMod val="50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3095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4400" dirty="0"/>
              <a:t>Operations with Databases</a:t>
            </a:r>
            <a:endParaRPr lang="en-GB" altLang="en-US" sz="44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62024" y="2286000"/>
            <a:ext cx="15816216" cy="6172200"/>
          </a:xfrm>
        </p:spPr>
        <p:txBody>
          <a:bodyPr>
            <a:noAutofit/>
          </a:bodyPr>
          <a:lstStyle/>
          <a:p>
            <a:pPr>
              <a:spcBef>
                <a:spcPts val="450"/>
              </a:spcBef>
            </a:pP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Design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Define structure and types of data.</a:t>
            </a:r>
          </a:p>
          <a:p>
            <a:pPr>
              <a:spcBef>
                <a:spcPts val="450"/>
              </a:spcBef>
            </a:pP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Construction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Create data structures for the database, populate database with data.</a:t>
            </a:r>
          </a:p>
          <a:p>
            <a:pPr>
              <a:spcBef>
                <a:spcPts val="450"/>
              </a:spcBef>
            </a:pP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Manipulation of Data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Insert, delete, update.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Query: “Which department pays the highest salary?”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Create reports:</a:t>
            </a:r>
          </a:p>
          <a:p>
            <a:pPr lvl="2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  <a:cs typeface="Times New Roman" pitchFamily="18" charset="0"/>
              </a:rPr>
              <a:t>“List monthly salaries of employees, organised by department, with average salary and total sum of salaries for each department”.</a:t>
            </a:r>
          </a:p>
        </p:txBody>
      </p:sp>
    </p:spTree>
    <p:extLst>
      <p:ext uri="{BB962C8B-B14F-4D97-AF65-F5344CB8AC3E}">
        <p14:creationId xmlns:p14="http://schemas.microsoft.com/office/powerpoint/2010/main" val="417424812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Evolution from File-Based Systems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821531" y="2362201"/>
            <a:ext cx="15697200" cy="6629399"/>
          </a:xfrm>
        </p:spPr>
        <p:txBody>
          <a:bodyPr>
            <a:noAutofit/>
          </a:bodyPr>
          <a:lstStyle/>
          <a:p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File-based system:</a:t>
            </a:r>
          </a:p>
          <a:p>
            <a:pPr lvl="1"/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Collection of application programs that perform services for the end users (e.g. reports).</a:t>
            </a:r>
          </a:p>
          <a:p>
            <a:pPr lvl="1"/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Each program defines and manages its own data.</a:t>
            </a:r>
          </a:p>
        </p:txBody>
      </p:sp>
    </p:spTree>
    <p:extLst>
      <p:ext uri="{BB962C8B-B14F-4D97-AF65-F5344CB8AC3E}">
        <p14:creationId xmlns:p14="http://schemas.microsoft.com/office/powerpoint/2010/main" val="401986938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975305">
              <a:defRPr/>
            </a:pPr>
            <a:r>
              <a:rPr lang="en-GB" sz="4400" dirty="0"/>
              <a:t>File-Based Processing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202531" y="2045432"/>
            <a:ext cx="16329619" cy="7593655"/>
          </a:xfrm>
        </p:spPr>
        <p:txBody>
          <a:bodyPr/>
          <a:lstStyle/>
          <a:p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E040E2-D48E-4752-C7CA-4364E01FC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84" y="2844971"/>
            <a:ext cx="8552793" cy="34290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1A79A3-7FC8-DDAD-BDC0-4229DB2FA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683" y="6324600"/>
            <a:ext cx="8552793" cy="2018397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907446879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Limitations of File-Based Approach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62024" y="2286000"/>
            <a:ext cx="15816216" cy="6629400"/>
          </a:xfrm>
        </p:spPr>
        <p:txBody>
          <a:bodyPr>
            <a:noAutofit/>
          </a:bodyPr>
          <a:lstStyle/>
          <a:p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Separation and isolation of data</a:t>
            </a:r>
          </a:p>
          <a:p>
            <a:pPr lvl="1"/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Each program maintains its own set of data.</a:t>
            </a:r>
          </a:p>
          <a:p>
            <a:pPr lvl="1">
              <a:spcBef>
                <a:spcPts val="120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Users of one program may be unaware of potentially useful data held by other programs.</a:t>
            </a:r>
          </a:p>
          <a:p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Duplication of data</a:t>
            </a:r>
          </a:p>
          <a:p>
            <a:pPr lvl="1"/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Same data is held by different programs.</a:t>
            </a:r>
          </a:p>
          <a:p>
            <a:pPr lvl="1">
              <a:spcBef>
                <a:spcPts val="120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Wasted space and potentially different values and/or different formats for the same item.</a:t>
            </a:r>
          </a:p>
        </p:txBody>
      </p:sp>
    </p:spTree>
    <p:extLst>
      <p:ext uri="{BB962C8B-B14F-4D97-AF65-F5344CB8AC3E}">
        <p14:creationId xmlns:p14="http://schemas.microsoft.com/office/powerpoint/2010/main" val="160883315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Limitations of File-Based Approach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77824" y="2286000"/>
            <a:ext cx="15816215" cy="7061200"/>
          </a:xfrm>
        </p:spPr>
        <p:txBody>
          <a:bodyPr>
            <a:noAutofit/>
          </a:bodyPr>
          <a:lstStyle/>
          <a:p>
            <a:pPr eaLnBrk="1" hangingPunct="1"/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Data dependence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File structure is defined in the program code.</a:t>
            </a:r>
          </a:p>
          <a:p>
            <a:pPr eaLnBrk="1" hangingPunct="1"/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Incompatible file formats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Programs are written in different languages, and so cannot easily access each other’s files.</a:t>
            </a:r>
          </a:p>
          <a:p>
            <a:pPr eaLnBrk="1" hangingPunct="1"/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Fixed Queries/Proliferation of application programs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Programs are written to satisfy particular functions.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Any new requirement needs a new program.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0133126" y="8241352"/>
            <a:ext cx="3413656" cy="29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7532" tIns="48766" rIns="97532" bIns="48766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75">
                <a:latin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720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Database: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62024" y="2362200"/>
            <a:ext cx="15816216" cy="61722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Shared collection of logically related data (and a description of this data), designed to meet the information needs of an organisation.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System </a:t>
            </a:r>
            <a:r>
              <a:rPr lang="en-GB" sz="3600" dirty="0" err="1">
                <a:solidFill>
                  <a:schemeClr val="bg1">
                    <a:lumMod val="50000"/>
                  </a:schemeClr>
                </a:solidFill>
              </a:rPr>
              <a:t>catalog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 (metadata) provides description of  data to enable program–data independence.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Logically related data comprises entities, attributes, and relationships of an organisation’s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76851237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4400" dirty="0"/>
              <a:t>Database Approach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821532" y="2362200"/>
            <a:ext cx="15756708" cy="6019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Arose because: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Definition of data was embedded in application programs, rather than being stored separately and independently.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No control over access and manipulation of data beyond that imposed by application programs.</a:t>
            </a:r>
            <a:endParaRPr lang="en-GB" altLang="en-US" sz="3600" b="1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/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Result: </a:t>
            </a:r>
          </a:p>
          <a:p>
            <a:pPr lvl="1">
              <a:spcBef>
                <a:spcPts val="450"/>
              </a:spcBef>
            </a:pP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the Database and Database Management System (DBMS).</a:t>
            </a:r>
          </a:p>
        </p:txBody>
      </p:sp>
    </p:spTree>
    <p:extLst>
      <p:ext uri="{BB962C8B-B14F-4D97-AF65-F5344CB8AC3E}">
        <p14:creationId xmlns:p14="http://schemas.microsoft.com/office/powerpoint/2010/main" val="14287063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Database Management System (DBMS)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51318" y="2362200"/>
            <a:ext cx="15816216" cy="4909887"/>
          </a:xfrm>
        </p:spPr>
        <p:txBody>
          <a:bodyPr>
            <a:noAutofit/>
          </a:bodyPr>
          <a:lstStyle/>
          <a:p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A software system that enables users to </a:t>
            </a: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define</a:t>
            </a: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create</a:t>
            </a: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maintain</a:t>
            </a: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, and </a:t>
            </a:r>
            <a:r>
              <a:rPr lang="en-GB" altLang="en-US" sz="3600" b="1" dirty="0">
                <a:solidFill>
                  <a:schemeClr val="bg1">
                    <a:lumMod val="50000"/>
                  </a:schemeClr>
                </a:solidFill>
              </a:rPr>
              <a:t>control access </a:t>
            </a:r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to the database.</a:t>
            </a:r>
          </a:p>
          <a:p>
            <a:r>
              <a:rPr lang="en-GB" altLang="en-US" sz="3600" dirty="0">
                <a:solidFill>
                  <a:schemeClr val="bg1">
                    <a:lumMod val="50000"/>
                  </a:schemeClr>
                </a:solidFill>
              </a:rPr>
              <a:t>(Database) application program: a computer program that interacts with database by issuing an appropriate request (e.g. SQL statement) to the DBMS.</a:t>
            </a:r>
          </a:p>
        </p:txBody>
      </p:sp>
    </p:spTree>
    <p:extLst>
      <p:ext uri="{BB962C8B-B14F-4D97-AF65-F5344CB8AC3E}">
        <p14:creationId xmlns:p14="http://schemas.microsoft.com/office/powerpoint/2010/main" val="149893032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Database Management System (DBMS)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BC082-1C79-D15C-39C5-23E095948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331" y="2862851"/>
            <a:ext cx="9890707" cy="5138747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642735535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GB" altLang="en-US" sz="3600" dirty="0"/>
              <a:t>Database overview</a:t>
            </a:r>
          </a:p>
          <a:p>
            <a:pPr algn="just" eaLnBrk="1" hangingPunct="1"/>
            <a:r>
              <a:rPr lang="en-GB" altLang="en-US" sz="3600" dirty="0">
                <a:solidFill>
                  <a:srgbClr val="00B050"/>
                </a:solidFill>
              </a:rPr>
              <a:t>Relational database concepts</a:t>
            </a:r>
          </a:p>
          <a:p>
            <a:pPr algn="just"/>
            <a:r>
              <a:rPr lang="en-GB" altLang="en-US" sz="3600" dirty="0"/>
              <a:t>Non-relational database concepts</a:t>
            </a:r>
          </a:p>
        </p:txBody>
      </p:sp>
    </p:spTree>
    <p:extLst>
      <p:ext uri="{BB962C8B-B14F-4D97-AF65-F5344CB8AC3E}">
        <p14:creationId xmlns:p14="http://schemas.microsoft.com/office/powerpoint/2010/main" val="342912595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5649-6BD5-464B-BCCB-AE6F7B5D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Relational database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B618D-DA84-4E9A-BCA7-C275A75FC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sz="3600" dirty="0"/>
              <a:t>Conceptual design.</a:t>
            </a:r>
          </a:p>
          <a:p>
            <a:r>
              <a:rPr lang="en-GB" sz="3600" dirty="0"/>
              <a:t>Logical design.</a:t>
            </a:r>
          </a:p>
          <a:p>
            <a:r>
              <a:rPr lang="en-GB" sz="3600" dirty="0"/>
              <a:t>Physical design.</a:t>
            </a:r>
          </a:p>
          <a:p>
            <a:r>
              <a:rPr lang="en-GB" sz="3600" dirty="0"/>
              <a:t>Normalisation.</a:t>
            </a:r>
          </a:p>
          <a:p>
            <a:r>
              <a:rPr lang="en-GB" sz="3600" dirty="0"/>
              <a:t>Database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0743729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 dirty="0"/>
              <a:t>Relational database terminology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2023" y="2362200"/>
            <a:ext cx="15816216" cy="6629400"/>
          </a:xfrm>
        </p:spPr>
        <p:txBody>
          <a:bodyPr>
            <a:noAutofit/>
          </a:bodyPr>
          <a:lstStyle/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DBMS.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Database.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Table (aka Entity or Relation).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Attribute (aka Field or Column).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Record (aka Tuple or Row).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Key (can be primary key or foreign key).</a:t>
            </a:r>
          </a:p>
          <a:p>
            <a:r>
              <a:rPr lang="en-IE" sz="3600" dirty="0">
                <a:solidFill>
                  <a:schemeClr val="bg1">
                    <a:lumMod val="50000"/>
                  </a:schemeClr>
                </a:solidFill>
              </a:rPr>
              <a:t>Relationship.</a:t>
            </a:r>
          </a:p>
        </p:txBody>
      </p:sp>
    </p:spTree>
    <p:extLst>
      <p:ext uri="{BB962C8B-B14F-4D97-AF65-F5344CB8AC3E}">
        <p14:creationId xmlns:p14="http://schemas.microsoft.com/office/powerpoint/2010/main" val="229448992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29D3-4BC1-4A6F-A08D-EC680895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Conceptual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8C087-228B-418A-9B85-4C1A223BC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24" y="2297578"/>
            <a:ext cx="15816216" cy="5158445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The process of constructing a model of the data used in an enterprise, independent of all physical considerations.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The goal of this phase is to produce a conceptual schema (which includes identification of the important entity types, relationship types, and attributes) for the database that is independent of a specific DBMS.</a:t>
            </a:r>
          </a:p>
        </p:txBody>
      </p:sp>
    </p:spTree>
    <p:extLst>
      <p:ext uri="{BB962C8B-B14F-4D97-AF65-F5344CB8AC3E}">
        <p14:creationId xmlns:p14="http://schemas.microsoft.com/office/powerpoint/2010/main" val="388133521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5F85-F06D-4F97-8FD4-CC2BDE65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Logical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8F3DE-6C89-4D04-A704-88ACFCED96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24" y="2286001"/>
            <a:ext cx="15816216" cy="500929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The purpose of logical design is to translate the conceptual representation to the logical structure of the database, which includes designing the relations.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Logical design is a semi-physical realisation of the concepts. We say semi-physical because we are really not concerned with the actual physical file that is stored in memory; rather, we are concerned with placing data into relational tables that we will visualise as a physical organisation of data.</a:t>
            </a:r>
          </a:p>
        </p:txBody>
      </p:sp>
    </p:spTree>
    <p:extLst>
      <p:ext uri="{BB962C8B-B14F-4D97-AF65-F5344CB8AC3E}">
        <p14:creationId xmlns:p14="http://schemas.microsoft.com/office/powerpoint/2010/main" val="326397363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EF88-F3A7-4A95-87EB-3A74FB60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Physical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C7F23-6176-43F3-9823-2BED86821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24" y="2286000"/>
            <a:ext cx="15816216" cy="483784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Logical database design is concerned with the </a:t>
            </a:r>
            <a:r>
              <a:rPr lang="en-GB" sz="3600" i="1" dirty="0">
                <a:solidFill>
                  <a:schemeClr val="bg1">
                    <a:lumMod val="50000"/>
                  </a:schemeClr>
                </a:solidFill>
              </a:rPr>
              <a:t>what</a:t>
            </a:r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, physical database design is concerned with the </a:t>
            </a:r>
            <a:r>
              <a:rPr lang="en-GB" sz="3600" i="1" dirty="0">
                <a:solidFill>
                  <a:schemeClr val="bg1">
                    <a:lumMod val="50000"/>
                  </a:schemeClr>
                </a:solidFill>
              </a:rPr>
              <a:t>how.</a:t>
            </a:r>
            <a:endParaRPr lang="en-GB" sz="3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Process of producing a description of the implementation of the database on secondary storage. 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It describes the base relations, file organisations, and indexes used to achieve efficient access to the data, and any associated integrity constraints and security measures.</a:t>
            </a:r>
          </a:p>
        </p:txBody>
      </p:sp>
    </p:spTree>
    <p:extLst>
      <p:ext uri="{BB962C8B-B14F-4D97-AF65-F5344CB8AC3E}">
        <p14:creationId xmlns:p14="http://schemas.microsoft.com/office/powerpoint/2010/main" val="359665384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9D99-B865-481D-817E-8B0A5FC7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Normalisation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7FF46-36F5-43B5-8AC0-B99BFC47AC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24" y="2362200"/>
            <a:ext cx="15816216" cy="491475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Database normalisation is another technique used when organising the data in the database.</a:t>
            </a:r>
          </a:p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Normalisation is a systematic approach of decomposing tables to eliminate data redundancy(unnecessary repetition).</a:t>
            </a:r>
          </a:p>
          <a:p>
            <a:pPr marL="0" indent="0">
              <a:buNone/>
            </a:pP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43109994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1BD5-55C3-4CB9-AF2B-A1B4AD1A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Database Administration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F9F6F-E52E-4609-9ECE-B6EAD41B8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24" y="2286001"/>
            <a:ext cx="15816216" cy="4701259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Topics include:</a:t>
            </a:r>
          </a:p>
          <a:p>
            <a:pPr lvl="1"/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Security measures.</a:t>
            </a:r>
          </a:p>
          <a:p>
            <a:pPr lvl="1"/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Database backup and recovery.</a:t>
            </a:r>
          </a:p>
          <a:p>
            <a:pPr lvl="1"/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Managing concurrent users.</a:t>
            </a:r>
          </a:p>
          <a:p>
            <a:pPr lvl="1"/>
            <a:r>
              <a:rPr lang="en-GB" sz="3600" dirty="0">
                <a:solidFill>
                  <a:schemeClr val="bg1">
                    <a:lumMod val="50000"/>
                  </a:schemeClr>
                </a:solidFill>
              </a:rPr>
              <a:t>Distributed systems.</a:t>
            </a:r>
          </a:p>
        </p:txBody>
      </p:sp>
    </p:spTree>
    <p:extLst>
      <p:ext uri="{BB962C8B-B14F-4D97-AF65-F5344CB8AC3E}">
        <p14:creationId xmlns:p14="http://schemas.microsoft.com/office/powerpoint/2010/main" val="423123211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GB" altLang="en-US" sz="3600" dirty="0"/>
              <a:t>Database overview</a:t>
            </a:r>
          </a:p>
          <a:p>
            <a:pPr algn="just" eaLnBrk="1" hangingPunct="1"/>
            <a:r>
              <a:rPr lang="en-GB" altLang="en-US" sz="3600" dirty="0"/>
              <a:t>Relational database concepts</a:t>
            </a:r>
          </a:p>
          <a:p>
            <a:pPr algn="just" eaLnBrk="1" hangingPunct="1"/>
            <a:r>
              <a:rPr lang="en-GB" altLang="en-US" sz="3600" dirty="0">
                <a:solidFill>
                  <a:srgbClr val="00B050"/>
                </a:solidFill>
              </a:rPr>
              <a:t>Non-relational database concepts</a:t>
            </a:r>
          </a:p>
        </p:txBody>
      </p:sp>
    </p:spTree>
    <p:extLst>
      <p:ext uri="{BB962C8B-B14F-4D97-AF65-F5344CB8AC3E}">
        <p14:creationId xmlns:p14="http://schemas.microsoft.com/office/powerpoint/2010/main" val="327402546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39C0-12A7-413D-BE23-7C57DE8E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Relational vs. non-relational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866CE-322B-416C-AA1C-B50A24D4A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Relational databases have a clearly defined structure (schema); when creating a relational database you create the structures for entities, attributes, relationships, etc before ever storing a piece of data.</a:t>
            </a:r>
          </a:p>
          <a:p>
            <a:r>
              <a:rPr lang="en-GB" sz="3600" dirty="0"/>
              <a:t>Non-relational databases are </a:t>
            </a:r>
            <a:r>
              <a:rPr lang="en-GB" sz="3600" dirty="0" err="1"/>
              <a:t>schemaless</a:t>
            </a:r>
            <a:r>
              <a:rPr lang="en-GB" sz="3600" dirty="0"/>
              <a:t>, meaning you don’t have to define any structures in advance; just start storing data.</a:t>
            </a:r>
          </a:p>
          <a:p>
            <a:r>
              <a:rPr lang="en-GB" sz="3600" dirty="0"/>
              <a:t>This works well for applications that run on clusters, for storing large amounts of data, or anywhere that more flexibility is required.</a:t>
            </a:r>
          </a:p>
        </p:txBody>
      </p:sp>
    </p:spTree>
    <p:extLst>
      <p:ext uri="{BB962C8B-B14F-4D97-AF65-F5344CB8AC3E}">
        <p14:creationId xmlns:p14="http://schemas.microsoft.com/office/powerpoint/2010/main" val="1684128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8FCA3-8358-4765-BE3D-0A0B11B2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NoSQL database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F3564-6FFD-49F7-A210-EDF9AC601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Types of NoSQL (non-relational) databases.</a:t>
            </a:r>
          </a:p>
          <a:p>
            <a:r>
              <a:rPr lang="en-GB" sz="3600" dirty="0"/>
              <a:t>CAP theorem (Consistency, Availability, and Partition Tolerance).</a:t>
            </a:r>
          </a:p>
          <a:p>
            <a:r>
              <a:rPr lang="en-GB" sz="3600" dirty="0"/>
              <a:t>Non-relational modelling.</a:t>
            </a:r>
          </a:p>
        </p:txBody>
      </p:sp>
    </p:spTree>
    <p:extLst>
      <p:ext uri="{BB962C8B-B14F-4D97-AF65-F5344CB8AC3E}">
        <p14:creationId xmlns:p14="http://schemas.microsoft.com/office/powerpoint/2010/main" val="43722294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Custom</PresentationFormat>
  <Paragraphs>125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ＭＳ Ｐゴシック</vt:lpstr>
      <vt:lpstr>Arial</vt:lpstr>
      <vt:lpstr>Calibri</vt:lpstr>
      <vt:lpstr>Calibri Light</vt:lpstr>
      <vt:lpstr>Helvetica</vt:lpstr>
      <vt:lpstr>Helvetica Neue</vt:lpstr>
      <vt:lpstr>Helvetica Neue Light</vt:lpstr>
      <vt:lpstr>Helvetica Neue Medium</vt:lpstr>
      <vt:lpstr>Times New Roman</vt:lpstr>
      <vt:lpstr>ModernPortfolio</vt:lpstr>
      <vt:lpstr>Custom Design</vt:lpstr>
      <vt:lpstr>Office Theme</vt:lpstr>
      <vt:lpstr>Introduction to Databases</vt:lpstr>
      <vt:lpstr>Topics List</vt:lpstr>
      <vt:lpstr>Database Overview</vt:lpstr>
      <vt:lpstr>Database Overview</vt:lpstr>
      <vt:lpstr>Database Overview</vt:lpstr>
      <vt:lpstr>Database Overview</vt:lpstr>
      <vt:lpstr>Operations with Databases</vt:lpstr>
      <vt:lpstr>Evolution from File-Based Systems</vt:lpstr>
      <vt:lpstr>File-Based Processing</vt:lpstr>
      <vt:lpstr>Limitations of File-Based Approach</vt:lpstr>
      <vt:lpstr>Limitations of File-Based Approach</vt:lpstr>
      <vt:lpstr>Database: definition</vt:lpstr>
      <vt:lpstr>Database Approach</vt:lpstr>
      <vt:lpstr>Database Management System (DBMS)</vt:lpstr>
      <vt:lpstr>Database Management System (DBMS)</vt:lpstr>
      <vt:lpstr>Topics List</vt:lpstr>
      <vt:lpstr>Relational database concepts</vt:lpstr>
      <vt:lpstr>Relational database terminology</vt:lpstr>
      <vt:lpstr>Conceptual design</vt:lpstr>
      <vt:lpstr>Logical design</vt:lpstr>
      <vt:lpstr>Physical design</vt:lpstr>
      <vt:lpstr>Normalisation</vt:lpstr>
      <vt:lpstr>Database Administration</vt:lpstr>
      <vt:lpstr>Topics List</vt:lpstr>
      <vt:lpstr>Relational vs. non-relational </vt:lpstr>
      <vt:lpstr>NoSQL database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</dc:title>
  <dc:creator>Rosanne Birney</dc:creator>
  <cp:lastModifiedBy>Mary Lyng</cp:lastModifiedBy>
  <cp:revision>192</cp:revision>
  <dcterms:modified xsi:type="dcterms:W3CDTF">2026-01-14T09:47:11Z</dcterms:modified>
</cp:coreProperties>
</file>